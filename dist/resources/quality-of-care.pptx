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5" roundtripDataSignature="AMtx7mgz+3IZKwX9H+SvBB7pTh9S9IU6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3" name="Google Shape;48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3" name="Google Shape;523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3" name="Google Shape;553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5" name="Google Shape;575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4" name="Google Shape;634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28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1" name="Google Shape;691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30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1" name="Google Shape;701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1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9" name="Google Shape;729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7" name="Google Shape;747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5" name="Google Shape;785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8" name="Google Shape;808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8" name="Google Shape;838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3" name="Google Shape;863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2" name="Google Shape;882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3" name="Google Shape;913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8" name="Google Shape;948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9" name="Google Shape;9;p42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2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4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chemeClr val="dk1"/>
              </a:buClr>
              <a:buSzPts val="18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Clr>
                <a:schemeClr val="dk1"/>
              </a:buClr>
              <a:buSzPts val="18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Clr>
                <a:schemeClr val="dk1"/>
              </a:buClr>
              <a:buSzPts val="18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Clr>
                <a:schemeClr val="dk1"/>
              </a:buClr>
              <a:buSzPts val="18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Clr>
                <a:schemeClr val="dk1"/>
              </a:buClr>
              <a:buSzPts val="18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Clr>
                <a:schemeClr val="dk1"/>
              </a:buClr>
              <a:buSzPts val="18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Clr>
                <a:schemeClr val="dk1"/>
              </a:buClr>
              <a:buSzPts val="18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Clr>
                <a:schemeClr val="dk1"/>
              </a:buClr>
              <a:buSzPts val="18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Clr>
                <a:schemeClr val="dk1"/>
              </a:buClr>
              <a:buSzPts val="18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9pPr>
          </a:lstStyle>
          <a:p/>
        </p:txBody>
      </p:sp>
      <p:sp>
        <p:nvSpPr>
          <p:cNvPr id="16" name="Google Shape;16;p4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4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4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4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3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OF CARE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2194560"/>
            <a:ext cx="256032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4864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Continuous Quality Improvement for Frontline Health Workers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8640" y="31089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F82"/>
                </a:solidFill>
                <a:latin typeface="Calibri"/>
                <a:ea typeface="Calibri"/>
                <a:cs typeface="Calibri"/>
                <a:sym typeface="Calibri"/>
              </a:rPr>
              <a:t>Ministry of Health  •  Department of Standards, Compliance,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F82"/>
                </a:solidFill>
                <a:latin typeface="Calibri"/>
                <a:ea typeface="Calibri"/>
                <a:cs typeface="Calibri"/>
                <a:sym typeface="Calibri"/>
              </a:rPr>
              <a:t>Accreditation &amp; Patient Protection (SCAPP)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3A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4A3A8"/>
                </a:solidFill>
                <a:latin typeface="Calibri"/>
                <a:ea typeface="Calibri"/>
                <a:cs typeface="Calibri"/>
                <a:sym typeface="Calibri"/>
              </a:rPr>
              <a:t>September 2026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4104" y="3793149"/>
            <a:ext cx="1273871" cy="1191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SESSION OVERVIEW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What we will cover today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868680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94360" y="978408"/>
            <a:ext cx="502920" cy="420624"/>
          </a:xfrm>
          <a:prstGeom prst="roundRect">
            <a:avLst>
              <a:gd fmla="val 1304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94360" y="978408"/>
            <a:ext cx="502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280160" y="960120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Quality of Care defined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1280160" y="1216152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What quality means and why it matters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1581912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94360" y="1691640"/>
            <a:ext cx="502920" cy="420624"/>
          </a:xfrm>
          <a:prstGeom prst="roundRect">
            <a:avLst>
              <a:gd fmla="val 1304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94360" y="1691640"/>
            <a:ext cx="502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280160" y="1673352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Key components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1280160" y="1929384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Patient safety, IPC, 5S &amp; client satisfaction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2295144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94360" y="2404872"/>
            <a:ext cx="502920" cy="420624"/>
          </a:xfrm>
          <a:prstGeom prst="roundRect">
            <a:avLst>
              <a:gd fmla="val 1304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594360" y="2404872"/>
            <a:ext cx="502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280160" y="2386584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Principles of QI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280160" y="2642616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Client focus, systems, data, teamwork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57200" y="3008376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94360" y="3118104"/>
            <a:ext cx="502920" cy="420624"/>
          </a:xfrm>
          <a:prstGeom prst="roundRect">
            <a:avLst>
              <a:gd fmla="val 1304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94360" y="3118104"/>
            <a:ext cx="502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1280160" y="3099816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The QI process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1280160" y="3355848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From gap identification to PDSA cycles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57200" y="3721608"/>
            <a:ext cx="8229600" cy="64008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94360" y="3831336"/>
            <a:ext cx="502920" cy="420624"/>
          </a:xfrm>
          <a:prstGeom prst="roundRect">
            <a:avLst>
              <a:gd fmla="val 1304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94360" y="3831336"/>
            <a:ext cx="5029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280160" y="3813048"/>
            <a:ext cx="6858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Governance &amp; learning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1280160" y="4069080"/>
            <a:ext cx="6858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Structures, collaboratives, reporting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DEFINING QUALITY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What is Quality of Care?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868680"/>
            <a:ext cx="8229600" cy="1234440"/>
          </a:xfrm>
          <a:prstGeom prst="roundRect">
            <a:avLst>
              <a:gd fmla="val 7407" name="adj"/>
            </a:avLst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85800" y="100584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Quality of Care is the degree to which health services for individuals and populations increase the likelihood of desired health outcomes and are consistent with current professional knowledge.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2331720"/>
            <a:ext cx="26974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94360" y="25146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Safe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94360" y="28346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Avoids harm to patients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291840" y="2331720"/>
            <a:ext cx="26974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429000" y="25146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Effective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429000" y="28346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Evidence-based care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6126480" y="2331720"/>
            <a:ext cx="26974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6263640" y="25146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Patient-centred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6263640" y="28346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Respects preferences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57200" y="3429000"/>
            <a:ext cx="26974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94360" y="36118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Timely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594360" y="3931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Reduces harmful delays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291840" y="3429000"/>
            <a:ext cx="26974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3429000" y="36118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Efficient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429000" y="3931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Avoids waste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126480" y="3429000"/>
            <a:ext cx="269748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6263640" y="36118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Equitable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6263640" y="39319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No variation by status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Why Continuous Quality Improvement is essential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8686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0" name="Google Shape;11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0515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/>
          <p:nvPr/>
        </p:nvSpPr>
        <p:spPr>
          <a:xfrm>
            <a:off x="1325880" y="100584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Better outcomes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1325880" y="130759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Safe, effective care reduces mortality, morbidity and complications.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57200" y="17830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4" name="Google Shape;11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1965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/>
          <p:nvPr/>
        </p:nvSpPr>
        <p:spPr>
          <a:xfrm>
            <a:off x="1325880" y="192024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Client experience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325880" y="222199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Shorter waits, respectful care and continuity increase trust and utilisation.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7200" y="26974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8" name="Google Shape;1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28803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4"/>
          <p:cNvSpPr/>
          <p:nvPr/>
        </p:nvSpPr>
        <p:spPr>
          <a:xfrm>
            <a:off x="1325880" y="283464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System efficiency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325880" y="313639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Less rework, fewer stock-outs and better use of limited resources.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57200" y="361188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2" name="Google Shape;12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" y="37947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1325880" y="374904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Accountability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325880" y="4050792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Data-driven improvement creates transparent performance culture.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5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KEY ELEMENTS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MOH Priority Quality of Care Interventions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7200" y="868680"/>
            <a:ext cx="4114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685800" y="1143000"/>
            <a:ext cx="640080" cy="640080"/>
          </a:xfrm>
          <a:prstGeom prst="ellipse">
            <a:avLst/>
          </a:prstGeom>
          <a:solidFill>
            <a:srgbClr val="A7E8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12527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1508760" y="11887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Patient Safety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85800" y="19202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Prevent avoidable harm through audits, incident reporting and adherence to standards.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754880" y="868680"/>
            <a:ext cx="4114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983480" y="1143000"/>
            <a:ext cx="640080" cy="640080"/>
          </a:xfrm>
          <a:prstGeom prst="ellipse">
            <a:avLst/>
          </a:prstGeom>
          <a:solidFill>
            <a:srgbClr val="A7E8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2" name="Google Shape;14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3208" y="12527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5806440" y="11887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IPC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983480" y="19202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Hand hygiene, PPE, waste segregation, cleaning schedules and safe injection practices.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57200" y="2697480"/>
            <a:ext cx="4114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85800" y="2971800"/>
            <a:ext cx="640080" cy="640080"/>
          </a:xfrm>
          <a:prstGeom prst="ellipse">
            <a:avLst/>
          </a:prstGeom>
          <a:solidFill>
            <a:srgbClr val="A7E8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7" name="Google Shape;1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528" y="30815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/>
          <p:nvPr/>
        </p:nvSpPr>
        <p:spPr>
          <a:xfrm>
            <a:off x="1508760" y="30175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5S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85800" y="37490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Sort, Set in order, Shine, Standardise, Sustain — organised, safe workspaces.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754880" y="2697480"/>
            <a:ext cx="4114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983480" y="2971800"/>
            <a:ext cx="640080" cy="640080"/>
          </a:xfrm>
          <a:prstGeom prst="ellipse">
            <a:avLst/>
          </a:prstGeom>
          <a:solidFill>
            <a:srgbClr val="A7E8D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93208" y="3081528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/>
          <p:nvPr/>
        </p:nvSpPr>
        <p:spPr>
          <a:xfrm>
            <a:off x="5806440" y="301752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Client Satisfaction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983480" y="374904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Collect feedback, act on concerns and close the loop with clients.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PATIENT SAFETY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Every patient has the right to care without avoidable harm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11480" y="868680"/>
            <a:ext cx="2788920" cy="356616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11480" y="868680"/>
            <a:ext cx="2788920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94360" y="109728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What to prevent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94360" y="16459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Medication errors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94360" y="214884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Delayed emergency care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94360" y="265176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Falls &amp; infections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94360" y="31546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Poor referral handover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291840" y="868680"/>
            <a:ext cx="2788920" cy="356616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291840" y="868680"/>
            <a:ext cx="2788920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3474720" y="109728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What to strengthen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3474720" y="16459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Incident &amp; near-miss reporting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3474720" y="214884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Clinical &amp; mortality audits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3474720" y="265176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Mentorship on standards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474720" y="31546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Equipment functionality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172200" y="868680"/>
            <a:ext cx="2788920" cy="3566160"/>
          </a:xfrm>
          <a:prstGeom prst="roundRect">
            <a:avLst>
              <a:gd fmla="val 2623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172200" y="868680"/>
            <a:ext cx="2788920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355080" y="1097280"/>
            <a:ext cx="2423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What leaders do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355080" y="164592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No-blame learning culture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355080" y="214884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Assign &amp; track actions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355080" y="265176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Remove barriers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355080" y="3154680"/>
            <a:ext cx="2423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Escalate systemic gaps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>
            <p:ph type="title"/>
          </p:nvPr>
        </p:nvSpPr>
        <p:spPr>
          <a:xfrm>
            <a:off x="147918" y="112479"/>
            <a:ext cx="3899700" cy="1212075"/>
          </a:xfrm>
          <a:prstGeom prst="rect">
            <a:avLst/>
          </a:prstGeom>
          <a:solidFill>
            <a:srgbClr val="D0CECE"/>
          </a:solidFill>
          <a:ln cap="flat" cmpd="sng" w="9525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50" spcFirstLastPara="1" rIns="68550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None/>
            </a:pPr>
            <a:r>
              <a:rPr b="1" lang="en-US" sz="2400"/>
              <a:t>Example of near misses, no harm incident, and harmful incident in blood transfusion</a:t>
            </a:r>
            <a:endParaRPr/>
          </a:p>
        </p:txBody>
      </p:sp>
      <p:pic>
        <p:nvPicPr>
          <p:cNvPr id="191" name="Google Shape;191;p7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7785" y="609565"/>
            <a:ext cx="3886200" cy="1750500"/>
          </a:xfrm>
          <a:prstGeom prst="rect">
            <a:avLst/>
          </a:prstGeom>
          <a:solidFill>
            <a:schemeClr val="accent2"/>
          </a:solidFill>
          <a:ln cap="flat" cmpd="sng" w="9525">
            <a:solidFill>
              <a:srgbClr val="C55A1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p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607858"/>
            <a:ext cx="3886200" cy="1927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pic>
        <p:nvPicPr>
          <p:cNvPr id="193" name="Google Shape;19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9817" y="2700953"/>
            <a:ext cx="5128371" cy="2314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INFECTION PREVENTION &amp; CONTROL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IPC must be routine at every service point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57200" y="868680"/>
            <a:ext cx="26974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463040" y="105156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463040" y="1051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594360" y="16916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Hand hygiene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594360" y="19659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5 moments, alcohol-based rub or soap &amp; water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3291840" y="868680"/>
            <a:ext cx="26974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4297680" y="105156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297680" y="1051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429000" y="16916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PPE use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429000" y="19659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Correct donning/doffing for the procedure risk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126480" y="868680"/>
            <a:ext cx="26974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7132320" y="105156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7132320" y="10515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263640" y="169164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Waste segregation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263640" y="196596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Colour-coded bins; sharps safety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457200" y="2606040"/>
            <a:ext cx="26974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1463040" y="278892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463040" y="2788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594360" y="34290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Safe injections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594360" y="37033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One needle, one syringe, one patient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3291840" y="2606040"/>
            <a:ext cx="26974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297680" y="278892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4297680" y="2788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429000" y="34290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Cleaning schedules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429000" y="37033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High-touch surfaces and equipment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6126480" y="2606040"/>
            <a:ext cx="2697480" cy="1554480"/>
          </a:xfrm>
          <a:prstGeom prst="roundRect">
            <a:avLst>
              <a:gd fmla="val 470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7132320" y="2788920"/>
            <a:ext cx="502920" cy="50292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7132320" y="27889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263640" y="342900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IPC standards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263640" y="37033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Adhere to national IPC guidelines daily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9"/>
          <p:cNvPicPr preferRelativeResize="0"/>
          <p:nvPr/>
        </p:nvPicPr>
        <p:blipFill rotWithShape="1">
          <a:blip r:embed="rId3">
            <a:alphaModFix/>
          </a:blip>
          <a:srcRect b="3359" l="1470" r="-1470" t="11600"/>
          <a:stretch/>
        </p:blipFill>
        <p:spPr>
          <a:xfrm>
            <a:off x="216301" y="518819"/>
            <a:ext cx="8826099" cy="462468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9"/>
          <p:cNvSpPr txBox="1"/>
          <p:nvPr/>
        </p:nvSpPr>
        <p:spPr>
          <a:xfrm>
            <a:off x="0" y="0"/>
            <a:ext cx="9295875" cy="5955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68550" spcFirstLastPara="1" rIns="68550" wrap="square" tIns="68550">
            <a:spAutoFit/>
          </a:bodyPr>
          <a:lstStyle/>
          <a:p>
            <a:pPr indent="342900" lvl="0" marL="17145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Infection Prevention and Control</a:t>
            </a:r>
            <a:endParaRPr b="1" sz="10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 txBox="1"/>
          <p:nvPr>
            <p:ph type="title"/>
          </p:nvPr>
        </p:nvSpPr>
        <p:spPr>
          <a:xfrm>
            <a:off x="188686" y="126087"/>
            <a:ext cx="8326664" cy="754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50" spcFirstLastPara="1" rIns="68550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3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HCWM in our facilities: what must change?</a:t>
            </a:r>
            <a:endParaRPr b="1" sz="3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1028700"/>
            <a:ext cx="3154680" cy="236601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0"/>
          <p:cNvSpPr txBox="1"/>
          <p:nvPr/>
        </p:nvSpPr>
        <p:spPr>
          <a:xfrm>
            <a:off x="445770" y="3531870"/>
            <a:ext cx="4046220" cy="857250"/>
          </a:xfrm>
          <a:prstGeom prst="rect">
            <a:avLst/>
          </a:prstGeom>
          <a:solidFill>
            <a:srgbClr val="FFD865"/>
          </a:solidFill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practice: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 overflowing waste store, a risk to staff and the community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2740" y="1028700"/>
            <a:ext cx="1774508" cy="236601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0"/>
          <p:cNvSpPr txBox="1"/>
          <p:nvPr/>
        </p:nvSpPr>
        <p:spPr>
          <a:xfrm>
            <a:off x="4786875" y="3531860"/>
            <a:ext cx="4046175" cy="1108125"/>
          </a:xfrm>
          <a:prstGeom prst="rect">
            <a:avLst/>
          </a:prstGeom>
          <a:solidFill>
            <a:srgbClr val="FFD865"/>
          </a:solidFill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practice:</a:t>
            </a:r>
            <a:r>
              <a:rPr lang="en-US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sharps left loose in 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wrong location. Black bins are for non infectious waste. </a:t>
            </a:r>
            <a:r>
              <a:rPr b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Sharps should only be put in a sharps box</a:t>
            </a:r>
            <a:endParaRPr b="1"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5S FOR THE CARE ENVIRONMENT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Organised workspaces improve flow, safety and dignity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1"/>
          <p:cNvSpPr/>
          <p:nvPr/>
        </p:nvSpPr>
        <p:spPr>
          <a:xfrm>
            <a:off x="457200" y="822960"/>
            <a:ext cx="640080" cy="594360"/>
          </a:xfrm>
          <a:prstGeom prst="roundRect">
            <a:avLst>
              <a:gd fmla="val 12308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457200" y="82296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1280160" y="86868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Sort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1280160" y="114300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Remove clutter, broken equipment and unnecessary items from service areas.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457200" y="1554480"/>
            <a:ext cx="640080" cy="594360"/>
          </a:xfrm>
          <a:prstGeom prst="roundRect">
            <a:avLst>
              <a:gd fmla="val 12308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7200" y="155448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1280160" y="160020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Set in order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1280160" y="18745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Store commodities and tools where staff can find them quickly and safely.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457200" y="2286000"/>
            <a:ext cx="640080" cy="594360"/>
          </a:xfrm>
          <a:prstGeom prst="roundRect">
            <a:avLst>
              <a:gd fmla="val 12308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57200" y="228600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280160" y="23317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Shine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1280160" y="260604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Clean workstations, floors and equipment; assign daily cleaning responsibility.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457200" y="3017520"/>
            <a:ext cx="640080" cy="594360"/>
          </a:xfrm>
          <a:prstGeom prst="roundRect">
            <a:avLst>
              <a:gd fmla="val 12308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57200" y="301752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1280160" y="306324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Standardise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1280160" y="333756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Create simple visual standards and checklists so the good order is repeatable.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457200" y="3749040"/>
            <a:ext cx="640080" cy="594360"/>
          </a:xfrm>
          <a:prstGeom prst="roundRect">
            <a:avLst>
              <a:gd fmla="val 12308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57200" y="3749040"/>
            <a:ext cx="6400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1280160" y="379476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Sustain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1280160" y="406908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Daily walk-throughs, audits and leadership modelling keep 5S alive.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100" y="332038"/>
            <a:ext cx="4335300" cy="263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2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180501"/>
            <a:ext cx="4491900" cy="294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2"/>
          <p:cNvSpPr txBox="1"/>
          <p:nvPr/>
        </p:nvSpPr>
        <p:spPr>
          <a:xfrm>
            <a:off x="322730" y="3260912"/>
            <a:ext cx="3731625" cy="1177215"/>
          </a:xfrm>
          <a:prstGeom prst="rect">
            <a:avLst/>
          </a:prstGeom>
          <a:solidFill>
            <a:srgbClr val="FFD865"/>
          </a:solidFill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example of 5S activities color coding and well-designed labelings that contribute to patient safety (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Pharmacy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4827494" y="3381936"/>
            <a:ext cx="3649500" cy="900216"/>
          </a:xfrm>
          <a:prstGeom prst="rect">
            <a:avLst/>
          </a:prstGeom>
          <a:solidFill>
            <a:srgbClr val="FFD865"/>
          </a:solidFill>
          <a:ln>
            <a:noFill/>
          </a:ln>
        </p:spPr>
        <p:txBody>
          <a:bodyPr anchorCtr="0" anchor="t" bIns="34275" lIns="68550" spcFirstLastPara="1" rIns="68550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example of 5S activities Color codes –that contribute to patient safety  (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Triage at the Emergency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CLIENT SATISFACTION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Listen, act and close the loop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868680" y="1005840"/>
            <a:ext cx="548640" cy="5486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68680" y="1005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1508760" y="1234440"/>
            <a:ext cx="914400" cy="54864"/>
          </a:xfrm>
          <a:prstGeom prst="rect">
            <a:avLst/>
          </a:prstGeom>
          <a:solidFill>
            <a:srgbClr val="E8ED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365760" y="1828800"/>
            <a:ext cx="1645920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57200" y="20116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Collect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457200" y="2468880"/>
            <a:ext cx="1463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QR codes, suggestion boxes, exit interviews, barazas, RCSFI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2606040" y="1005840"/>
            <a:ext cx="548640" cy="5486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2606040" y="1005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3246120" y="1234440"/>
            <a:ext cx="914400" cy="54864"/>
          </a:xfrm>
          <a:prstGeom prst="rect">
            <a:avLst/>
          </a:prstGeom>
          <a:solidFill>
            <a:srgbClr val="E8ED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2103120" y="1828800"/>
            <a:ext cx="1645920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2194560" y="20116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Review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2194560" y="2468880"/>
            <a:ext cx="1463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Identify themes: waiting time, respect, continuity, stock-outs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4343400" y="1005840"/>
            <a:ext cx="548640" cy="5486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4343400" y="1005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983480" y="1234440"/>
            <a:ext cx="914400" cy="54864"/>
          </a:xfrm>
          <a:prstGeom prst="rect">
            <a:avLst/>
          </a:prstGeom>
          <a:solidFill>
            <a:srgbClr val="E8ED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3840480" y="1828800"/>
            <a:ext cx="1645920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3931920" y="20116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3931920" y="2468880"/>
            <a:ext cx="1463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Agree actions, assign owners and deadlines in the tracker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6080760" y="1005840"/>
            <a:ext cx="548640" cy="5486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6080760" y="1005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6720840" y="1234440"/>
            <a:ext cx="914400" cy="54864"/>
          </a:xfrm>
          <a:prstGeom prst="rect">
            <a:avLst/>
          </a:prstGeom>
          <a:solidFill>
            <a:srgbClr val="E8ED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5577840" y="1828800"/>
            <a:ext cx="1645920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5669280" y="20116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Track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5669280" y="2468880"/>
            <a:ext cx="1463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Monitor completion within 12 weeks; escalate blockers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7818120" y="1005840"/>
            <a:ext cx="548640" cy="5486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7818120" y="10058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7315200" y="1828800"/>
            <a:ext cx="1645920" cy="24688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7406640" y="201168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Tell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7406640" y="2468880"/>
            <a:ext cx="1463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Inform clients what changed — builds trust and utilisation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 txBox="1"/>
          <p:nvPr>
            <p:ph type="title"/>
          </p:nvPr>
        </p:nvSpPr>
        <p:spPr>
          <a:xfrm>
            <a:off x="188686" y="165782"/>
            <a:ext cx="8628742" cy="705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The MOH Client Satisfaction Feedback System</a:t>
            </a:r>
            <a:endParaRPr/>
          </a:p>
        </p:txBody>
      </p:sp>
      <p:pic>
        <p:nvPicPr>
          <p:cNvPr id="331" name="Google Shape;33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7031" y="941047"/>
            <a:ext cx="3794785" cy="347855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10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QI PRINCIPLES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Four principles that guide quality improvement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457200" y="868680"/>
            <a:ext cx="4114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5"/>
          <p:cNvSpPr/>
          <p:nvPr/>
        </p:nvSpPr>
        <p:spPr>
          <a:xfrm>
            <a:off x="137160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Client Focus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731520" y="17830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Understand needs, meet requirements and exceed expectations. Satisfied clients comply better and refer others.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4754880" y="868680"/>
            <a:ext cx="4114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7" name="Google Shape;34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1887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5"/>
          <p:cNvSpPr/>
          <p:nvPr/>
        </p:nvSpPr>
        <p:spPr>
          <a:xfrm>
            <a:off x="566928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Systems &amp; Processes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5029200" y="17830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Every system is designed to get the results it gets. Fix the process, not the person.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457200" y="2697480"/>
            <a:ext cx="4114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1" name="Google Shape;35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20" y="3017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5"/>
          <p:cNvSpPr/>
          <p:nvPr/>
        </p:nvSpPr>
        <p:spPr>
          <a:xfrm>
            <a:off x="1371600" y="3017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Data Use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731520" y="36118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Decide on facts. Measure to identify problems, understand causes and know if a change is an improvement.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4754880" y="2697480"/>
            <a:ext cx="4114800" cy="1691640"/>
          </a:xfrm>
          <a:prstGeom prst="roundRect">
            <a:avLst>
              <a:gd fmla="val 432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5" name="Google Shape;35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30175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5"/>
          <p:cNvSpPr/>
          <p:nvPr/>
        </p:nvSpPr>
        <p:spPr>
          <a:xfrm>
            <a:off x="5669280" y="30175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Teamwork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029200" y="3611880"/>
            <a:ext cx="35661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Quality faults often occur at hand-overs. Involve every cadre who touches the process.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11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PRINCIPLE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Client Focus — internal and external clients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/>
          <p:nvPr/>
        </p:nvSpPr>
        <p:spPr>
          <a:xfrm>
            <a:off x="457200" y="868680"/>
            <a:ext cx="402336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External clients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685800" y="146304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Patients, caregivers and the community who receive services. Their needs are defined in standards and guidelines. Feedback mechanisms include surveys, suggestion boxes, barazas and RCSFI.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685800" y="30175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/>
          <p:nvPr/>
        </p:nvSpPr>
        <p:spPr>
          <a:xfrm>
            <a:off x="685800" y="333756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Services that do not meet client needs fail. Satisfied clients refer others.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4663440" y="868680"/>
            <a:ext cx="402336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6"/>
          <p:cNvSpPr/>
          <p:nvPr/>
        </p:nvSpPr>
        <p:spPr>
          <a:xfrm>
            <a:off x="4892040" y="1051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Internal clients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4892040" y="1463040"/>
            <a:ext cx="3566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Health workers, managers, implementing partners and MoH. Satisfied internal clients work better with the system and deliver higher quality to external clients.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4892040" y="30175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4892040" y="333756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Treat colleagues as clients. Hand-overs and communication are part of quality.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PRINCIPLE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Focus on systems and processes, not blame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fmla="val 9091" name="adj"/>
            </a:avLst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685800" y="1005840"/>
            <a:ext cx="7772400" cy="46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“Every system is perfectly designed to achieve exactly the results it achieves.”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you want different results, redesign the system.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457200" y="2103120"/>
            <a:ext cx="269748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64008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640080" y="278892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Sequence of steps that convert inputs into outputs for the client (e.g. patient flow from registration to exit).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3291840" y="2103120"/>
            <a:ext cx="269748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347472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3474720" y="278892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Sum of interrelated processes working together toward a common goal (e.g. integrated chronic care clinic).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6126480" y="2103120"/>
            <a:ext cx="2697480" cy="2286000"/>
          </a:xfrm>
          <a:prstGeom prst="roundRect">
            <a:avLst>
              <a:gd fmla="val 320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6309360" y="228600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Flow chart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6309360" y="2788920"/>
            <a:ext cx="2331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Tool to visualise steps, decisions, bottlenecks and missing or redundant work.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8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8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8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PRINCIPLE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8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Use data for decision-making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8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8"/>
          <p:cNvSpPr/>
          <p:nvPr/>
        </p:nvSpPr>
        <p:spPr>
          <a:xfrm>
            <a:off x="640080" y="1033272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/>
          <p:nvPr/>
        </p:nvSpPr>
        <p:spPr>
          <a:xfrm>
            <a:off x="640080" y="1033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/>
          <p:nvPr/>
        </p:nvSpPr>
        <p:spPr>
          <a:xfrm>
            <a:off x="1325880" y="97840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Identify problems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/>
          <p:nvPr/>
        </p:nvSpPr>
        <p:spPr>
          <a:xfrm>
            <a:off x="1325880" y="12801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Gaps between actual and expected performance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/>
          <p:nvPr/>
        </p:nvSpPr>
        <p:spPr>
          <a:xfrm>
            <a:off x="457200" y="173736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/>
          <p:nvPr/>
        </p:nvSpPr>
        <p:spPr>
          <a:xfrm>
            <a:off x="640080" y="1901952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/>
          <p:nvPr/>
        </p:nvSpPr>
        <p:spPr>
          <a:xfrm>
            <a:off x="640080" y="1901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/>
          <p:nvPr/>
        </p:nvSpPr>
        <p:spPr>
          <a:xfrm>
            <a:off x="1325880" y="184708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Understand causes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/>
          <p:nvPr/>
        </p:nvSpPr>
        <p:spPr>
          <a:xfrm>
            <a:off x="1325880" y="21488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Root-cause analysis guided by facts, not opinion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/>
          <p:nvPr/>
        </p:nvSpPr>
        <p:spPr>
          <a:xfrm>
            <a:off x="457200" y="260604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8"/>
          <p:cNvSpPr/>
          <p:nvPr/>
        </p:nvSpPr>
        <p:spPr>
          <a:xfrm>
            <a:off x="640080" y="2770632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8"/>
          <p:cNvSpPr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/>
          <p:nvPr/>
        </p:nvSpPr>
        <p:spPr>
          <a:xfrm>
            <a:off x="1325880" y="271576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Know improvement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"/>
          <p:cNvSpPr/>
          <p:nvPr/>
        </p:nvSpPr>
        <p:spPr>
          <a:xfrm>
            <a:off x="1325880" y="30175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“How will we know a change is an improvement?”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8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8"/>
          <p:cNvSpPr/>
          <p:nvPr/>
        </p:nvSpPr>
        <p:spPr>
          <a:xfrm>
            <a:off x="640080" y="3639312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8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8"/>
          <p:cNvSpPr/>
          <p:nvPr/>
        </p:nvSpPr>
        <p:spPr>
          <a:xfrm>
            <a:off x="1325880" y="358444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Sustain gains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8"/>
          <p:cNvSpPr/>
          <p:nvPr/>
        </p:nvSpPr>
        <p:spPr>
          <a:xfrm>
            <a:off x="1325880" y="38862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Ongoing monitoring prevents slippage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9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9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9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9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PRINCIPLE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Teamwork — quality is produced by the whole system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457200" y="86868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685800" y="1143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Interdependent steps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9"/>
          <p:cNvSpPr/>
          <p:nvPr/>
        </p:nvSpPr>
        <p:spPr>
          <a:xfrm>
            <a:off x="685800" y="1645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Processes are executed by different people; faults often occur at hand-overs.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9"/>
          <p:cNvSpPr/>
          <p:nvPr/>
        </p:nvSpPr>
        <p:spPr>
          <a:xfrm>
            <a:off x="4754880" y="86868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4983480" y="11430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Staff knowledge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4983480" y="16459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Those who do the work often know the real barriers and the practical solutions.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457200" y="265176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685800" y="2926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Buy-in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685800" y="34290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Participation improves ideas, reduces resistance and builds ownership.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9"/>
          <p:cNvSpPr/>
          <p:nvPr/>
        </p:nvSpPr>
        <p:spPr>
          <a:xfrm>
            <a:off x="4754880" y="265176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4983480" y="29260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4983480" y="342900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Work Improvement Teams at unit level review data, run PDSA and report to facility management.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15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0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MINDSET CHANGE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Quality is how we work every day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0"/>
          <p:cNvSpPr/>
          <p:nvPr/>
        </p:nvSpPr>
        <p:spPr>
          <a:xfrm>
            <a:off x="457200" y="82296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0"/>
          <p:cNvSpPr/>
          <p:nvPr/>
        </p:nvSpPr>
        <p:spPr>
          <a:xfrm>
            <a:off x="640080" y="1005840"/>
            <a:ext cx="365760" cy="457200"/>
          </a:xfrm>
          <a:prstGeom prst="roundRect">
            <a:avLst>
              <a:gd fmla="val 12500" name="adj"/>
            </a:avLst>
          </a:prstGeom>
          <a:solidFill>
            <a:srgbClr val="D944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640080" y="10058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0"/>
          <p:cNvSpPr/>
          <p:nvPr/>
        </p:nvSpPr>
        <p:spPr>
          <a:xfrm>
            <a:off x="1188720" y="93268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CQI is only for the QI team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1188720" y="123444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Every cadre creates quality through daily decisions, documentation and problem-solving.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457200" y="173736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640080" y="1920240"/>
            <a:ext cx="365760" cy="457200"/>
          </a:xfrm>
          <a:prstGeom prst="roundRect">
            <a:avLst>
              <a:gd fmla="val 12500" name="adj"/>
            </a:avLst>
          </a:prstGeom>
          <a:solidFill>
            <a:srgbClr val="D944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/>
          <p:nvPr/>
        </p:nvSpPr>
        <p:spPr>
          <a:xfrm>
            <a:off x="640080" y="19202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1188720" y="184708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CQI is extra work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0"/>
          <p:cNvSpPr/>
          <p:nvPr/>
        </p:nvSpPr>
        <p:spPr>
          <a:xfrm>
            <a:off x="1188720" y="214884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CQI reduces rework, long queues, errors, wastage and repeated complaints.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457200" y="265176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0"/>
          <p:cNvSpPr/>
          <p:nvPr/>
        </p:nvSpPr>
        <p:spPr>
          <a:xfrm>
            <a:off x="640080" y="2834640"/>
            <a:ext cx="365760" cy="457200"/>
          </a:xfrm>
          <a:prstGeom prst="roundRect">
            <a:avLst>
              <a:gd fmla="val 12500" name="adj"/>
            </a:avLst>
          </a:prstGeom>
          <a:solidFill>
            <a:srgbClr val="D944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0"/>
          <p:cNvSpPr/>
          <p:nvPr/>
        </p:nvSpPr>
        <p:spPr>
          <a:xfrm>
            <a:off x="640080" y="28346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1188720" y="276148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Data is only for reports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0"/>
          <p:cNvSpPr/>
          <p:nvPr/>
        </p:nvSpPr>
        <p:spPr>
          <a:xfrm>
            <a:off x="1188720" y="306324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Data is for action at the service point before it becomes a report.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fmla="val 888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0"/>
          <p:cNvSpPr/>
          <p:nvPr/>
        </p:nvSpPr>
        <p:spPr>
          <a:xfrm>
            <a:off x="640080" y="3749040"/>
            <a:ext cx="365760" cy="457200"/>
          </a:xfrm>
          <a:prstGeom prst="roundRect">
            <a:avLst>
              <a:gd fmla="val 12500" name="adj"/>
            </a:avLst>
          </a:prstGeom>
          <a:solidFill>
            <a:srgbClr val="D9445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/>
          <p:nvPr/>
        </p:nvSpPr>
        <p:spPr>
          <a:xfrm>
            <a:off x="640080" y="37490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1188720" y="367588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QI is a paid project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0"/>
          <p:cNvSpPr/>
          <p:nvPr/>
        </p:nvSpPr>
        <p:spPr>
          <a:xfrm>
            <a:off x="1188720" y="397764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QI is an integral part of professional work — it is not optional or remunerated separately.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1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1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POLICY DIRECTION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MoH CQI Circular on Quality of Care (July 2025) — key directives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1"/>
          <p:cNvSpPr/>
          <p:nvPr/>
        </p:nvSpPr>
        <p:spPr>
          <a:xfrm>
            <a:off x="411480" y="91440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411480" y="9144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1"/>
          <p:cNvSpPr/>
          <p:nvPr/>
        </p:nvSpPr>
        <p:spPr>
          <a:xfrm>
            <a:off x="868680" y="86868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Provide leadership, technical oversight and mentorship for CQI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411480" y="164592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1"/>
          <p:cNvSpPr/>
          <p:nvPr/>
        </p:nvSpPr>
        <p:spPr>
          <a:xfrm>
            <a:off x="411480" y="16459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868680" y="16002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Establish or revitalise integrated CQI / Work Improvement Teams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411480" y="237744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1"/>
          <p:cNvSpPr/>
          <p:nvPr/>
        </p:nvSpPr>
        <p:spPr>
          <a:xfrm>
            <a:off x="411480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868680" y="233172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Include CQI indicators and actions in performance reviews and Integrated Care System (ICS) platform meetings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/>
          <p:nvPr/>
        </p:nvSpPr>
        <p:spPr>
          <a:xfrm>
            <a:off x="411480" y="310896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411480" y="31089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868680" y="30632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Conduct quarterly quality of care self-assessments (HFQAP, 5S, RCSFI, Integration, IPC and Patient Safety digital tools)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1"/>
          <p:cNvSpPr/>
          <p:nvPr/>
        </p:nvSpPr>
        <p:spPr>
          <a:xfrm>
            <a:off x="411480" y="384048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1"/>
          <p:cNvSpPr/>
          <p:nvPr/>
        </p:nvSpPr>
        <p:spPr>
          <a:xfrm>
            <a:off x="411480" y="3840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1"/>
          <p:cNvSpPr/>
          <p:nvPr/>
        </p:nvSpPr>
        <p:spPr>
          <a:xfrm>
            <a:off x="868680" y="379476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Develop and implement targeted QI projects using PDSA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/>
          <p:nvPr/>
        </p:nvSpPr>
        <p:spPr>
          <a:xfrm>
            <a:off x="4754880" y="91440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4754880" y="9144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1"/>
          <p:cNvSpPr/>
          <p:nvPr/>
        </p:nvSpPr>
        <p:spPr>
          <a:xfrm>
            <a:off x="5212080" y="86868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Strengthen data use for decision-making at service points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1"/>
          <p:cNvSpPr/>
          <p:nvPr/>
        </p:nvSpPr>
        <p:spPr>
          <a:xfrm>
            <a:off x="4754880" y="164592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1"/>
          <p:cNvSpPr/>
          <p:nvPr/>
        </p:nvSpPr>
        <p:spPr>
          <a:xfrm>
            <a:off x="4754880" y="16459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/>
          <p:nvPr/>
        </p:nvSpPr>
        <p:spPr>
          <a:xfrm>
            <a:off x="5212080" y="160020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Promote patient-centred and integrated service delivery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4754880" y="237744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1"/>
          <p:cNvSpPr/>
          <p:nvPr/>
        </p:nvSpPr>
        <p:spPr>
          <a:xfrm>
            <a:off x="4754880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1"/>
          <p:cNvSpPr/>
          <p:nvPr/>
        </p:nvSpPr>
        <p:spPr>
          <a:xfrm>
            <a:off x="5212080" y="233172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Apply 5S and strengthen IPC in all service areas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1"/>
          <p:cNvSpPr/>
          <p:nvPr/>
        </p:nvSpPr>
        <p:spPr>
          <a:xfrm>
            <a:off x="4754880" y="310896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/>
          <p:nvPr/>
        </p:nvSpPr>
        <p:spPr>
          <a:xfrm>
            <a:off x="4754880" y="31089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5212080" y="306324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Document and report projects in the National QI database/or QI Journals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1"/>
          <p:cNvSpPr/>
          <p:nvPr/>
        </p:nvSpPr>
        <p:spPr>
          <a:xfrm>
            <a:off x="4754880" y="384048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1"/>
          <p:cNvSpPr/>
          <p:nvPr/>
        </p:nvSpPr>
        <p:spPr>
          <a:xfrm>
            <a:off x="4754880" y="38404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1"/>
          <p:cNvSpPr/>
          <p:nvPr/>
        </p:nvSpPr>
        <p:spPr>
          <a:xfrm>
            <a:off x="5212080" y="379476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Escalate gaps requiring higher-level action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2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2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2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THE QI PROCESS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2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Four steps of quality improvement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2"/>
          <p:cNvSpPr/>
          <p:nvPr/>
        </p:nvSpPr>
        <p:spPr>
          <a:xfrm>
            <a:off x="365760" y="1097280"/>
            <a:ext cx="2057400" cy="310896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2"/>
          <p:cNvSpPr/>
          <p:nvPr/>
        </p:nvSpPr>
        <p:spPr>
          <a:xfrm>
            <a:off x="1005840" y="1371600"/>
            <a:ext cx="777240" cy="7772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1005840" y="1371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502920" y="23317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Identify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502920" y="283464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What is the problem? How do we know? How big is it?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2560320" y="1097280"/>
            <a:ext cx="2057400" cy="310896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/>
          <p:nvPr/>
        </p:nvSpPr>
        <p:spPr>
          <a:xfrm>
            <a:off x="3200400" y="1371600"/>
            <a:ext cx="777240" cy="7772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3200400" y="1371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2"/>
          <p:cNvSpPr/>
          <p:nvPr/>
        </p:nvSpPr>
        <p:spPr>
          <a:xfrm>
            <a:off x="2697480" y="23317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2"/>
          <p:cNvSpPr/>
          <p:nvPr/>
        </p:nvSpPr>
        <p:spPr>
          <a:xfrm>
            <a:off x="2697480" y="283464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Why is it happening? Root causes, not symptoms.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/>
          <p:nvPr/>
        </p:nvSpPr>
        <p:spPr>
          <a:xfrm>
            <a:off x="4754880" y="1097280"/>
            <a:ext cx="2057400" cy="310896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5394960" y="1371600"/>
            <a:ext cx="777240" cy="7772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2"/>
          <p:cNvSpPr/>
          <p:nvPr/>
        </p:nvSpPr>
        <p:spPr>
          <a:xfrm>
            <a:off x="5394960" y="1371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2"/>
          <p:cNvSpPr/>
          <p:nvPr/>
        </p:nvSpPr>
        <p:spPr>
          <a:xfrm>
            <a:off x="4892040" y="23317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Develop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/>
          <p:nvPr/>
        </p:nvSpPr>
        <p:spPr>
          <a:xfrm>
            <a:off x="4892040" y="283464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What changes can we make that will lead to improvement?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6949440" y="1097280"/>
            <a:ext cx="2057400" cy="310896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2"/>
          <p:cNvSpPr/>
          <p:nvPr/>
        </p:nvSpPr>
        <p:spPr>
          <a:xfrm>
            <a:off x="7589520" y="1371600"/>
            <a:ext cx="777240" cy="7772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2"/>
          <p:cNvSpPr/>
          <p:nvPr/>
        </p:nvSpPr>
        <p:spPr>
          <a:xfrm>
            <a:off x="7589520" y="1371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/>
          <p:nvPr/>
        </p:nvSpPr>
        <p:spPr>
          <a:xfrm>
            <a:off x="7086600" y="2331720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/>
          <p:nvPr/>
        </p:nvSpPr>
        <p:spPr>
          <a:xfrm>
            <a:off x="7086600" y="2834640"/>
            <a:ext cx="17830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PDSA: Plan–Do–Study–Act on a small scale, then scale.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3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3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Identify and prioritise the problem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457200" y="868680"/>
            <a:ext cx="822960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3"/>
          <p:cNvSpPr/>
          <p:nvPr/>
        </p:nvSpPr>
        <p:spPr>
          <a:xfrm>
            <a:off x="685800" y="96012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What is the problem?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3"/>
          <p:cNvSpPr/>
          <p:nvPr/>
        </p:nvSpPr>
        <p:spPr>
          <a:xfrm>
            <a:off x="685800" y="12344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Gap between actual and desired performance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/>
          <p:nvPr/>
        </p:nvSpPr>
        <p:spPr>
          <a:xfrm>
            <a:off x="457200" y="1691640"/>
            <a:ext cx="822960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/>
          <p:nvPr/>
        </p:nvSpPr>
        <p:spPr>
          <a:xfrm>
            <a:off x="685800" y="178308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How do we know?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3"/>
          <p:cNvSpPr/>
          <p:nvPr/>
        </p:nvSpPr>
        <p:spPr>
          <a:xfrm>
            <a:off x="685800" y="20574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Data, observation, client feedback, audits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3"/>
          <p:cNvSpPr/>
          <p:nvPr/>
        </p:nvSpPr>
        <p:spPr>
          <a:xfrm>
            <a:off x="457200" y="2514600"/>
            <a:ext cx="822960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/>
          <p:nvPr/>
        </p:nvSpPr>
        <p:spPr>
          <a:xfrm>
            <a:off x="685800" y="260604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How frequent / how long?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685800" y="288036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Magnitude and trend over time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3"/>
          <p:cNvSpPr/>
          <p:nvPr/>
        </p:nvSpPr>
        <p:spPr>
          <a:xfrm>
            <a:off x="457200" y="3337560"/>
            <a:ext cx="822960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3"/>
          <p:cNvSpPr/>
          <p:nvPr/>
        </p:nvSpPr>
        <p:spPr>
          <a:xfrm>
            <a:off x="685800" y="34290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What are the effects?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/>
          <p:nvPr/>
        </p:nvSpPr>
        <p:spPr>
          <a:xfrm>
            <a:off x="685800" y="370332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On clients, staff, outcomes and costs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4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19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4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4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Analyse root causes — dig deeper than symptoms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4"/>
          <p:cNvSpPr/>
          <p:nvPr/>
        </p:nvSpPr>
        <p:spPr>
          <a:xfrm>
            <a:off x="457200" y="86868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68580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5 Whys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4"/>
          <p:cNvSpPr/>
          <p:nvPr/>
        </p:nvSpPr>
        <p:spPr>
          <a:xfrm>
            <a:off x="685800" y="16916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Ask “why” repeatedly until the fundamental cause is reached.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/>
          <p:nvPr/>
        </p:nvSpPr>
        <p:spPr>
          <a:xfrm>
            <a:off x="4754880" y="86868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/>
          <p:nvPr/>
        </p:nvSpPr>
        <p:spPr>
          <a:xfrm>
            <a:off x="4983480" y="11887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Fishbone (Ishikawa)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4"/>
          <p:cNvSpPr/>
          <p:nvPr/>
        </p:nvSpPr>
        <p:spPr>
          <a:xfrm>
            <a:off x="4983480" y="16916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Categorise causes: People, Process, Materials, Environment, Equipment, Management.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/>
          <p:nvPr/>
        </p:nvSpPr>
        <p:spPr>
          <a:xfrm>
            <a:off x="457200" y="265176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4"/>
          <p:cNvSpPr/>
          <p:nvPr/>
        </p:nvSpPr>
        <p:spPr>
          <a:xfrm>
            <a:off x="685800" y="2971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Process mapping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685800" y="34747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Flow chart to locate bottlenecks, delays and missing steps.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4"/>
          <p:cNvSpPr/>
          <p:nvPr/>
        </p:nvSpPr>
        <p:spPr>
          <a:xfrm>
            <a:off x="4754880" y="2651760"/>
            <a:ext cx="4114800" cy="164592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4983480" y="2971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Pareto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4"/>
          <p:cNvSpPr/>
          <p:nvPr/>
        </p:nvSpPr>
        <p:spPr>
          <a:xfrm>
            <a:off x="4983480" y="347472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Focus on the vital few causes that drive most of the problem.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5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5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20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5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5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Develop a SMART improvement aim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457200" y="868680"/>
            <a:ext cx="8229600" cy="914400"/>
          </a:xfrm>
          <a:prstGeom prst="roundRect">
            <a:avLst>
              <a:gd fmla="val 10000" name="adj"/>
            </a:avLst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685800" y="100584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good aim answers: How good? By when? For whom? Using what approach?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365760" y="2011680"/>
            <a:ext cx="1645920" cy="2377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5"/>
          <p:cNvSpPr/>
          <p:nvPr/>
        </p:nvSpPr>
        <p:spPr>
          <a:xfrm>
            <a:off x="868680" y="2194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5"/>
          <p:cNvSpPr/>
          <p:nvPr/>
        </p:nvSpPr>
        <p:spPr>
          <a:xfrm>
            <a:off x="457200" y="2971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Specific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457200" y="333756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Clear focus (e.g. waiting time in chronic care clinic)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5"/>
          <p:cNvSpPr/>
          <p:nvPr/>
        </p:nvSpPr>
        <p:spPr>
          <a:xfrm>
            <a:off x="2103120" y="2011680"/>
            <a:ext cx="1645920" cy="2377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5"/>
          <p:cNvSpPr/>
          <p:nvPr/>
        </p:nvSpPr>
        <p:spPr>
          <a:xfrm>
            <a:off x="2606040" y="2194560"/>
            <a:ext cx="640080" cy="6400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5"/>
          <p:cNvSpPr/>
          <p:nvPr/>
        </p:nvSpPr>
        <p:spPr>
          <a:xfrm>
            <a:off x="2606040" y="2194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5"/>
          <p:cNvSpPr/>
          <p:nvPr/>
        </p:nvSpPr>
        <p:spPr>
          <a:xfrm>
            <a:off x="2194560" y="2971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Measurable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5"/>
          <p:cNvSpPr/>
          <p:nvPr/>
        </p:nvSpPr>
        <p:spPr>
          <a:xfrm>
            <a:off x="2194560" y="333756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Numerator, denominator, data source, frequency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3840480" y="2011680"/>
            <a:ext cx="1645920" cy="2377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5"/>
          <p:cNvSpPr/>
          <p:nvPr/>
        </p:nvSpPr>
        <p:spPr>
          <a:xfrm>
            <a:off x="4343400" y="2194560"/>
            <a:ext cx="640080" cy="6400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5"/>
          <p:cNvSpPr/>
          <p:nvPr/>
        </p:nvSpPr>
        <p:spPr>
          <a:xfrm>
            <a:off x="4343400" y="2194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5"/>
          <p:cNvSpPr/>
          <p:nvPr/>
        </p:nvSpPr>
        <p:spPr>
          <a:xfrm>
            <a:off x="3931920" y="2971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Achievable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5"/>
          <p:cNvSpPr/>
          <p:nvPr/>
        </p:nvSpPr>
        <p:spPr>
          <a:xfrm>
            <a:off x="3931920" y="333756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Realistic with available resources and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/>
          <p:nvPr/>
        </p:nvSpPr>
        <p:spPr>
          <a:xfrm>
            <a:off x="5577840" y="2011680"/>
            <a:ext cx="1645920" cy="2377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5"/>
          <p:cNvSpPr/>
          <p:nvPr/>
        </p:nvSpPr>
        <p:spPr>
          <a:xfrm>
            <a:off x="6080760" y="2194560"/>
            <a:ext cx="640080" cy="6400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5"/>
          <p:cNvSpPr/>
          <p:nvPr/>
        </p:nvSpPr>
        <p:spPr>
          <a:xfrm>
            <a:off x="6080760" y="2194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5"/>
          <p:cNvSpPr/>
          <p:nvPr/>
        </p:nvSpPr>
        <p:spPr>
          <a:xfrm>
            <a:off x="5669280" y="2971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Relevant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/>
          <p:nvPr/>
        </p:nvSpPr>
        <p:spPr>
          <a:xfrm>
            <a:off x="5669280" y="333756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Addresses a priority client or system gap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5"/>
          <p:cNvSpPr/>
          <p:nvPr/>
        </p:nvSpPr>
        <p:spPr>
          <a:xfrm>
            <a:off x="7315200" y="2011680"/>
            <a:ext cx="1645920" cy="237744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7818120" y="2194560"/>
            <a:ext cx="640080" cy="64008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5"/>
          <p:cNvSpPr/>
          <p:nvPr/>
        </p:nvSpPr>
        <p:spPr>
          <a:xfrm>
            <a:off x="7818120" y="21945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5"/>
          <p:cNvSpPr/>
          <p:nvPr/>
        </p:nvSpPr>
        <p:spPr>
          <a:xfrm>
            <a:off x="7406640" y="2971800"/>
            <a:ext cx="1463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Time-bound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/>
          <p:nvPr/>
        </p:nvSpPr>
        <p:spPr>
          <a:xfrm>
            <a:off x="7406640" y="3337560"/>
            <a:ext cx="1463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Clear deadline (e.g. by December 2026)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6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6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21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6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26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Test changes with the PDSA cycle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/>
          <p:nvPr/>
        </p:nvSpPr>
        <p:spPr>
          <a:xfrm>
            <a:off x="365760" y="1005840"/>
            <a:ext cx="2057400" cy="32004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/>
          <p:nvPr/>
        </p:nvSpPr>
        <p:spPr>
          <a:xfrm>
            <a:off x="365760" y="1005840"/>
            <a:ext cx="2057400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365760" y="100584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26"/>
          <p:cNvSpPr/>
          <p:nvPr/>
        </p:nvSpPr>
        <p:spPr>
          <a:xfrm>
            <a:off x="502920" y="1920240"/>
            <a:ext cx="1783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What will be done, by whom, when, resources needed, baseline data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6"/>
          <p:cNvSpPr/>
          <p:nvPr/>
        </p:nvSpPr>
        <p:spPr>
          <a:xfrm>
            <a:off x="2560320" y="1005840"/>
            <a:ext cx="2057400" cy="32004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2560320" y="1005840"/>
            <a:ext cx="2057400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6"/>
          <p:cNvSpPr/>
          <p:nvPr/>
        </p:nvSpPr>
        <p:spPr>
          <a:xfrm>
            <a:off x="2560320" y="100584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6"/>
          <p:cNvSpPr/>
          <p:nvPr/>
        </p:nvSpPr>
        <p:spPr>
          <a:xfrm>
            <a:off x="2697480" y="1920240"/>
            <a:ext cx="1783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Execute the plan on a small scale; document observations and data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4754880" y="1005840"/>
            <a:ext cx="2057400" cy="32004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6"/>
          <p:cNvSpPr/>
          <p:nvPr/>
        </p:nvSpPr>
        <p:spPr>
          <a:xfrm>
            <a:off x="4754880" y="1005840"/>
            <a:ext cx="2057400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/>
          <p:nvPr/>
        </p:nvSpPr>
        <p:spPr>
          <a:xfrm>
            <a:off x="4754880" y="100584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6"/>
          <p:cNvSpPr/>
          <p:nvPr/>
        </p:nvSpPr>
        <p:spPr>
          <a:xfrm>
            <a:off x="4892040" y="1920240"/>
            <a:ext cx="1783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Compare results with baseline and aim; what did we learn?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/>
          <p:nvPr/>
        </p:nvSpPr>
        <p:spPr>
          <a:xfrm>
            <a:off x="6949440" y="1005840"/>
            <a:ext cx="2057400" cy="32004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6"/>
          <p:cNvSpPr/>
          <p:nvPr/>
        </p:nvSpPr>
        <p:spPr>
          <a:xfrm>
            <a:off x="6949440" y="1005840"/>
            <a:ext cx="2057400" cy="6400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6"/>
          <p:cNvSpPr/>
          <p:nvPr/>
        </p:nvSpPr>
        <p:spPr>
          <a:xfrm>
            <a:off x="6949440" y="1005840"/>
            <a:ext cx="2057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6"/>
          <p:cNvSpPr/>
          <p:nvPr/>
        </p:nvSpPr>
        <p:spPr>
          <a:xfrm>
            <a:off x="7086600" y="1920240"/>
            <a:ext cx="17830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Adopt, adapt or abandon; plan the next cycle or scale-up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7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7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22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7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DOCUMENTATION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QI Journal/National QI Database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7"/>
          <p:cNvSpPr/>
          <p:nvPr/>
        </p:nvSpPr>
        <p:spPr>
          <a:xfrm>
            <a:off x="457200" y="868680"/>
            <a:ext cx="402336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27"/>
          <p:cNvSpPr/>
          <p:nvPr/>
        </p:nvSpPr>
        <p:spPr>
          <a:xfrm>
            <a:off x="685800" y="1051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What to document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7"/>
          <p:cNvSpPr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Identified gap and baseline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/>
          <p:nvPr/>
        </p:nvSpPr>
        <p:spPr>
          <a:xfrm>
            <a:off x="685800" y="19202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Improvement aim &amp; SMART objectives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685800" y="233172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Root causes and change ideas tested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685800" y="274320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Results (run charts)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685800" y="31546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Challenges and lessons learned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685800" y="356616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Actions to sustain gains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4663440" y="868680"/>
            <a:ext cx="4023360" cy="3566160"/>
          </a:xfrm>
          <a:prstGeom prst="roundRect">
            <a:avLst>
              <a:gd fmla="val 2051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7"/>
          <p:cNvSpPr/>
          <p:nvPr/>
        </p:nvSpPr>
        <p:spPr>
          <a:xfrm>
            <a:off x="4892040" y="10515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Where to report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/>
          <p:nvPr/>
        </p:nvSpPr>
        <p:spPr>
          <a:xfrm>
            <a:off x="4892040" y="15544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National QI Database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/>
          <p:nvPr/>
        </p:nvSpPr>
        <p:spPr>
          <a:xfrm>
            <a:off x="4892040" y="19202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cqi.health.go.ug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4892040" y="2377440"/>
            <a:ext cx="35661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Update projects routinely. Discuss progress in facility monthly meetings. Use findings for coaching, recognition and cross-learning.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8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8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8"/>
          <p:cNvSpPr/>
          <p:nvPr/>
        </p:nvSpPr>
        <p:spPr>
          <a:xfrm>
            <a:off x="457200" y="1335314"/>
            <a:ext cx="8321040" cy="13643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Practical Application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Interactive Scenario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9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  SCENARIO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29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Case: Bwambara HC III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9"/>
          <p:cNvSpPr/>
          <p:nvPr/>
        </p:nvSpPr>
        <p:spPr>
          <a:xfrm>
            <a:off x="457200" y="1005840"/>
            <a:ext cx="8229600" cy="352044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9"/>
          <p:cNvSpPr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During a support supervision visit the team found: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Over 50 clients at OPD with only 4 of 10 staff present by midday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Late arrival / early departure of staff, no duty roster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Clients complained of long waits, rude staff, no medicines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Dirty toilets and broken equipment in corridors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Facility deliveries only 11–29% of target; midwives often absent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Static immunisation only on Tuesdays; MR2 coverage low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Clients preferred TBA services because “she is kind and does not delay”.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9"/>
          <p:cNvSpPr/>
          <p:nvPr/>
        </p:nvSpPr>
        <p:spPr>
          <a:xfrm>
            <a:off x="8321040" y="49194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 APPLY THE STEPS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0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Apply the 4 CQI Steps + PDSA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0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640080" y="116128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640080" y="12344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1280160" y="111556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/>
          <p:nvPr/>
        </p:nvSpPr>
        <p:spPr>
          <a:xfrm>
            <a:off x="1280160" y="14173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are the main problems? How do we know?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0"/>
          <p:cNvSpPr/>
          <p:nvPr/>
        </p:nvSpPr>
        <p:spPr>
          <a:xfrm>
            <a:off x="457200" y="187452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30"/>
          <p:cNvSpPr/>
          <p:nvPr/>
        </p:nvSpPr>
        <p:spPr>
          <a:xfrm>
            <a:off x="640080" y="202996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0"/>
          <p:cNvSpPr/>
          <p:nvPr/>
        </p:nvSpPr>
        <p:spPr>
          <a:xfrm>
            <a:off x="640080" y="21031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0"/>
          <p:cNvSpPr/>
          <p:nvPr/>
        </p:nvSpPr>
        <p:spPr>
          <a:xfrm>
            <a:off x="1280160" y="198424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30"/>
          <p:cNvSpPr/>
          <p:nvPr/>
        </p:nvSpPr>
        <p:spPr>
          <a:xfrm>
            <a:off x="1280160" y="22860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Root causes? (5 Whys, fishbone, flow chart)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0"/>
          <p:cNvSpPr/>
          <p:nvPr/>
        </p:nvSpPr>
        <p:spPr>
          <a:xfrm>
            <a:off x="457200" y="274320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640080" y="289864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640080" y="29718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/>
          <p:nvPr/>
        </p:nvSpPr>
        <p:spPr>
          <a:xfrm>
            <a:off x="1280160" y="285292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Develop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0"/>
          <p:cNvSpPr/>
          <p:nvPr/>
        </p:nvSpPr>
        <p:spPr>
          <a:xfrm>
            <a:off x="1280160" y="31546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changes could improve the situation?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0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0"/>
          <p:cNvSpPr/>
          <p:nvPr/>
        </p:nvSpPr>
        <p:spPr>
          <a:xfrm>
            <a:off x="640080" y="3767328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0"/>
          <p:cNvSpPr/>
          <p:nvPr/>
        </p:nvSpPr>
        <p:spPr>
          <a:xfrm>
            <a:off x="640080" y="38404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1280160" y="37216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 (PDSA)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1280160" y="40233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Plan–Do–Study–Act on a small scale, then act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8321040" y="49194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3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F766E"/>
                </a:solidFill>
                <a:latin typeface="Calibri"/>
                <a:ea typeface="Calibri"/>
                <a:cs typeface="Calibri"/>
                <a:sym typeface="Calibri"/>
              </a:rPr>
              <a:t>INTERACTIVE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/>
          <p:nvPr/>
        </p:nvSpPr>
        <p:spPr>
          <a:xfrm>
            <a:off x="457200" y="5029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E293B"/>
                </a:solidFill>
                <a:latin typeface="Georgia"/>
                <a:ea typeface="Georgia"/>
                <a:cs typeface="Georgia"/>
                <a:sym typeface="Georgia"/>
              </a:rPr>
              <a:t>Group Work — Discussion Prompts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1"/>
          <p:cNvSpPr/>
          <p:nvPr/>
        </p:nvSpPr>
        <p:spPr>
          <a:xfrm>
            <a:off x="457200" y="1005840"/>
            <a:ext cx="822960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685800" y="1143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1.  Prioritise the top 2–3 problems using a simple matrix (gap, feasibility, impact).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457200" y="1691640"/>
            <a:ext cx="822960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685800" y="18288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2.  Write one SMART improvement aim for the highest priority problem.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1"/>
          <p:cNvSpPr/>
          <p:nvPr/>
        </p:nvSpPr>
        <p:spPr>
          <a:xfrm>
            <a:off x="457200" y="2377440"/>
            <a:ext cx="822960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1"/>
          <p:cNvSpPr/>
          <p:nvPr/>
        </p:nvSpPr>
        <p:spPr>
          <a:xfrm>
            <a:off x="685800" y="25146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3.  List possible root causes using the 5 Whys or a fishbone diagram.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457200" y="3063240"/>
            <a:ext cx="822960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685800" y="32004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4.  Propose 2–3 change ideas and design a first PDSA cycle to test one idea.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457200" y="3749040"/>
            <a:ext cx="8229600" cy="59436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90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/>
          <p:nvPr/>
        </p:nvSpPr>
        <p:spPr>
          <a:xfrm>
            <a:off x="685800" y="38862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5.  Who should be on the Work Improvement Team (WIT) for this problem?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31"/>
          <p:cNvSpPr/>
          <p:nvPr/>
        </p:nvSpPr>
        <p:spPr>
          <a:xfrm>
            <a:off x="8321040" y="49194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2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2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23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2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GOVERNANCE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2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QI structures at every level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2"/>
          <p:cNvSpPr/>
          <p:nvPr/>
        </p:nvSpPr>
        <p:spPr>
          <a:xfrm>
            <a:off x="365760" y="914400"/>
            <a:ext cx="2057400" cy="33832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2"/>
          <p:cNvSpPr/>
          <p:nvPr/>
        </p:nvSpPr>
        <p:spPr>
          <a:xfrm>
            <a:off x="365760" y="914400"/>
            <a:ext cx="2057400" cy="54864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2"/>
          <p:cNvSpPr/>
          <p:nvPr/>
        </p:nvSpPr>
        <p:spPr>
          <a:xfrm>
            <a:off x="365760" y="91440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Facility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2"/>
          <p:cNvSpPr/>
          <p:nvPr/>
        </p:nvSpPr>
        <p:spPr>
          <a:xfrm>
            <a:off x="502920" y="1691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QI teams &amp; WITs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2"/>
          <p:cNvSpPr/>
          <p:nvPr/>
        </p:nvSpPr>
        <p:spPr>
          <a:xfrm>
            <a:off x="502920" y="21945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Identify gaps, run PDSA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2"/>
          <p:cNvSpPr/>
          <p:nvPr/>
        </p:nvSpPr>
        <p:spPr>
          <a:xfrm>
            <a:off x="502920" y="2697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Report projects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2"/>
          <p:cNvSpPr/>
          <p:nvPr/>
        </p:nvSpPr>
        <p:spPr>
          <a:xfrm>
            <a:off x="502920" y="32004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Monthly meetings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32"/>
          <p:cNvSpPr/>
          <p:nvPr/>
        </p:nvSpPr>
        <p:spPr>
          <a:xfrm>
            <a:off x="2560320" y="914400"/>
            <a:ext cx="2057400" cy="33832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2"/>
          <p:cNvSpPr/>
          <p:nvPr/>
        </p:nvSpPr>
        <p:spPr>
          <a:xfrm>
            <a:off x="2560320" y="914400"/>
            <a:ext cx="2057400" cy="54864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2"/>
          <p:cNvSpPr/>
          <p:nvPr/>
        </p:nvSpPr>
        <p:spPr>
          <a:xfrm>
            <a:off x="2560320" y="91440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District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32"/>
          <p:cNvSpPr/>
          <p:nvPr/>
        </p:nvSpPr>
        <p:spPr>
          <a:xfrm>
            <a:off x="2697480" y="1691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DHT / QI leads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2"/>
          <p:cNvSpPr/>
          <p:nvPr/>
        </p:nvSpPr>
        <p:spPr>
          <a:xfrm>
            <a:off x="2697480" y="21945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Mentorship &amp; supervision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32"/>
          <p:cNvSpPr/>
          <p:nvPr/>
        </p:nvSpPr>
        <p:spPr>
          <a:xfrm>
            <a:off x="2697480" y="2697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Data review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32"/>
          <p:cNvSpPr/>
          <p:nvPr/>
        </p:nvSpPr>
        <p:spPr>
          <a:xfrm>
            <a:off x="2697480" y="32004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Escalate blockers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2"/>
          <p:cNvSpPr/>
          <p:nvPr/>
        </p:nvSpPr>
        <p:spPr>
          <a:xfrm>
            <a:off x="4754880" y="914400"/>
            <a:ext cx="2057400" cy="33832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/>
          <p:nvPr/>
        </p:nvSpPr>
        <p:spPr>
          <a:xfrm>
            <a:off x="4754880" y="914400"/>
            <a:ext cx="2057400" cy="54864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2"/>
          <p:cNvSpPr/>
          <p:nvPr/>
        </p:nvSpPr>
        <p:spPr>
          <a:xfrm>
            <a:off x="4754880" y="91440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Region (ICS)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4892040" y="1691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ICS platform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/>
          <p:nvPr/>
        </p:nvSpPr>
        <p:spPr>
          <a:xfrm>
            <a:off x="4892040" y="21945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Coordinate coaching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2"/>
          <p:cNvSpPr/>
          <p:nvPr/>
        </p:nvSpPr>
        <p:spPr>
          <a:xfrm>
            <a:off x="4892040" y="2697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Action tracker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4892040" y="32004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Escalate systemic gaps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2"/>
          <p:cNvSpPr/>
          <p:nvPr/>
        </p:nvSpPr>
        <p:spPr>
          <a:xfrm>
            <a:off x="6949440" y="914400"/>
            <a:ext cx="2057400" cy="338328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2"/>
          <p:cNvSpPr/>
          <p:nvPr/>
        </p:nvSpPr>
        <p:spPr>
          <a:xfrm>
            <a:off x="6949440" y="914400"/>
            <a:ext cx="2057400" cy="548640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6949440" y="914400"/>
            <a:ext cx="2057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National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7086600" y="169164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SCAPP / MoH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7086600" y="219456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Standards &amp; database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2"/>
          <p:cNvSpPr/>
          <p:nvPr/>
        </p:nvSpPr>
        <p:spPr>
          <a:xfrm>
            <a:off x="7086600" y="2697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Policy &amp; recognition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2"/>
          <p:cNvSpPr/>
          <p:nvPr/>
        </p:nvSpPr>
        <p:spPr>
          <a:xfrm>
            <a:off x="7086600" y="320040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•  National learning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3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3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24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3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INTEGRATED CARE SYSTEMS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3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ICS — real-time accountability platform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Regional ICS Committees (chaired by RRH SEC, co-chaired by MoH) provide a monthly virtual platform to identify operational gaps and drive remedial actions.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3"/>
          <p:cNvSpPr/>
          <p:nvPr/>
        </p:nvSpPr>
        <p:spPr>
          <a:xfrm>
            <a:off x="457200" y="1645920"/>
            <a:ext cx="41148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3"/>
          <p:cNvSpPr/>
          <p:nvPr/>
        </p:nvSpPr>
        <p:spPr>
          <a:xfrm>
            <a:off x="685800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Purpose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3"/>
          <p:cNvSpPr/>
          <p:nvPr/>
        </p:nvSpPr>
        <p:spPr>
          <a:xfrm>
            <a:off x="685800" y="21488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Link central leadership to regions, districts and facilities; strengthen governance for quality.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3"/>
          <p:cNvSpPr/>
          <p:nvPr/>
        </p:nvSpPr>
        <p:spPr>
          <a:xfrm>
            <a:off x="4754880" y="1645920"/>
            <a:ext cx="41148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3"/>
          <p:cNvSpPr/>
          <p:nvPr/>
        </p:nvSpPr>
        <p:spPr>
          <a:xfrm>
            <a:off x="4983480" y="1828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Key issues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4983480" y="21488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HRH performance, service integration, financing, client feedback, EMR, commodities, equipment.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33"/>
          <p:cNvSpPr/>
          <p:nvPr/>
        </p:nvSpPr>
        <p:spPr>
          <a:xfrm>
            <a:off x="457200" y="3017520"/>
            <a:ext cx="41148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3"/>
          <p:cNvSpPr/>
          <p:nvPr/>
        </p:nvSpPr>
        <p:spPr>
          <a:xfrm>
            <a:off x="685800" y="3200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Action tracker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3"/>
          <p:cNvSpPr/>
          <p:nvPr/>
        </p:nvSpPr>
        <p:spPr>
          <a:xfrm>
            <a:off x="685800" y="35204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Document actions, owners, deadlines; review status monthly; escalate unresolved items.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4754880" y="3017520"/>
            <a:ext cx="411480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3"/>
          <p:cNvSpPr/>
          <p:nvPr/>
        </p:nvSpPr>
        <p:spPr>
          <a:xfrm>
            <a:off x="4983480" y="32004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3"/>
          <p:cNvSpPr/>
          <p:nvPr/>
        </p:nvSpPr>
        <p:spPr>
          <a:xfrm>
            <a:off x="4983480" y="35204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Share successful change ideas across facilities and regions for scale-up.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4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4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25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4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COLLABORATIVE LEARNING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4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Improve together — share what works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4"/>
          <p:cNvSpPr/>
          <p:nvPr/>
        </p:nvSpPr>
        <p:spPr>
          <a:xfrm>
            <a:off x="457200" y="86868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34"/>
          <p:cNvSpPr/>
          <p:nvPr/>
        </p:nvSpPr>
        <p:spPr>
          <a:xfrm>
            <a:off x="640080" y="1033272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4"/>
          <p:cNvSpPr/>
          <p:nvPr/>
        </p:nvSpPr>
        <p:spPr>
          <a:xfrm>
            <a:off x="640080" y="10332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4"/>
          <p:cNvSpPr/>
          <p:nvPr/>
        </p:nvSpPr>
        <p:spPr>
          <a:xfrm>
            <a:off x="1325880" y="97840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Within facility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4"/>
          <p:cNvSpPr/>
          <p:nvPr/>
        </p:nvSpPr>
        <p:spPr>
          <a:xfrm>
            <a:off x="1325880" y="128016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Departments share progress, barriers and successful change ideas in monthly meetings.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4"/>
          <p:cNvSpPr/>
          <p:nvPr/>
        </p:nvSpPr>
        <p:spPr>
          <a:xfrm>
            <a:off x="457200" y="173736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4"/>
          <p:cNvSpPr/>
          <p:nvPr/>
        </p:nvSpPr>
        <p:spPr>
          <a:xfrm>
            <a:off x="640080" y="1901952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4"/>
          <p:cNvSpPr/>
          <p:nvPr/>
        </p:nvSpPr>
        <p:spPr>
          <a:xfrm>
            <a:off x="640080" y="190195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4"/>
          <p:cNvSpPr/>
          <p:nvPr/>
        </p:nvSpPr>
        <p:spPr>
          <a:xfrm>
            <a:off x="1325880" y="184708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Across facilities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34"/>
          <p:cNvSpPr/>
          <p:nvPr/>
        </p:nvSpPr>
        <p:spPr>
          <a:xfrm>
            <a:off x="1325880" y="214884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Mentorship visits, peer exchange and learning sessions between sentinel sites and neighbours.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4"/>
          <p:cNvSpPr/>
          <p:nvPr/>
        </p:nvSpPr>
        <p:spPr>
          <a:xfrm>
            <a:off x="457200" y="260604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4"/>
          <p:cNvSpPr/>
          <p:nvPr/>
        </p:nvSpPr>
        <p:spPr>
          <a:xfrm>
            <a:off x="640080" y="2770632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34"/>
          <p:cNvSpPr/>
          <p:nvPr/>
        </p:nvSpPr>
        <p:spPr>
          <a:xfrm>
            <a:off x="640080" y="277063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4"/>
          <p:cNvSpPr/>
          <p:nvPr/>
        </p:nvSpPr>
        <p:spPr>
          <a:xfrm>
            <a:off x="1325880" y="271576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Across regions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4"/>
          <p:cNvSpPr/>
          <p:nvPr/>
        </p:nvSpPr>
        <p:spPr>
          <a:xfrm>
            <a:off x="1325880" y="301752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ICS platforms and national webinars harvest solutions that can be adapted and scaled.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4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4"/>
          <p:cNvSpPr/>
          <p:nvPr/>
        </p:nvSpPr>
        <p:spPr>
          <a:xfrm>
            <a:off x="640080" y="3639312"/>
            <a:ext cx="457200" cy="457200"/>
          </a:xfrm>
          <a:prstGeom prst="roundRect">
            <a:avLst>
              <a:gd fmla="val 12000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4"/>
          <p:cNvSpPr/>
          <p:nvPr/>
        </p:nvSpPr>
        <p:spPr>
          <a:xfrm>
            <a:off x="640080" y="36393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34"/>
          <p:cNvSpPr/>
          <p:nvPr/>
        </p:nvSpPr>
        <p:spPr>
          <a:xfrm>
            <a:off x="1325880" y="3584448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National conference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4"/>
          <p:cNvSpPr/>
          <p:nvPr/>
        </p:nvSpPr>
        <p:spPr>
          <a:xfrm>
            <a:off x="1325880" y="38862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Annual National QI Conference for cross-learning, recognition and policy feedback.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35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35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26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35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5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Key Digital Systems for Tracking Quality of Care Practice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5"/>
          <p:cNvSpPr/>
          <p:nvPr/>
        </p:nvSpPr>
        <p:spPr>
          <a:xfrm>
            <a:off x="457200" y="649224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5"/>
          <p:cNvSpPr/>
          <p:nvPr/>
        </p:nvSpPr>
        <p:spPr>
          <a:xfrm>
            <a:off x="685800" y="635000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RCSFI Dashboard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5"/>
          <p:cNvSpPr/>
          <p:nvPr/>
        </p:nvSpPr>
        <p:spPr>
          <a:xfrm>
            <a:off x="685800" y="96824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Routine Client Satisfaction Feedback. Tracks timeliness, respect, continuity and other experience indicators. Use for waiting-time and dissatisfaction trends.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35"/>
          <p:cNvSpPr/>
          <p:nvPr/>
        </p:nvSpPr>
        <p:spPr>
          <a:xfrm>
            <a:off x="457200" y="1504188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5"/>
          <p:cNvSpPr/>
          <p:nvPr/>
        </p:nvSpPr>
        <p:spPr>
          <a:xfrm>
            <a:off x="685800" y="1521678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National QI Database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35"/>
          <p:cNvSpPr/>
          <p:nvPr/>
        </p:nvSpPr>
        <p:spPr>
          <a:xfrm>
            <a:off x="685800" y="1849265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www.cqi.health.go.ug — register QI projects, update progress, share change packages and enable national coaching and recognition.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5"/>
          <p:cNvSpPr/>
          <p:nvPr/>
        </p:nvSpPr>
        <p:spPr>
          <a:xfrm>
            <a:off x="457200" y="2372070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35"/>
          <p:cNvSpPr/>
          <p:nvPr/>
        </p:nvSpPr>
        <p:spPr>
          <a:xfrm>
            <a:off x="685800" y="2407267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ICS Action Tracker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35"/>
          <p:cNvSpPr/>
          <p:nvPr/>
        </p:nvSpPr>
        <p:spPr>
          <a:xfrm>
            <a:off x="685800" y="2743200"/>
            <a:ext cx="7772400" cy="361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National and Regional view of documented actions, completion status and sites with no active responses to healthcare system gaps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35"/>
          <p:cNvSpPr/>
          <p:nvPr/>
        </p:nvSpPr>
        <p:spPr>
          <a:xfrm>
            <a:off x="457200" y="3212374"/>
            <a:ext cx="822960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35"/>
          <p:cNvSpPr/>
          <p:nvPr/>
        </p:nvSpPr>
        <p:spPr>
          <a:xfrm>
            <a:off x="685800" y="3221591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5S Tool and IPC tool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5"/>
          <p:cNvSpPr/>
          <p:nvPr/>
        </p:nvSpPr>
        <p:spPr>
          <a:xfrm>
            <a:off x="685800" y="3558975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5S tool assesses the organization of workplace environment, while the IPC tool assesses the IPC practices at the health facility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5"/>
          <p:cNvSpPr/>
          <p:nvPr/>
        </p:nvSpPr>
        <p:spPr>
          <a:xfrm>
            <a:off x="457200" y="4041648"/>
            <a:ext cx="8229600" cy="602488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5"/>
          <p:cNvSpPr/>
          <p:nvPr/>
        </p:nvSpPr>
        <p:spPr>
          <a:xfrm>
            <a:off x="685800" y="4048325"/>
            <a:ext cx="7772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Integration of Health Services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35"/>
          <p:cNvSpPr/>
          <p:nvPr/>
        </p:nvSpPr>
        <p:spPr>
          <a:xfrm>
            <a:off x="685800" y="4300511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Assesses the level of health care services integration at a facility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6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6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6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27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6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STANDARD OPERATING PROCEDURES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6"/>
          <p:cNvSpPr/>
          <p:nvPr/>
        </p:nvSpPr>
        <p:spPr>
          <a:xfrm>
            <a:off x="365759" y="292608"/>
            <a:ext cx="8451669" cy="4846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National Standard Operating Procedures (SOPs) for Integrated Service Delivery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6"/>
          <p:cNvSpPr/>
          <p:nvPr/>
        </p:nvSpPr>
        <p:spPr>
          <a:xfrm>
            <a:off x="457200" y="868680"/>
            <a:ext cx="82296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6"/>
          <p:cNvSpPr/>
          <p:nvPr/>
        </p:nvSpPr>
        <p:spPr>
          <a:xfrm>
            <a:off x="685800" y="10058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Entry, Flow &amp; Assessment (1–6)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6"/>
          <p:cNvSpPr/>
          <p:nvPr/>
        </p:nvSpPr>
        <p:spPr>
          <a:xfrm>
            <a:off x="685800" y="13716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Registration, appointments, education, assessment, emergency, differentiated care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6"/>
          <p:cNvSpPr/>
          <p:nvPr/>
        </p:nvSpPr>
        <p:spPr>
          <a:xfrm>
            <a:off x="457200" y="1920240"/>
            <a:ext cx="82296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6"/>
          <p:cNvSpPr/>
          <p:nvPr/>
        </p:nvSpPr>
        <p:spPr>
          <a:xfrm>
            <a:off x="685800" y="205740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Treatment, Linkage &amp; Community (7–12)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6"/>
          <p:cNvSpPr/>
          <p:nvPr/>
        </p:nvSpPr>
        <p:spPr>
          <a:xfrm>
            <a:off x="685800" y="24231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DSD models, prescribing, dispensing, referrals, socioeconomic support, outreach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6"/>
          <p:cNvSpPr/>
          <p:nvPr/>
        </p:nvSpPr>
        <p:spPr>
          <a:xfrm>
            <a:off x="457200" y="2971800"/>
            <a:ext cx="8229600" cy="960120"/>
          </a:xfrm>
          <a:prstGeom prst="roundRect">
            <a:avLst>
              <a:gd fmla="val 7619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6"/>
          <p:cNvSpPr/>
          <p:nvPr/>
        </p:nvSpPr>
        <p:spPr>
          <a:xfrm>
            <a:off x="685800" y="310896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Systems, Data &amp; QI (13–17)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6"/>
          <p:cNvSpPr/>
          <p:nvPr/>
        </p:nvSpPr>
        <p:spPr>
          <a:xfrm>
            <a:off x="685800" y="34747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Tracking, CPD, client feedback, data reporting, continuous quality improvement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7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37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37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28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37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37"/>
          <p:cNvSpPr/>
          <p:nvPr/>
        </p:nvSpPr>
        <p:spPr>
          <a:xfrm>
            <a:off x="365760" y="292608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37"/>
          <p:cNvSpPr/>
          <p:nvPr/>
        </p:nvSpPr>
        <p:spPr>
          <a:xfrm>
            <a:off x="502920" y="86868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37"/>
          <p:cNvSpPr/>
          <p:nvPr/>
        </p:nvSpPr>
        <p:spPr>
          <a:xfrm>
            <a:off x="502920" y="8686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7"/>
          <p:cNvSpPr/>
          <p:nvPr/>
        </p:nvSpPr>
        <p:spPr>
          <a:xfrm>
            <a:off x="1005840" y="82296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Quality of Care can be achieved through continuous quality improvement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7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37"/>
          <p:cNvSpPr/>
          <p:nvPr/>
        </p:nvSpPr>
        <p:spPr>
          <a:xfrm>
            <a:off x="502920" y="1371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7"/>
          <p:cNvSpPr/>
          <p:nvPr/>
        </p:nvSpPr>
        <p:spPr>
          <a:xfrm>
            <a:off x="1005840" y="132588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MOH has prioritized 5S, IPC, Client Satisfaction, Patient safety and Integration as the priority areas to improve quality of care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7"/>
          <p:cNvSpPr/>
          <p:nvPr/>
        </p:nvSpPr>
        <p:spPr>
          <a:xfrm>
            <a:off x="502920" y="187452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7"/>
          <p:cNvSpPr/>
          <p:nvPr/>
        </p:nvSpPr>
        <p:spPr>
          <a:xfrm>
            <a:off x="502920" y="187452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37"/>
          <p:cNvSpPr/>
          <p:nvPr/>
        </p:nvSpPr>
        <p:spPr>
          <a:xfrm>
            <a:off x="1005840" y="182880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QoC is guided by four principles: client focus, systems thinking, data use and teamwork.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7"/>
          <p:cNvSpPr/>
          <p:nvPr/>
        </p:nvSpPr>
        <p:spPr>
          <a:xfrm>
            <a:off x="502920" y="237744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7"/>
          <p:cNvSpPr/>
          <p:nvPr/>
        </p:nvSpPr>
        <p:spPr>
          <a:xfrm>
            <a:off x="502920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7"/>
          <p:cNvSpPr/>
          <p:nvPr/>
        </p:nvSpPr>
        <p:spPr>
          <a:xfrm>
            <a:off x="1005840" y="23317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CQI can be achieved through the four steps: identify → analyse → develop → test (PDSA).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7"/>
          <p:cNvSpPr/>
          <p:nvPr/>
        </p:nvSpPr>
        <p:spPr>
          <a:xfrm>
            <a:off x="502920" y="288036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3" name="Google Shape;903;p37"/>
          <p:cNvSpPr/>
          <p:nvPr/>
        </p:nvSpPr>
        <p:spPr>
          <a:xfrm>
            <a:off x="502920" y="2880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7"/>
          <p:cNvSpPr/>
          <p:nvPr/>
        </p:nvSpPr>
        <p:spPr>
          <a:xfrm>
            <a:off x="1005840" y="283464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Documentation and reporting of the CQI projects is important to track progress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7"/>
          <p:cNvSpPr/>
          <p:nvPr/>
        </p:nvSpPr>
        <p:spPr>
          <a:xfrm>
            <a:off x="502920" y="338328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37"/>
          <p:cNvSpPr/>
          <p:nvPr/>
        </p:nvSpPr>
        <p:spPr>
          <a:xfrm>
            <a:off x="502920" y="33832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7"/>
          <p:cNvSpPr/>
          <p:nvPr/>
        </p:nvSpPr>
        <p:spPr>
          <a:xfrm>
            <a:off x="1005840" y="333756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The key documentation tools that have been digitized include: 5S, IPC, Client Satisfaction, Patient Safety, Integration, ICS and HFQAP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7"/>
          <p:cNvSpPr/>
          <p:nvPr/>
        </p:nvSpPr>
        <p:spPr>
          <a:xfrm>
            <a:off x="502920" y="3886200"/>
            <a:ext cx="320040" cy="320040"/>
          </a:xfrm>
          <a:prstGeom prst="ellipse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37"/>
          <p:cNvSpPr/>
          <p:nvPr/>
        </p:nvSpPr>
        <p:spPr>
          <a:xfrm>
            <a:off x="502920" y="38862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7"/>
          <p:cNvSpPr/>
          <p:nvPr/>
        </p:nvSpPr>
        <p:spPr>
          <a:xfrm>
            <a:off x="1005840" y="384048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Quality of Care is everyone’s daily work — not a special project or extra task.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6"/>
        </a:solidFill>
      </p:bgPr>
    </p:bg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3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F2B3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38"/>
          <p:cNvSpPr/>
          <p:nvPr/>
        </p:nvSpPr>
        <p:spPr>
          <a:xfrm>
            <a:off x="365760" y="4828032"/>
            <a:ext cx="65836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Ministry of Health  |  SCAPP  |  Quality of Care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38"/>
          <p:cNvSpPr/>
          <p:nvPr/>
        </p:nvSpPr>
        <p:spPr>
          <a:xfrm>
            <a:off x="7772400" y="4828032"/>
            <a:ext cx="1097280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29 / 30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38"/>
          <p:cNvSpPr/>
          <p:nvPr/>
        </p:nvSpPr>
        <p:spPr>
          <a:xfrm>
            <a:off x="457200" y="137160"/>
            <a:ext cx="8229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38"/>
          <p:cNvSpPr/>
          <p:nvPr/>
        </p:nvSpPr>
        <p:spPr>
          <a:xfrm>
            <a:off x="457200" y="2926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Next Steps for Health workers (WITs)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38"/>
          <p:cNvSpPr/>
          <p:nvPr/>
        </p:nvSpPr>
        <p:spPr>
          <a:xfrm>
            <a:off x="457200" y="868680"/>
            <a:ext cx="82296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38"/>
          <p:cNvSpPr/>
          <p:nvPr/>
        </p:nvSpPr>
        <p:spPr>
          <a:xfrm>
            <a:off x="640080" y="978408"/>
            <a:ext cx="411480" cy="411480"/>
          </a:xfrm>
          <a:prstGeom prst="roundRect">
            <a:avLst>
              <a:gd fmla="val 1333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8"/>
          <p:cNvSpPr/>
          <p:nvPr/>
        </p:nvSpPr>
        <p:spPr>
          <a:xfrm>
            <a:off x="640080" y="9784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8"/>
          <p:cNvSpPr/>
          <p:nvPr/>
        </p:nvSpPr>
        <p:spPr>
          <a:xfrm>
            <a:off x="1280160" y="94183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Orient your unit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8"/>
          <p:cNvSpPr/>
          <p:nvPr/>
        </p:nvSpPr>
        <p:spPr>
          <a:xfrm>
            <a:off x="1280160" y="1197864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Share this deck and the CQI circular with your WIT or department.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38"/>
          <p:cNvSpPr/>
          <p:nvPr/>
        </p:nvSpPr>
        <p:spPr>
          <a:xfrm>
            <a:off x="457200" y="1554480"/>
            <a:ext cx="82296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8"/>
          <p:cNvSpPr/>
          <p:nvPr/>
        </p:nvSpPr>
        <p:spPr>
          <a:xfrm>
            <a:off x="640080" y="1664208"/>
            <a:ext cx="411480" cy="411480"/>
          </a:xfrm>
          <a:prstGeom prst="roundRect">
            <a:avLst>
              <a:gd fmla="val 1333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8"/>
          <p:cNvSpPr/>
          <p:nvPr/>
        </p:nvSpPr>
        <p:spPr>
          <a:xfrm>
            <a:off x="640080" y="16642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8"/>
          <p:cNvSpPr/>
          <p:nvPr/>
        </p:nvSpPr>
        <p:spPr>
          <a:xfrm>
            <a:off x="1280160" y="162763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Pick one gap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8"/>
          <p:cNvSpPr/>
          <p:nvPr/>
        </p:nvSpPr>
        <p:spPr>
          <a:xfrm>
            <a:off x="1280160" y="1883664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Use data or client feedback to select one priority problem.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8"/>
          <p:cNvSpPr/>
          <p:nvPr/>
        </p:nvSpPr>
        <p:spPr>
          <a:xfrm>
            <a:off x="457200" y="2240280"/>
            <a:ext cx="82296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8"/>
          <p:cNvSpPr/>
          <p:nvPr/>
        </p:nvSpPr>
        <p:spPr>
          <a:xfrm>
            <a:off x="640080" y="2350008"/>
            <a:ext cx="411480" cy="411480"/>
          </a:xfrm>
          <a:prstGeom prst="roundRect">
            <a:avLst>
              <a:gd fmla="val 1333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8"/>
          <p:cNvSpPr/>
          <p:nvPr/>
        </p:nvSpPr>
        <p:spPr>
          <a:xfrm>
            <a:off x="640080" y="23500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8"/>
          <p:cNvSpPr/>
          <p:nvPr/>
        </p:nvSpPr>
        <p:spPr>
          <a:xfrm>
            <a:off x="1280160" y="231343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Start a PDSA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8"/>
          <p:cNvSpPr/>
          <p:nvPr/>
        </p:nvSpPr>
        <p:spPr>
          <a:xfrm>
            <a:off x="1280160" y="2569464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Write a simple aim, test one change idea on a small scale.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8"/>
          <p:cNvSpPr/>
          <p:nvPr/>
        </p:nvSpPr>
        <p:spPr>
          <a:xfrm>
            <a:off x="457200" y="2926080"/>
            <a:ext cx="82296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8"/>
          <p:cNvSpPr/>
          <p:nvPr/>
        </p:nvSpPr>
        <p:spPr>
          <a:xfrm>
            <a:off x="640080" y="3035808"/>
            <a:ext cx="411480" cy="411480"/>
          </a:xfrm>
          <a:prstGeom prst="roundRect">
            <a:avLst>
              <a:gd fmla="val 1333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8"/>
          <p:cNvSpPr/>
          <p:nvPr/>
        </p:nvSpPr>
        <p:spPr>
          <a:xfrm>
            <a:off x="640080" y="30358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8"/>
          <p:cNvSpPr/>
          <p:nvPr/>
        </p:nvSpPr>
        <p:spPr>
          <a:xfrm>
            <a:off x="1280160" y="299923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Apply 5S &amp; IPC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8"/>
          <p:cNvSpPr/>
          <p:nvPr/>
        </p:nvSpPr>
        <p:spPr>
          <a:xfrm>
            <a:off x="1280160" y="3255264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Walk through your service area and fix one visible problem today.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8"/>
          <p:cNvSpPr/>
          <p:nvPr/>
        </p:nvSpPr>
        <p:spPr>
          <a:xfrm>
            <a:off x="457200" y="3611880"/>
            <a:ext cx="822960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8"/>
          <p:cNvSpPr/>
          <p:nvPr/>
        </p:nvSpPr>
        <p:spPr>
          <a:xfrm>
            <a:off x="640080" y="3721608"/>
            <a:ext cx="411480" cy="411480"/>
          </a:xfrm>
          <a:prstGeom prst="roundRect">
            <a:avLst>
              <a:gd fmla="val 13333" name="adj"/>
            </a:avLst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8"/>
          <p:cNvSpPr/>
          <p:nvPr/>
        </p:nvSpPr>
        <p:spPr>
          <a:xfrm>
            <a:off x="640080" y="3721608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8"/>
          <p:cNvSpPr/>
          <p:nvPr/>
        </p:nvSpPr>
        <p:spPr>
          <a:xfrm>
            <a:off x="1280160" y="368503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5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E35"/>
                </a:solidFill>
                <a:latin typeface="Calibri"/>
                <a:ea typeface="Calibri"/>
                <a:cs typeface="Calibri"/>
                <a:sym typeface="Calibri"/>
              </a:rPr>
              <a:t>Report &amp; share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8"/>
          <p:cNvSpPr/>
          <p:nvPr/>
        </p:nvSpPr>
        <p:spPr>
          <a:xfrm>
            <a:off x="1280160" y="3941064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C60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C60"/>
                </a:solidFill>
                <a:latin typeface="Calibri"/>
                <a:ea typeface="Calibri"/>
                <a:cs typeface="Calibri"/>
                <a:sym typeface="Calibri"/>
              </a:rPr>
              <a:t>Log the project in cqi.health.go.ug and present progress next month.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B3C"/>
        </a:solidFill>
      </p:bgPr>
    </p:bg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3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9"/>
          <p:cNvSpPr/>
          <p:nvPr/>
        </p:nvSpPr>
        <p:spPr>
          <a:xfrm>
            <a:off x="548640" y="14630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9"/>
          <p:cNvSpPr/>
          <p:nvPr/>
        </p:nvSpPr>
        <p:spPr>
          <a:xfrm>
            <a:off x="548640" y="2194560"/>
            <a:ext cx="2011680" cy="54864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9"/>
          <p:cNvSpPr/>
          <p:nvPr/>
        </p:nvSpPr>
        <p:spPr>
          <a:xfrm>
            <a:off x="548640" y="2468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E8D0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A7E8D0"/>
                </a:solidFill>
                <a:latin typeface="Calibri"/>
                <a:ea typeface="Calibri"/>
                <a:cs typeface="Calibri"/>
                <a:sym typeface="Calibri"/>
              </a:rPr>
              <a:t>Quality is how we work every day.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9"/>
          <p:cNvSpPr/>
          <p:nvPr/>
        </p:nvSpPr>
        <p:spPr>
          <a:xfrm>
            <a:off x="548640" y="320040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F82"/>
                </a:solidFill>
                <a:latin typeface="Calibri"/>
                <a:ea typeface="Calibri"/>
                <a:cs typeface="Calibri"/>
                <a:sym typeface="Calibri"/>
              </a:rPr>
              <a:t>Ministry of Health  •  SCAPP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F82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6B7F82"/>
                </a:solidFill>
                <a:latin typeface="Calibri"/>
                <a:ea typeface="Calibri"/>
                <a:cs typeface="Calibri"/>
                <a:sym typeface="Calibri"/>
              </a:rPr>
              <a:t>For guidance: contact your Regional ICS team or SCAPP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9"/>
          <p:cNvSpPr/>
          <p:nvPr/>
        </p:nvSpPr>
        <p:spPr>
          <a:xfrm>
            <a:off x="548640" y="41148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3A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4A3A8"/>
                </a:solidFill>
                <a:latin typeface="Calibri"/>
                <a:ea typeface="Calibri"/>
                <a:cs typeface="Calibri"/>
                <a:sym typeface="Calibri"/>
              </a:rPr>
              <a:t>cqi.health.go.ug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2026-09-04T09:26:54Z</dcterms:created>
  <dc:creator>Ministry of Health Uganda - SCAPP</dc:creator>
</cp:coreProperties>
</file>