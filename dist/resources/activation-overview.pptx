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embeddedFontLst>
    <p:embeddedFont>
      <p:font typeface="No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rn11tXmm+6HyIkDpWcWqjUDS3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NotoSans-bold.fntdata"/><Relationship Id="rId21" Type="http://schemas.openxmlformats.org/officeDocument/2006/relationships/font" Target="fonts/NotoSans-regular.fntdata"/><Relationship Id="rId24" Type="http://schemas.openxmlformats.org/officeDocument/2006/relationships/font" Target="fonts/NotoSans-boldItalic.fntdata"/><Relationship Id="rId23" Type="http://schemas.openxmlformats.org/officeDocument/2006/relationships/font" Target="fonts/Noto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7" name="Google Shape;54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8" name="Google Shape;57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b9d616e10_0_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fb9d616e10_0_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8FAF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8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8"/>
          <p:cNvSpPr/>
          <p:nvPr/>
        </p:nvSpPr>
        <p:spPr>
          <a:xfrm>
            <a:off x="0" y="50292"/>
            <a:ext cx="12191695" cy="41148"/>
          </a:xfrm>
          <a:prstGeom prst="rect">
            <a:avLst/>
          </a:prstGeom>
          <a:solidFill>
            <a:srgbClr val="F5D547"/>
          </a:solidFill>
          <a:ln cap="flat" cmpd="sng" w="12700">
            <a:solidFill>
              <a:srgbClr val="F5D5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8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C4362E"/>
          </a:solidFill>
          <a:ln cap="flat" cmpd="sng" w="12700">
            <a:solidFill>
              <a:srgbClr val="C436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idx="12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947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0" y="64008"/>
            <a:ext cx="12191695" cy="50292"/>
          </a:xfrm>
          <a:prstGeom prst="rect">
            <a:avLst/>
          </a:prstGeom>
          <a:solidFill>
            <a:srgbClr val="F5D547"/>
          </a:solidFill>
          <a:ln cap="flat" cmpd="sng" w="12700">
            <a:solidFill>
              <a:srgbClr val="F5D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0" y="114300"/>
            <a:ext cx="12191695" cy="64008"/>
          </a:xfrm>
          <a:prstGeom prst="rect">
            <a:avLst/>
          </a:prstGeom>
          <a:solidFill>
            <a:srgbClr val="C64E45"/>
          </a:solidFill>
          <a:ln cap="flat" cmpd="sng" w="12700">
            <a:solidFill>
              <a:srgbClr val="C64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51268" y="4041653"/>
            <a:ext cx="8046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5E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CDE5EF"/>
                </a:solidFill>
                <a:latin typeface="Noto Sans"/>
                <a:ea typeface="Noto Sans"/>
                <a:cs typeface="Noto Sans"/>
                <a:sym typeface="Noto Sans"/>
              </a:rPr>
              <a:t>UGANDA MINISTRY OF HEALTH • HEALTH SERVICE INTEGRATION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58368" y="1389888"/>
            <a:ext cx="8046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Noto Sans"/>
              <a:buNone/>
            </a:pPr>
            <a:r>
              <a:rPr b="1" lang="en-US" sz="3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Sentinel Sites Activation</a:t>
            </a:r>
            <a:endParaRPr sz="3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58368" y="1993392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8F0"/>
              </a:buClr>
              <a:buSzPts val="2900"/>
              <a:buFont typeface="Noto Sans"/>
              <a:buNone/>
            </a:pPr>
            <a:r>
              <a:rPr b="1" lang="en-US" sz="2900">
                <a:solidFill>
                  <a:srgbClr val="D6E8F0"/>
                </a:solidFill>
                <a:latin typeface="Noto Sans"/>
                <a:ea typeface="Noto Sans"/>
                <a:cs typeface="Noto Sans"/>
                <a:sym typeface="Noto Sans"/>
              </a:rPr>
              <a:t>Integrated Service Delivery</a:t>
            </a:r>
            <a:endParaRPr sz="2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76656" y="2798064"/>
            <a:ext cx="7406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D5E0"/>
              </a:buClr>
              <a:buSzPts val="1700"/>
              <a:buFont typeface="Noto Sans"/>
              <a:buNone/>
            </a:pPr>
            <a:r>
              <a:rPr lang="en-US" sz="1700">
                <a:solidFill>
                  <a:srgbClr val="C4D5E0"/>
                </a:solidFill>
                <a:latin typeface="Noto Sans"/>
                <a:ea typeface="Noto Sans"/>
                <a:cs typeface="Noto Sans"/>
                <a:sym typeface="Noto Sans"/>
              </a:rPr>
              <a:t>A focused 60-minute orientation: activate • assess • improve • learn</a:t>
            </a:r>
            <a:endParaRPr sz="1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76656" y="406908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80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76656" y="4498848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EE6"/>
              </a:buClr>
              <a:buSzPts val="1050"/>
              <a:buFont typeface="Noto Sans"/>
              <a:buNone/>
            </a:pPr>
            <a:r>
              <a:rPr lang="en-US" sz="1050">
                <a:solidFill>
                  <a:srgbClr val="D2DEE6"/>
                </a:solidFill>
                <a:latin typeface="Noto Sans"/>
                <a:ea typeface="Noto Sans"/>
                <a:cs typeface="Noto Sans"/>
                <a:sym typeface="Noto Sans"/>
              </a:rPr>
              <a:t>sentinel sites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7" name="Google Shape;27;p1"/>
          <p:cNvCxnSpPr/>
          <p:nvPr/>
        </p:nvCxnSpPr>
        <p:spPr>
          <a:xfrm>
            <a:off x="2139696" y="4160520"/>
            <a:ext cx="0" cy="658368"/>
          </a:xfrm>
          <a:prstGeom prst="straightConnector1">
            <a:avLst/>
          </a:prstGeom>
          <a:noFill/>
          <a:ln cap="flat" cmpd="sng" w="12700">
            <a:solidFill>
              <a:srgbClr val="4D6B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1"/>
          <p:cNvSpPr/>
          <p:nvPr/>
        </p:nvSpPr>
        <p:spPr>
          <a:xfrm>
            <a:off x="2414016" y="406908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414016" y="4498848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EE6"/>
              </a:buClr>
              <a:buSzPts val="1050"/>
              <a:buFont typeface="Noto Sans"/>
              <a:buNone/>
            </a:pPr>
            <a:r>
              <a:rPr lang="en-US" sz="1050">
                <a:solidFill>
                  <a:srgbClr val="D2DEE6"/>
                </a:solidFill>
                <a:latin typeface="Noto Sans"/>
                <a:ea typeface="Noto Sans"/>
                <a:cs typeface="Noto Sans"/>
                <a:sym typeface="Noto Sans"/>
              </a:rPr>
              <a:t>health zones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0" name="Google Shape;30;p1"/>
          <p:cNvCxnSpPr/>
          <p:nvPr/>
        </p:nvCxnSpPr>
        <p:spPr>
          <a:xfrm>
            <a:off x="3877056" y="4160520"/>
            <a:ext cx="0" cy="658368"/>
          </a:xfrm>
          <a:prstGeom prst="straightConnector1">
            <a:avLst/>
          </a:prstGeom>
          <a:noFill/>
          <a:ln cap="flat" cmpd="sng" w="12700">
            <a:solidFill>
              <a:srgbClr val="4D6B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/>
          <p:nvPr/>
        </p:nvSpPr>
        <p:spPr>
          <a:xfrm>
            <a:off x="4151376" y="406908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151376" y="4498848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EE6"/>
              </a:buClr>
              <a:buSzPts val="1050"/>
              <a:buFont typeface="Noto Sans"/>
              <a:buNone/>
            </a:pPr>
            <a:r>
              <a:rPr lang="en-US" sz="1050">
                <a:solidFill>
                  <a:srgbClr val="D2DEE6"/>
                </a:solidFill>
                <a:latin typeface="Noto Sans"/>
                <a:ea typeface="Noto Sans"/>
                <a:cs typeface="Noto Sans"/>
                <a:sym typeface="Noto Sans"/>
              </a:rPr>
              <a:t>sites per zone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5614416" y="4160520"/>
            <a:ext cx="0" cy="658368"/>
          </a:xfrm>
          <a:prstGeom prst="straightConnector1">
            <a:avLst/>
          </a:prstGeom>
          <a:noFill/>
          <a:ln cap="flat" cmpd="sng" w="12700">
            <a:solidFill>
              <a:srgbClr val="4D6B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1"/>
          <p:cNvSpPr/>
          <p:nvPr/>
        </p:nvSpPr>
        <p:spPr>
          <a:xfrm>
            <a:off x="5888736" y="406908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9A2D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D69A2D"/>
                </a:solidFill>
                <a:latin typeface="Noto Sans"/>
                <a:ea typeface="Noto Sans"/>
                <a:cs typeface="Noto Sans"/>
                <a:sym typeface="Noto Sans"/>
              </a:rPr>
              <a:t>36</a:t>
            </a:r>
            <a:endParaRPr sz="2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888736" y="4498848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EE6"/>
              </a:buClr>
              <a:buSzPts val="1050"/>
              <a:buFont typeface="Noto Sans"/>
              <a:buNone/>
            </a:pPr>
            <a:r>
              <a:rPr lang="en-US" sz="1050">
                <a:solidFill>
                  <a:srgbClr val="D2DEE6"/>
                </a:solidFill>
                <a:latin typeface="Noto Sans"/>
                <a:ea typeface="Noto Sans"/>
                <a:cs typeface="Noto Sans"/>
                <a:sym typeface="Noto Sans"/>
              </a:rPr>
              <a:t>months of learning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" name="Google Shape;36;p1"/>
          <p:cNvSpPr/>
          <p:nvPr/>
        </p:nvSpPr>
        <p:spPr>
          <a:xfrm rot="1200000">
            <a:off x="8458200" y="1234440"/>
            <a:ext cx="3200400" cy="3200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53A5B">
              <a:alpha val="0"/>
            </a:srgbClr>
          </a:solidFill>
          <a:ln cap="flat" cmpd="sng" w="50800">
            <a:solidFill>
              <a:srgbClr val="0396A6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" name="Google Shape;37;p1"/>
          <p:cNvSpPr/>
          <p:nvPr/>
        </p:nvSpPr>
        <p:spPr>
          <a:xfrm rot="3300000">
            <a:off x="8851392" y="1627632"/>
            <a:ext cx="2423160" cy="242316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53A5B">
              <a:alpha val="0"/>
            </a:srgbClr>
          </a:solidFill>
          <a:ln cap="flat" cmpd="sng" w="31750">
            <a:solidFill>
              <a:srgbClr val="D69A2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4.png" id="38" name="Google Shape;3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0032" y="1828800"/>
            <a:ext cx="1051560" cy="1051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3.png" id="39" name="Google Shape;3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58661" y="1108038"/>
            <a:ext cx="868680" cy="52120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"/>
          <p:cNvSpPr/>
          <p:nvPr/>
        </p:nvSpPr>
        <p:spPr>
          <a:xfrm>
            <a:off x="676656" y="619963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CC3D0"/>
              </a:buClr>
              <a:buSzPts val="1100"/>
              <a:buFont typeface="Noto Sans"/>
              <a:buNone/>
            </a:pPr>
            <a:r>
              <a:rPr lang="en-US" sz="1100">
                <a:solidFill>
                  <a:srgbClr val="ACC3D0"/>
                </a:solidFill>
                <a:latin typeface="Noto Sans"/>
                <a:ea typeface="Noto Sans"/>
                <a:cs typeface="Noto Sans"/>
                <a:sym typeface="Noto Sans"/>
              </a:rPr>
              <a:t>Regional • District • Facility Orientation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SESSION DESIGN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Today's purpose &amp; 60-minute flow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49" name="Google Shape;4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66928" y="1325880"/>
            <a:ext cx="3886200" cy="4462272"/>
          </a:xfrm>
          <a:prstGeom prst="roundRect">
            <a:avLst>
              <a:gd fmla="val 2824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41248" y="1627632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700"/>
              <a:buFont typeface="Noto Sans"/>
              <a:buNone/>
            </a:pPr>
            <a:r>
              <a:rPr b="1" lang="en-US" sz="17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By the end of this session, we should be able to:</a:t>
            </a:r>
            <a:endParaRPr sz="1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41248" y="2313432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41248" y="232257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316736" y="2295144"/>
            <a:ext cx="277063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4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Explain what a sentinel learning site is — and is not.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41248" y="3099816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41248" y="3108960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316736" y="3081528"/>
            <a:ext cx="277063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4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Use the staging tool to establish a shared baseline and action plan.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41248" y="3886200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41248" y="389534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316736" y="3867912"/>
            <a:ext cx="277063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4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Use the 17 SOPs as practical job aids at service points.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41248" y="4672584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41248" y="4681728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316736" y="4654296"/>
            <a:ext cx="277063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4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Start one focused QI cycle from a priority gap and know when to escalate.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41248" y="5390388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045"/>
              <a:buFont typeface="Noto Sans"/>
              <a:buNone/>
            </a:pPr>
            <a:r>
              <a:rPr i="1" lang="en-US" sz="1045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The detailed SOP and QI decks remain reference materials; today we focus on what teams must do.</a:t>
            </a:r>
            <a:endParaRPr sz="1045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736592" y="1325880"/>
            <a:ext cx="6720840" cy="4462272"/>
          </a:xfrm>
          <a:prstGeom prst="roundRect">
            <a:avLst>
              <a:gd fmla="val 2459" name="adj"/>
            </a:avLst>
          </a:prstGeom>
          <a:solidFill>
            <a:srgbClr val="0B294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093208" y="157276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100"/>
              <a:buFont typeface="Noto Sans"/>
              <a:buNone/>
            </a:pPr>
            <a:r>
              <a:rPr b="1" lang="en-US" sz="11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60 MINUTES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093208" y="1993392"/>
            <a:ext cx="5760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D4DF"/>
              </a:buClr>
              <a:buSzPts val="1900"/>
              <a:buFont typeface="Noto Sans"/>
              <a:buNone/>
            </a:pPr>
            <a:r>
              <a:rPr b="1" lang="en-US" sz="1900">
                <a:solidFill>
                  <a:srgbClr val="B9D4DF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sz="1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733288" y="20574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2B3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88A2B3"/>
                </a:solidFill>
                <a:latin typeface="Noto Sans"/>
                <a:ea typeface="Noto Sans"/>
                <a:cs typeface="Noto Sans"/>
                <a:sym typeface="Noto Sans"/>
              </a:rPr>
              <a:t>min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263640" y="199339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450"/>
              <a:buFont typeface="Noto Sans"/>
              <a:buNone/>
            </a:pPr>
            <a:r>
              <a:rPr lang="en-US" sz="1450">
                <a:solidFill>
                  <a:srgbClr val="E4EEF3"/>
                </a:solidFill>
                <a:latin typeface="Noto Sans"/>
                <a:ea typeface="Noto Sans"/>
                <a:cs typeface="Noto Sans"/>
                <a:sym typeface="Noto Sans"/>
              </a:rPr>
              <a:t>Opening &amp; integration context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1" name="Google Shape;71;p2"/>
          <p:cNvCxnSpPr/>
          <p:nvPr/>
        </p:nvCxnSpPr>
        <p:spPr>
          <a:xfrm>
            <a:off x="5093208" y="2441448"/>
            <a:ext cx="5806440" cy="0"/>
          </a:xfrm>
          <a:prstGeom prst="straightConnector1">
            <a:avLst/>
          </a:prstGeom>
          <a:noFill/>
          <a:ln cap="flat" cmpd="sng" w="9525">
            <a:solidFill>
              <a:srgbClr val="315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2"/>
          <p:cNvSpPr/>
          <p:nvPr/>
        </p:nvSpPr>
        <p:spPr>
          <a:xfrm>
            <a:off x="5093208" y="2505456"/>
            <a:ext cx="5760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D4DF"/>
              </a:buClr>
              <a:buSzPts val="1900"/>
              <a:buFont typeface="Noto Sans"/>
              <a:buNone/>
            </a:pPr>
            <a:r>
              <a:rPr b="1" lang="en-US" sz="1900">
                <a:solidFill>
                  <a:srgbClr val="B9D4DF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  <a:endParaRPr sz="1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733288" y="256946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2B3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88A2B3"/>
                </a:solidFill>
                <a:latin typeface="Noto Sans"/>
                <a:ea typeface="Noto Sans"/>
                <a:cs typeface="Noto Sans"/>
                <a:sym typeface="Noto Sans"/>
              </a:rPr>
              <a:t>min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263640" y="250545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450"/>
              <a:buFont typeface="Noto Sans"/>
              <a:buNone/>
            </a:pPr>
            <a:r>
              <a:rPr lang="en-US" sz="1450">
                <a:solidFill>
                  <a:srgbClr val="E4EEF3"/>
                </a:solidFill>
                <a:latin typeface="Noto Sans"/>
                <a:ea typeface="Noto Sans"/>
                <a:cs typeface="Noto Sans"/>
                <a:sym typeface="Noto Sans"/>
              </a:rPr>
              <a:t>Sentinel model &amp; network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5" name="Google Shape;75;p2"/>
          <p:cNvCxnSpPr/>
          <p:nvPr/>
        </p:nvCxnSpPr>
        <p:spPr>
          <a:xfrm>
            <a:off x="5093208" y="2953512"/>
            <a:ext cx="5806440" cy="0"/>
          </a:xfrm>
          <a:prstGeom prst="straightConnector1">
            <a:avLst/>
          </a:prstGeom>
          <a:noFill/>
          <a:ln cap="flat" cmpd="sng" w="9525">
            <a:solidFill>
              <a:srgbClr val="315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2"/>
          <p:cNvSpPr/>
          <p:nvPr/>
        </p:nvSpPr>
        <p:spPr>
          <a:xfrm>
            <a:off x="5093208" y="3017520"/>
            <a:ext cx="5760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D4DF"/>
              </a:buClr>
              <a:buSzPts val="1900"/>
              <a:buFont typeface="Noto Sans"/>
              <a:buNone/>
            </a:pPr>
            <a:r>
              <a:rPr b="1" lang="en-US" sz="1900">
                <a:solidFill>
                  <a:srgbClr val="B9D4DF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  <a:endParaRPr sz="1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733288" y="308152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2B3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88A2B3"/>
                </a:solidFill>
                <a:latin typeface="Noto Sans"/>
                <a:ea typeface="Noto Sans"/>
                <a:cs typeface="Noto Sans"/>
                <a:sym typeface="Noto Sans"/>
              </a:rPr>
              <a:t>min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263640" y="3017520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450"/>
              <a:buFont typeface="Noto Sans"/>
              <a:buNone/>
            </a:pPr>
            <a:r>
              <a:rPr lang="en-US" sz="1450">
                <a:solidFill>
                  <a:srgbClr val="E4EEF3"/>
                </a:solidFill>
                <a:latin typeface="Noto Sans"/>
                <a:ea typeface="Noto Sans"/>
                <a:cs typeface="Noto Sans"/>
                <a:sym typeface="Noto Sans"/>
              </a:rPr>
              <a:t>Assessment &amp; staging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9" name="Google Shape;79;p2"/>
          <p:cNvCxnSpPr/>
          <p:nvPr/>
        </p:nvCxnSpPr>
        <p:spPr>
          <a:xfrm>
            <a:off x="5093208" y="3465576"/>
            <a:ext cx="5806440" cy="0"/>
          </a:xfrm>
          <a:prstGeom prst="straightConnector1">
            <a:avLst/>
          </a:prstGeom>
          <a:noFill/>
          <a:ln cap="flat" cmpd="sng" w="9525">
            <a:solidFill>
              <a:srgbClr val="315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2"/>
          <p:cNvSpPr/>
          <p:nvPr/>
        </p:nvSpPr>
        <p:spPr>
          <a:xfrm>
            <a:off x="5093208" y="3529584"/>
            <a:ext cx="5760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D4DF"/>
              </a:buClr>
              <a:buSzPts val="1900"/>
              <a:buFont typeface="Noto Sans"/>
              <a:buNone/>
            </a:pPr>
            <a:r>
              <a:rPr b="1" lang="en-US" sz="1900">
                <a:solidFill>
                  <a:srgbClr val="B9D4DF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sz="1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733288" y="35935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2B3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88A2B3"/>
                </a:solidFill>
                <a:latin typeface="Noto Sans"/>
                <a:ea typeface="Noto Sans"/>
                <a:cs typeface="Noto Sans"/>
                <a:sym typeface="Noto Sans"/>
              </a:rPr>
              <a:t>min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263640" y="3529584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450"/>
              <a:buFont typeface="Noto Sans"/>
              <a:buNone/>
            </a:pPr>
            <a:r>
              <a:rPr lang="en-US" sz="1450">
                <a:solidFill>
                  <a:srgbClr val="E4EEF3"/>
                </a:solidFill>
                <a:latin typeface="Noto Sans"/>
                <a:ea typeface="Noto Sans"/>
                <a:cs typeface="Noto Sans"/>
                <a:sym typeface="Noto Sans"/>
              </a:rPr>
              <a:t>SOPs in practice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3" name="Google Shape;83;p2"/>
          <p:cNvCxnSpPr/>
          <p:nvPr/>
        </p:nvCxnSpPr>
        <p:spPr>
          <a:xfrm>
            <a:off x="5093208" y="3977640"/>
            <a:ext cx="5806440" cy="0"/>
          </a:xfrm>
          <a:prstGeom prst="straightConnector1">
            <a:avLst/>
          </a:prstGeom>
          <a:noFill/>
          <a:ln cap="flat" cmpd="sng" w="9525">
            <a:solidFill>
              <a:srgbClr val="315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"/>
          <p:cNvSpPr/>
          <p:nvPr/>
        </p:nvSpPr>
        <p:spPr>
          <a:xfrm>
            <a:off x="5093208" y="4041648"/>
            <a:ext cx="5760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D4DF"/>
              </a:buClr>
              <a:buSzPts val="1900"/>
              <a:buFont typeface="Noto Sans"/>
              <a:buNone/>
            </a:pPr>
            <a:r>
              <a:rPr b="1" lang="en-US" sz="1900">
                <a:solidFill>
                  <a:srgbClr val="B9D4DF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sz="1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5733288" y="4105656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2B3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88A2B3"/>
                </a:solidFill>
                <a:latin typeface="Noto Sans"/>
                <a:ea typeface="Noto Sans"/>
                <a:cs typeface="Noto Sans"/>
                <a:sym typeface="Noto Sans"/>
              </a:rPr>
              <a:t>min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263640" y="404164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450"/>
              <a:buFont typeface="Noto Sans"/>
              <a:buNone/>
            </a:pPr>
            <a:r>
              <a:rPr lang="en-US" sz="1450">
                <a:solidFill>
                  <a:srgbClr val="E4EEF3"/>
                </a:solidFill>
                <a:latin typeface="Noto Sans"/>
                <a:ea typeface="Noto Sans"/>
                <a:cs typeface="Noto Sans"/>
                <a:sym typeface="Noto Sans"/>
              </a:rPr>
              <a:t>QI, roles &amp; reporting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7" name="Google Shape;87;p2"/>
          <p:cNvCxnSpPr/>
          <p:nvPr/>
        </p:nvCxnSpPr>
        <p:spPr>
          <a:xfrm>
            <a:off x="5093208" y="4489704"/>
            <a:ext cx="5806440" cy="0"/>
          </a:xfrm>
          <a:prstGeom prst="straightConnector1">
            <a:avLst/>
          </a:prstGeom>
          <a:noFill/>
          <a:ln cap="flat" cmpd="sng" w="9525">
            <a:solidFill>
              <a:srgbClr val="315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2"/>
          <p:cNvSpPr/>
          <p:nvPr/>
        </p:nvSpPr>
        <p:spPr>
          <a:xfrm>
            <a:off x="5093208" y="4553712"/>
            <a:ext cx="5760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D4DF"/>
              </a:buClr>
              <a:buSzPts val="1900"/>
              <a:buFont typeface="Noto Sans"/>
              <a:buNone/>
            </a:pPr>
            <a:r>
              <a:rPr b="1" lang="en-US" sz="1900">
                <a:solidFill>
                  <a:srgbClr val="B9D4DF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sz="1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5733288" y="46177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2B3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88A2B3"/>
                </a:solidFill>
                <a:latin typeface="Noto Sans"/>
                <a:ea typeface="Noto Sans"/>
                <a:cs typeface="Noto Sans"/>
                <a:sym typeface="Noto Sans"/>
              </a:rPr>
              <a:t>min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6263640" y="455371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450"/>
              <a:buFont typeface="Noto Sans"/>
              <a:buNone/>
            </a:pPr>
            <a:r>
              <a:rPr lang="en-US" sz="1450">
                <a:solidFill>
                  <a:srgbClr val="E4EEF3"/>
                </a:solidFill>
                <a:latin typeface="Noto Sans"/>
                <a:ea typeface="Noto Sans"/>
                <a:cs typeface="Noto Sans"/>
                <a:sym typeface="Noto Sans"/>
              </a:rPr>
              <a:t>Activation outputs &amp; follow-up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1" name="Google Shape;91;p2"/>
          <p:cNvCxnSpPr/>
          <p:nvPr/>
        </p:nvCxnSpPr>
        <p:spPr>
          <a:xfrm>
            <a:off x="5093208" y="5001768"/>
            <a:ext cx="5806440" cy="0"/>
          </a:xfrm>
          <a:prstGeom prst="straightConnector1">
            <a:avLst/>
          </a:prstGeom>
          <a:noFill/>
          <a:ln cap="flat" cmpd="sng" w="9525">
            <a:solidFill>
              <a:srgbClr val="315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2"/>
          <p:cNvSpPr/>
          <p:nvPr/>
        </p:nvSpPr>
        <p:spPr>
          <a:xfrm>
            <a:off x="5093208" y="5065776"/>
            <a:ext cx="5760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69A2D"/>
              </a:buClr>
              <a:buSzPts val="1900"/>
              <a:buFont typeface="Noto Sans"/>
              <a:buNone/>
            </a:pPr>
            <a:r>
              <a:rPr b="1" lang="en-US" sz="1900">
                <a:solidFill>
                  <a:srgbClr val="D69A2D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  <a:endParaRPr sz="1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5733288" y="512978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A2B3"/>
              </a:buClr>
              <a:buSzPts val="950"/>
              <a:buFont typeface="Noto Sans"/>
              <a:buNone/>
            </a:pPr>
            <a:r>
              <a:rPr lang="en-US" sz="950">
                <a:solidFill>
                  <a:srgbClr val="88A2B3"/>
                </a:solidFill>
                <a:latin typeface="Noto Sans"/>
                <a:ea typeface="Noto Sans"/>
                <a:cs typeface="Noto Sans"/>
                <a:sym typeface="Noto Sans"/>
              </a:rPr>
              <a:t>min</a:t>
            </a:r>
            <a:endParaRPr sz="9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263640" y="506577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Noto Sans"/>
              <a:buNone/>
            </a:pPr>
            <a:r>
              <a:rPr b="1" lang="en-US" sz="14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Discussion &amp; decisions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2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WHY INTEGRATION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The shift: disease clinics → integrated, patient-centred care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58368" y="138988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4E45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C64E45"/>
                </a:solidFill>
                <a:latin typeface="Noto Sans"/>
                <a:ea typeface="Noto Sans"/>
                <a:cs typeface="Noto Sans"/>
                <a:sym typeface="Noto Sans"/>
              </a:rPr>
              <a:t>BEFORE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58368" y="1755648"/>
            <a:ext cx="4709160" cy="3383280"/>
          </a:xfrm>
          <a:prstGeom prst="roundRect">
            <a:avLst>
              <a:gd fmla="val 3243" name="adj"/>
            </a:avLst>
          </a:prstGeom>
          <a:solidFill>
            <a:srgbClr val="FFF8F7"/>
          </a:solidFill>
          <a:ln cap="flat" cmpd="sng" w="10150">
            <a:solidFill>
              <a:srgbClr val="F0D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932688" y="2130552"/>
            <a:ext cx="1691640" cy="566928"/>
          </a:xfrm>
          <a:prstGeom prst="roundRect">
            <a:avLst>
              <a:gd fmla="val 12903" name="adj"/>
            </a:avLst>
          </a:prstGeom>
          <a:solidFill>
            <a:srgbClr val="FDECE9"/>
          </a:solidFill>
          <a:ln cap="flat" cmpd="sng" w="10150">
            <a:solidFill>
              <a:srgbClr val="F3C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005840" y="2240280"/>
            <a:ext cx="1545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2A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7A2E2A"/>
                </a:solidFill>
                <a:latin typeface="Noto Sans"/>
                <a:ea typeface="Noto Sans"/>
                <a:cs typeface="Noto Sans"/>
                <a:sym typeface="Noto Sans"/>
              </a:rPr>
              <a:t>General OPD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081528" y="2130552"/>
            <a:ext cx="1691640" cy="566928"/>
          </a:xfrm>
          <a:prstGeom prst="roundRect">
            <a:avLst>
              <a:gd fmla="val 12903" name="adj"/>
            </a:avLst>
          </a:prstGeom>
          <a:solidFill>
            <a:srgbClr val="FDECE9"/>
          </a:solidFill>
          <a:ln cap="flat" cmpd="sng" w="10150">
            <a:solidFill>
              <a:srgbClr val="F3C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154680" y="2240280"/>
            <a:ext cx="1545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2A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7A2E2A"/>
                </a:solidFill>
                <a:latin typeface="Noto Sans"/>
                <a:ea typeface="Noto Sans"/>
                <a:cs typeface="Noto Sans"/>
                <a:sym typeface="Noto Sans"/>
              </a:rPr>
              <a:t>ART clinic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932688" y="2999232"/>
            <a:ext cx="1691640" cy="566928"/>
          </a:xfrm>
          <a:prstGeom prst="roundRect">
            <a:avLst>
              <a:gd fmla="val 12903" name="adj"/>
            </a:avLst>
          </a:prstGeom>
          <a:solidFill>
            <a:srgbClr val="FDECE9"/>
          </a:solidFill>
          <a:ln cap="flat" cmpd="sng" w="10150">
            <a:solidFill>
              <a:srgbClr val="F3C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005840" y="3108960"/>
            <a:ext cx="1545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2A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7A2E2A"/>
                </a:solidFill>
                <a:latin typeface="Noto Sans"/>
                <a:ea typeface="Noto Sans"/>
                <a:cs typeface="Noto Sans"/>
                <a:sym typeface="Noto Sans"/>
              </a:rPr>
              <a:t>TB clinic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081528" y="2999232"/>
            <a:ext cx="1691640" cy="566928"/>
          </a:xfrm>
          <a:prstGeom prst="roundRect">
            <a:avLst>
              <a:gd fmla="val 12903" name="adj"/>
            </a:avLst>
          </a:prstGeom>
          <a:solidFill>
            <a:srgbClr val="FDECE9"/>
          </a:solidFill>
          <a:ln cap="flat" cmpd="sng" w="10150">
            <a:solidFill>
              <a:srgbClr val="F3C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154680" y="3108960"/>
            <a:ext cx="1545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2A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7A2E2A"/>
                </a:solidFill>
                <a:latin typeface="Noto Sans"/>
                <a:ea typeface="Noto Sans"/>
                <a:cs typeface="Noto Sans"/>
                <a:sym typeface="Noto Sans"/>
              </a:rPr>
              <a:t>Hypertension clinic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828800" y="3867912"/>
            <a:ext cx="1828800" cy="566928"/>
          </a:xfrm>
          <a:prstGeom prst="roundRect">
            <a:avLst>
              <a:gd fmla="val 12903" name="adj"/>
            </a:avLst>
          </a:prstGeom>
          <a:solidFill>
            <a:srgbClr val="FDECE9"/>
          </a:solidFill>
          <a:ln cap="flat" cmpd="sng" w="10150">
            <a:solidFill>
              <a:srgbClr val="F3C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901952" y="3977640"/>
            <a:ext cx="16824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2E2A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7A2E2A"/>
                </a:solidFill>
                <a:latin typeface="Noto Sans"/>
                <a:ea typeface="Noto Sans"/>
                <a:cs typeface="Noto Sans"/>
                <a:sym typeface="Noto Sans"/>
              </a:rPr>
              <a:t>Diabetes clinic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941832" y="4498848"/>
            <a:ext cx="40965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220"/>
              <a:buFont typeface="Noto Sans"/>
              <a:buNone/>
            </a:pPr>
            <a:r>
              <a:rPr lang="en-US" sz="122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Parallel services • repeated queues • duplicated processes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5513832" y="2779776"/>
            <a:ext cx="594360" cy="713232"/>
          </a:xfrm>
          <a:prstGeom prst="chevron">
            <a:avLst>
              <a:gd fmla="val 50000" name="adj"/>
            </a:avLst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355080" y="138988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2F855A"/>
                </a:solidFill>
                <a:latin typeface="Noto Sans"/>
                <a:ea typeface="Noto Sans"/>
                <a:cs typeface="Noto Sans"/>
                <a:sym typeface="Noto Sans"/>
              </a:rPr>
              <a:t>AFTER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355080" y="1755648"/>
            <a:ext cx="5074920" cy="3383280"/>
          </a:xfrm>
          <a:prstGeom prst="roundRect">
            <a:avLst>
              <a:gd fmla="val 3243" name="adj"/>
            </a:avLst>
          </a:prstGeom>
          <a:solidFill>
            <a:srgbClr val="F3FAF7"/>
          </a:solidFill>
          <a:ln cap="flat" cmpd="sng" w="10150">
            <a:solidFill>
              <a:srgbClr val="CBE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720840" y="2221992"/>
            <a:ext cx="1856232" cy="868680"/>
          </a:xfrm>
          <a:prstGeom prst="roundRect">
            <a:avLst>
              <a:gd fmla="val 8421" name="adj"/>
            </a:avLst>
          </a:prstGeom>
          <a:solidFill>
            <a:srgbClr val="DDF2E7"/>
          </a:solidFill>
          <a:ln cap="flat" cmpd="sng" w="10150">
            <a:solidFill>
              <a:srgbClr val="B9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839712" y="2350008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6A48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216A48"/>
                </a:solidFill>
                <a:latin typeface="Noto Sans"/>
                <a:ea typeface="Noto Sans"/>
                <a:cs typeface="Noto Sans"/>
                <a:sym typeface="Noto Sans"/>
              </a:rPr>
              <a:t>Integrated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6A48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216A48"/>
                </a:solidFill>
                <a:latin typeface="Noto Sans"/>
                <a:ea typeface="Noto Sans"/>
                <a:cs typeface="Noto Sans"/>
                <a:sym typeface="Noto Sans"/>
              </a:rPr>
              <a:t>Mixed OPD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805672" y="2459736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OR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9473184" y="2039112"/>
            <a:ext cx="1554480" cy="713232"/>
          </a:xfrm>
          <a:prstGeom prst="roundRect">
            <a:avLst>
              <a:gd fmla="val 10256" name="adj"/>
            </a:avLst>
          </a:prstGeom>
          <a:solidFill>
            <a:srgbClr val="E7F1FA"/>
          </a:solidFill>
          <a:ln cap="flat" cmpd="sng" w="10150">
            <a:solidFill>
              <a:srgbClr val="C7DB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9573768" y="2139696"/>
            <a:ext cx="1353312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B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53A5B"/>
                </a:solidFill>
                <a:latin typeface="Noto Sans"/>
                <a:ea typeface="Noto Sans"/>
                <a:cs typeface="Noto Sans"/>
                <a:sym typeface="Noto Sans"/>
              </a:rPr>
              <a:t>Acute Care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B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53A5B"/>
                </a:solidFill>
                <a:latin typeface="Noto Sans"/>
                <a:ea typeface="Noto Sans"/>
                <a:cs typeface="Noto Sans"/>
                <a:sym typeface="Noto Sans"/>
              </a:rPr>
              <a:t>OPD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9473184" y="2953512"/>
            <a:ext cx="1554480" cy="713232"/>
          </a:xfrm>
          <a:prstGeom prst="roundRect">
            <a:avLst>
              <a:gd fmla="val 10256" name="adj"/>
            </a:avLst>
          </a:prstGeom>
          <a:solidFill>
            <a:srgbClr val="E7F1FA"/>
          </a:solidFill>
          <a:ln cap="flat" cmpd="sng" w="10150">
            <a:solidFill>
              <a:srgbClr val="C7DB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9573768" y="3054096"/>
            <a:ext cx="1353312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B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53A5B"/>
                </a:solidFill>
                <a:latin typeface="Noto Sans"/>
                <a:ea typeface="Noto Sans"/>
                <a:cs typeface="Noto Sans"/>
                <a:sym typeface="Noto Sans"/>
              </a:rPr>
              <a:t>Chronic Care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B"/>
              </a:buClr>
              <a:buSzPts val="1300"/>
              <a:buFont typeface="Noto Sans"/>
              <a:buNone/>
            </a:pPr>
            <a:r>
              <a:rPr b="1" lang="en-US" sz="1300">
                <a:solidFill>
                  <a:srgbClr val="153A5B"/>
                </a:solidFill>
                <a:latin typeface="Noto Sans"/>
                <a:ea typeface="Noto Sans"/>
                <a:cs typeface="Noto Sans"/>
                <a:sym typeface="Noto Sans"/>
              </a:rPr>
              <a:t>OPD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720840" y="3977640"/>
            <a:ext cx="4315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240"/>
              <a:buFont typeface="Noto Sans"/>
              <a:buNone/>
            </a:pPr>
            <a:r>
              <a:rPr lang="en-US" sz="124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Shared screening • coordinated care • referral and follow-up</a:t>
            </a:r>
            <a:endParaRPr sz="12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58368" y="5422392"/>
            <a:ext cx="10771632" cy="566928"/>
          </a:xfrm>
          <a:prstGeom prst="roundRect">
            <a:avLst>
              <a:gd fmla="val 19355" name="adj"/>
            </a:avLst>
          </a:prstGeom>
          <a:solidFill>
            <a:srgbClr val="0B294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905256" y="5532120"/>
            <a:ext cx="103052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Noto Sans"/>
              <a:buNone/>
            </a:pPr>
            <a:r>
              <a:rPr b="1" lang="en-US" sz="13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Core message: Integration is not a separate programme — it is how the health system organises people, platforms, information and resources around the patient.</a:t>
            </a:r>
            <a:endParaRPr sz="13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" name="Google Shape;132;p3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33" name="Google Shape;13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35" y="1350"/>
            <a:ext cx="12051000" cy="678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FROM POLICY TO IMPLEMENTATION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Why sentinel learning sites?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58368" y="1499616"/>
            <a:ext cx="3401568" cy="3319272"/>
          </a:xfrm>
          <a:prstGeom prst="roundRect">
            <a:avLst>
              <a:gd fmla="val 3306" name="adj"/>
            </a:avLst>
          </a:prstGeom>
          <a:solidFill>
            <a:srgbClr val="EDF3FA"/>
          </a:solidFill>
          <a:ln cap="flat" cmpd="sng" w="10150">
            <a:solidFill>
              <a:srgbClr val="ED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886968" y="1746504"/>
            <a:ext cx="5669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886968" y="2176272"/>
            <a:ext cx="2880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900"/>
              <a:buFont typeface="Noto Sans"/>
              <a:buNone/>
            </a:pPr>
            <a:r>
              <a:rPr b="1" lang="en-US" sz="19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Policy direction is clear</a:t>
            </a:r>
            <a:endParaRPr sz="1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86968" y="2944368"/>
            <a:ext cx="2871216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30"/>
              <a:buFont typeface="Noto Sans"/>
              <a:buNone/>
            </a:pPr>
            <a:r>
              <a:rPr lang="en-US" sz="173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National integration guidance defines the direction for integrated service delivery.</a:t>
            </a:r>
            <a:endParaRPr sz="17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242816" y="1499616"/>
            <a:ext cx="3401568" cy="3319272"/>
          </a:xfrm>
          <a:prstGeom prst="roundRect">
            <a:avLst>
              <a:gd fmla="val 3306" name="adj"/>
            </a:avLst>
          </a:prstGeom>
          <a:solidFill>
            <a:srgbClr val="FFF6EA"/>
          </a:solidFill>
          <a:ln cap="flat" cmpd="sng" w="10150">
            <a:solidFill>
              <a:srgbClr val="FFF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471416" y="1746504"/>
            <a:ext cx="5669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D97706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471416" y="2176272"/>
            <a:ext cx="2880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900"/>
              <a:buFont typeface="Noto Sans"/>
              <a:buNone/>
            </a:pPr>
            <a:r>
              <a:rPr b="1" lang="en-US" sz="19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Implementation is uneven</a:t>
            </a:r>
            <a:endParaRPr sz="1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471416" y="2944368"/>
            <a:ext cx="2871216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30"/>
              <a:buFont typeface="Noto Sans"/>
              <a:buNone/>
            </a:pPr>
            <a:r>
              <a:rPr lang="en-US" sz="173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Patient flow, referrals, documentation, commodities and data use vary across facilities and districts.</a:t>
            </a:r>
            <a:endParaRPr sz="17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827264" y="1499616"/>
            <a:ext cx="3401568" cy="3319272"/>
          </a:xfrm>
          <a:prstGeom prst="roundRect">
            <a:avLst>
              <a:gd fmla="val 3306" name="adj"/>
            </a:avLst>
          </a:prstGeom>
          <a:solidFill>
            <a:srgbClr val="EAF5EF"/>
          </a:solidFill>
          <a:ln cap="flat" cmpd="sng" w="10150">
            <a:solidFill>
              <a:srgbClr val="EA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8055864" y="1746504"/>
            <a:ext cx="5669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2F855A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8055864" y="2176272"/>
            <a:ext cx="2880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900"/>
              <a:buFont typeface="Noto Sans"/>
              <a:buNone/>
            </a:pPr>
            <a:r>
              <a:rPr b="1" lang="en-US" sz="19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We need to know what works</a:t>
            </a:r>
            <a:endParaRPr sz="19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8055864" y="2944368"/>
            <a:ext cx="2871216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330"/>
              <a:buFont typeface="Noto Sans"/>
              <a:buNone/>
            </a:pPr>
            <a:r>
              <a:rPr lang="en-US" sz="173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The system needs a structured way to learn what drives integration — and how successful practice can be adapted and spread.</a:t>
            </a:r>
            <a:endParaRPr sz="17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58368" y="5157216"/>
            <a:ext cx="10570464" cy="694944"/>
          </a:xfrm>
          <a:prstGeom prst="roundRect">
            <a:avLst>
              <a:gd fmla="val 15789" name="adj"/>
            </a:avLst>
          </a:prstGeom>
          <a:solidFill>
            <a:srgbClr val="0B294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896112" y="5312664"/>
            <a:ext cx="100766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Sentinel sites are not research sites, surveys or performance awards. </a:t>
            </a:r>
            <a:br>
              <a:rPr b="1" lang="en-US" sz="1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lang="en-US" sz="15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They are </a:t>
            </a:r>
            <a:r>
              <a:rPr b="1" lang="en-US" sz="2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structured learning and improvement sites.</a:t>
            </a:r>
            <a:endParaRPr sz="2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" name="Google Shape;158;p4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NETWORK DESIGN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A national learning network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166" name="Google Shape;1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167" name="Google Shape;1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58368" y="1444752"/>
            <a:ext cx="4709160" cy="4389120"/>
          </a:xfrm>
          <a:prstGeom prst="roundRect">
            <a:avLst>
              <a:gd fmla="val 2500" name="adj"/>
            </a:avLst>
          </a:prstGeom>
          <a:solidFill>
            <a:srgbClr val="0B294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960120" y="17373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NETWORK AT A GLANCE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960120" y="2240280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"/>
              <a:buNone/>
            </a:pPr>
            <a:r>
              <a:rPr b="1" lang="en-US" sz="27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80</a:t>
            </a:r>
            <a:endParaRPr sz="2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2240280" y="228600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9EF"/>
              </a:buClr>
              <a:buSzPts val="1400"/>
              <a:buFont typeface="Noto Sans"/>
              <a:buNone/>
            </a:pPr>
            <a:r>
              <a:rPr lang="en-US" sz="1400">
                <a:solidFill>
                  <a:srgbClr val="DCE9EF"/>
                </a:solidFill>
                <a:latin typeface="Noto Sans"/>
                <a:ea typeface="Noto Sans"/>
                <a:cs typeface="Noto Sans"/>
                <a:sym typeface="Noto Sans"/>
              </a:rPr>
              <a:t>sentinel sites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3" name="Google Shape;173;p5"/>
          <p:cNvCxnSpPr/>
          <p:nvPr/>
        </p:nvCxnSpPr>
        <p:spPr>
          <a:xfrm>
            <a:off x="960120" y="2834640"/>
            <a:ext cx="3639312" cy="0"/>
          </a:xfrm>
          <a:prstGeom prst="straightConnector1">
            <a:avLst/>
          </a:prstGeom>
          <a:noFill/>
          <a:ln cap="flat" cmpd="sng" w="10150">
            <a:solidFill>
              <a:srgbClr val="31546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5"/>
          <p:cNvSpPr/>
          <p:nvPr/>
        </p:nvSpPr>
        <p:spPr>
          <a:xfrm>
            <a:off x="960120" y="3026664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"/>
              <a:buNone/>
            </a:pPr>
            <a:r>
              <a:rPr b="1" lang="en-US" sz="27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sz="2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240280" y="307238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9EF"/>
              </a:buClr>
              <a:buSzPts val="1400"/>
              <a:buFont typeface="Noto Sans"/>
              <a:buNone/>
            </a:pPr>
            <a:r>
              <a:rPr lang="en-US" sz="1400">
                <a:solidFill>
                  <a:srgbClr val="DCE9EF"/>
                </a:solidFill>
                <a:latin typeface="Noto Sans"/>
                <a:ea typeface="Noto Sans"/>
                <a:cs typeface="Noto Sans"/>
                <a:sym typeface="Noto Sans"/>
              </a:rPr>
              <a:t>health zones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6" name="Google Shape;176;p5"/>
          <p:cNvCxnSpPr/>
          <p:nvPr/>
        </p:nvCxnSpPr>
        <p:spPr>
          <a:xfrm>
            <a:off x="960120" y="3621024"/>
            <a:ext cx="3639312" cy="0"/>
          </a:xfrm>
          <a:prstGeom prst="straightConnector1">
            <a:avLst/>
          </a:prstGeom>
          <a:noFill/>
          <a:ln cap="flat" cmpd="sng" w="10150">
            <a:solidFill>
              <a:srgbClr val="31546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5"/>
          <p:cNvSpPr/>
          <p:nvPr/>
        </p:nvSpPr>
        <p:spPr>
          <a:xfrm>
            <a:off x="960120" y="3813048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"/>
              <a:buNone/>
            </a:pPr>
            <a:r>
              <a:rPr b="1" lang="en-US" sz="27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sz="2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2240280" y="385876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9EF"/>
              </a:buClr>
              <a:buSzPts val="1400"/>
              <a:buFont typeface="Noto Sans"/>
              <a:buNone/>
            </a:pPr>
            <a:r>
              <a:rPr lang="en-US" sz="1400">
                <a:solidFill>
                  <a:srgbClr val="DCE9EF"/>
                </a:solidFill>
                <a:latin typeface="Noto Sans"/>
                <a:ea typeface="Noto Sans"/>
                <a:cs typeface="Noto Sans"/>
                <a:sym typeface="Noto Sans"/>
              </a:rPr>
              <a:t>sites per zone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9" name="Google Shape;179;p5"/>
          <p:cNvCxnSpPr/>
          <p:nvPr/>
        </p:nvCxnSpPr>
        <p:spPr>
          <a:xfrm>
            <a:off x="960120" y="4407408"/>
            <a:ext cx="3639312" cy="0"/>
          </a:xfrm>
          <a:prstGeom prst="straightConnector1">
            <a:avLst/>
          </a:prstGeom>
          <a:noFill/>
          <a:ln cap="flat" cmpd="sng" w="10150">
            <a:solidFill>
              <a:srgbClr val="31546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5"/>
          <p:cNvSpPr/>
          <p:nvPr/>
        </p:nvSpPr>
        <p:spPr>
          <a:xfrm>
            <a:off x="960120" y="4599432"/>
            <a:ext cx="1143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9A2D"/>
              </a:buClr>
              <a:buSzPts val="2700"/>
              <a:buFont typeface="Noto Sans"/>
              <a:buNone/>
            </a:pPr>
            <a:r>
              <a:rPr b="1" lang="en-US" sz="2700">
                <a:solidFill>
                  <a:srgbClr val="D69A2D"/>
                </a:solidFill>
                <a:latin typeface="Noto Sans"/>
                <a:ea typeface="Noto Sans"/>
                <a:cs typeface="Noto Sans"/>
                <a:sym typeface="Noto Sans"/>
              </a:rPr>
              <a:t>36</a:t>
            </a:r>
            <a:endParaRPr sz="2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2240280" y="464515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9EF"/>
              </a:buClr>
              <a:buSzPts val="1400"/>
              <a:buFont typeface="Noto Sans"/>
              <a:buNone/>
            </a:pPr>
            <a:r>
              <a:rPr lang="en-US" sz="1400">
                <a:solidFill>
                  <a:srgbClr val="DCE9EF"/>
                </a:solidFill>
                <a:latin typeface="Noto Sans"/>
                <a:ea typeface="Noto Sans"/>
                <a:cs typeface="Noto Sans"/>
                <a:sym typeface="Noto Sans"/>
              </a:rPr>
              <a:t>months of learning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806440" y="157276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800"/>
              <a:buFont typeface="Noto Sans"/>
              <a:buNone/>
            </a:pPr>
            <a:r>
              <a:rPr b="1" lang="en-US" sz="18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Selection approach</a:t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806440" y="2084832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806440" y="209397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300216" y="2066544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50"/>
              <a:buFont typeface="Noto Sans"/>
              <a:buNone/>
            </a:pPr>
            <a:r>
              <a:rPr b="1" lang="en-US" sz="14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Stratified random selection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8458200" y="2066544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240"/>
              <a:buFont typeface="Noto Sans"/>
              <a:buNone/>
            </a:pPr>
            <a:r>
              <a:rPr lang="en-US" sz="144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Verified facility frame by health zone.</a:t>
            </a:r>
            <a:endParaRPr sz="14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5806440" y="2889504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806440" y="2898648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300216" y="2871216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50"/>
              <a:buFont typeface="Noto Sans"/>
              <a:buNone/>
            </a:pPr>
            <a:r>
              <a:rPr b="1" lang="en-US" sz="14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By level of care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458200" y="2871216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240"/>
              <a:buFont typeface="Noto Sans"/>
              <a:buNone/>
            </a:pPr>
            <a:r>
              <a:rPr lang="en-US" sz="144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RRH/Hospital • HC IV • HC III.</a:t>
            </a:r>
            <a:endParaRPr sz="14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806440" y="3694176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5806440" y="3703320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6300216" y="367588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50"/>
              <a:buFont typeface="Noto Sans"/>
              <a:buNone/>
            </a:pPr>
            <a:r>
              <a:rPr b="1" lang="en-US" sz="14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By ownership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8458200" y="3675888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240"/>
              <a:buFont typeface="Noto Sans"/>
              <a:buNone/>
            </a:pPr>
            <a:r>
              <a:rPr lang="en-US" sz="144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Government and PNFP facilities.</a:t>
            </a:r>
            <a:endParaRPr sz="14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806440" y="4498848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5806440" y="4507992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6300216" y="448056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50"/>
              <a:buFont typeface="Noto Sans"/>
              <a:buNone/>
            </a:pPr>
            <a:r>
              <a:rPr b="1" lang="en-US" sz="14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No eligibility screen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8458200" y="4480560"/>
            <a:ext cx="261518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240"/>
              <a:buFont typeface="Noto Sans"/>
              <a:buNone/>
            </a:pPr>
            <a:r>
              <a:rPr lang="en-US" sz="144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The learning network intentionally captures real-world variation.</a:t>
            </a:r>
            <a:endParaRPr sz="14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806440" y="5321808"/>
            <a:ext cx="5285232" cy="512064"/>
          </a:xfrm>
          <a:prstGeom prst="roundRect">
            <a:avLst>
              <a:gd fmla="val 21429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025896" y="5422392"/>
            <a:ext cx="482803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8A"/>
              </a:buClr>
              <a:buSzPts val="1260"/>
              <a:buFont typeface="Noto Sans"/>
              <a:buNone/>
            </a:pPr>
            <a:r>
              <a:rPr b="1" lang="en-US" sz="1260">
                <a:solidFill>
                  <a:srgbClr val="147D8A"/>
                </a:solidFill>
                <a:latin typeface="Noto Sans"/>
                <a:ea typeface="Noto Sans"/>
                <a:cs typeface="Noto Sans"/>
                <a:sym typeface="Noto Sans"/>
              </a:rPr>
              <a:t>Each site serves as a CQI engine • demonstration hub • learning generator</a:t>
            </a:r>
            <a:endParaRPr sz="12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1" name="Google Shape;201;p5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/>
          <p:nvPr/>
        </p:nvSpPr>
        <p:spPr>
          <a:xfrm>
            <a:off x="4343400" y="3822192"/>
            <a:ext cx="3337500" cy="1444800"/>
          </a:xfrm>
          <a:prstGeom prst="roundRect">
            <a:avLst>
              <a:gd fmla="val 7595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229632" y="3819121"/>
            <a:ext cx="3337500" cy="1444800"/>
          </a:xfrm>
          <a:prstGeom prst="roundRect">
            <a:avLst>
              <a:gd fmla="val 7595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HOW THE PIECES FIT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The sentinel site cycle — one improvement loop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211" name="Google Shape;2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212" name="Google Shape;2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58368" y="1664208"/>
            <a:ext cx="3337560" cy="1444752"/>
          </a:xfrm>
          <a:prstGeom prst="roundRect">
            <a:avLst>
              <a:gd fmla="val 7595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859536" y="1892808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859536" y="1901952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344168" y="186537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STAGE USING TOOL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344168" y="2276856"/>
            <a:ext cx="2331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70"/>
              <a:buFont typeface="Noto Sans"/>
              <a:buNone/>
            </a:pPr>
            <a:r>
              <a:rPr lang="en-US" sz="14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Assess integration maturity across domains</a:t>
            </a:r>
            <a:endParaRPr sz="14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70"/>
              <a:buFont typeface="Noto Sans"/>
              <a:buNone/>
            </a:pPr>
            <a:r>
              <a:t/>
            </a:r>
            <a:endParaRPr sz="1470">
              <a:solidFill>
                <a:srgbClr val="5E6B7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343400" y="1664208"/>
            <a:ext cx="3337560" cy="1444752"/>
          </a:xfrm>
          <a:prstGeom prst="roundRect">
            <a:avLst>
              <a:gd fmla="val 7595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544568" y="1892808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544568" y="1901952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029200" y="186537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USE SOPs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029200" y="2276856"/>
            <a:ext cx="2331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70"/>
              <a:buFont typeface="Noto Sans"/>
              <a:buNone/>
            </a:pPr>
            <a:r>
              <a:rPr lang="en-US" sz="14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Put standards into daily practice</a:t>
            </a:r>
            <a:endParaRPr sz="1470">
              <a:solidFill>
                <a:srgbClr val="5E6B7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8028432" y="1664208"/>
            <a:ext cx="3337560" cy="1444752"/>
          </a:xfrm>
          <a:prstGeom prst="roundRect">
            <a:avLst>
              <a:gd fmla="val 7595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8229600" y="1892808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8229600" y="1901952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8714232" y="186537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IDENTIFY ADDITIONAL INPUTS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8714232" y="2276856"/>
            <a:ext cx="2331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70"/>
              <a:buFont typeface="Noto Sans"/>
              <a:buNone/>
            </a:pPr>
            <a:r>
              <a:rPr lang="en-US" sz="14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Document HRH, tools, commodities, space &amp; data gaps</a:t>
            </a:r>
            <a:endParaRPr sz="14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58368" y="3822192"/>
            <a:ext cx="3337560" cy="1444752"/>
          </a:xfrm>
          <a:prstGeom prst="roundRect">
            <a:avLst>
              <a:gd fmla="val 7595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859536" y="4050792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859536" y="405993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102406" y="3959398"/>
            <a:ext cx="233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TRACK ACTIONS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102406" y="4370878"/>
            <a:ext cx="2331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70"/>
              <a:buFont typeface="Noto Sans"/>
              <a:buNone/>
            </a:pPr>
            <a:r>
              <a:rPr lang="en-US" sz="14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Agree owners, dates, support &amp; status</a:t>
            </a:r>
            <a:endParaRPr sz="14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544568" y="4050792"/>
            <a:ext cx="347472" cy="347472"/>
          </a:xfrm>
          <a:prstGeom prst="ellipse">
            <a:avLst/>
          </a:prstGeom>
          <a:solidFill>
            <a:srgbClr val="D69A2D"/>
          </a:solidFill>
          <a:ln cap="flat" cmpd="sng" w="12700">
            <a:solidFill>
              <a:srgbClr val="D69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544568" y="405993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8796525" y="3931985"/>
            <a:ext cx="233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RUN QI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8714288" y="4434840"/>
            <a:ext cx="2331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70"/>
              <a:buFont typeface="Noto Sans"/>
              <a:buNone/>
            </a:pPr>
            <a:r>
              <a:rPr lang="en-US" sz="14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Test small changes through PDSA</a:t>
            </a:r>
            <a:endParaRPr sz="14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8229600" y="4050792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8229600" y="405993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1344182" y="3909017"/>
            <a:ext cx="2331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500"/>
              <a:buFont typeface="Noto Sans"/>
              <a:buNone/>
            </a:pPr>
            <a:r>
              <a:rPr b="1" lang="en-US" sz="15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SHARE LEARNING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1344182" y="4320497"/>
            <a:ext cx="2331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70"/>
              <a:buFont typeface="Noto Sans"/>
              <a:buNone/>
            </a:pPr>
            <a:r>
              <a:rPr lang="en-US" sz="14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Document what worked and spread it</a:t>
            </a:r>
            <a:endParaRPr sz="14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023360" y="2139696"/>
            <a:ext cx="283464" cy="411480"/>
          </a:xfrm>
          <a:prstGeom prst="chevron">
            <a:avLst>
              <a:gd fmla="val 50000" name="adj"/>
            </a:avLst>
          </a:prstGeom>
          <a:solidFill>
            <a:srgbClr val="B6C7D2"/>
          </a:solidFill>
          <a:ln cap="flat" cmpd="sng" w="12700">
            <a:solidFill>
              <a:srgbClr val="B6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7699248" y="2139696"/>
            <a:ext cx="283464" cy="411480"/>
          </a:xfrm>
          <a:prstGeom prst="chevron">
            <a:avLst>
              <a:gd fmla="val 50000" name="adj"/>
            </a:avLst>
          </a:prstGeom>
          <a:solidFill>
            <a:srgbClr val="B6C7D2"/>
          </a:solidFill>
          <a:ln cap="flat" cmpd="sng" w="12700">
            <a:solidFill>
              <a:srgbClr val="B6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4" name="Google Shape;244;p6"/>
          <p:cNvSpPr/>
          <p:nvPr/>
        </p:nvSpPr>
        <p:spPr>
          <a:xfrm flipH="1">
            <a:off x="7699248" y="4297680"/>
            <a:ext cx="283464" cy="411480"/>
          </a:xfrm>
          <a:prstGeom prst="chevron">
            <a:avLst>
              <a:gd fmla="val 50000" name="adj"/>
            </a:avLst>
          </a:prstGeom>
          <a:solidFill>
            <a:srgbClr val="B6C7D2"/>
          </a:solidFill>
          <a:ln cap="flat" cmpd="sng" w="12700">
            <a:solidFill>
              <a:srgbClr val="B6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5" name="Google Shape;245;p6"/>
          <p:cNvSpPr/>
          <p:nvPr/>
        </p:nvSpPr>
        <p:spPr>
          <a:xfrm flipH="1">
            <a:off x="4023360" y="4297680"/>
            <a:ext cx="283464" cy="411480"/>
          </a:xfrm>
          <a:prstGeom prst="chevron">
            <a:avLst>
              <a:gd fmla="val 50000" name="adj"/>
            </a:avLst>
          </a:prstGeom>
          <a:solidFill>
            <a:srgbClr val="B6C7D2"/>
          </a:solidFill>
          <a:ln cap="flat" cmpd="sng" w="12700">
            <a:solidFill>
              <a:srgbClr val="B6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3236976" y="5605272"/>
            <a:ext cx="5742432" cy="420624"/>
          </a:xfrm>
          <a:prstGeom prst="roundRect">
            <a:avLst>
              <a:gd fmla="val 26087" name="adj"/>
            </a:avLst>
          </a:prstGeom>
          <a:solidFill>
            <a:srgbClr val="0B294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3429000" y="5687568"/>
            <a:ext cx="5367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0"/>
              <a:buFont typeface="Noto Sans"/>
              <a:buNone/>
            </a:pPr>
            <a:r>
              <a:rPr b="1" lang="en-US" sz="12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Assessment is not the end point — it starts the improvement cycle.</a:t>
            </a:r>
            <a:endParaRPr sz="12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" name="Google Shape;248;p6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ASSESSMENT &amp; LEARNING TOOL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One tool, nine domains, one action plan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256" name="Google Shape;2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257" name="Google Shape;25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7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58368" y="1325880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330"/>
              <a:buFont typeface="Noto Sans"/>
              <a:buNone/>
            </a:pPr>
            <a:r>
              <a:rPr lang="en-US" sz="133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The same nine domains carry through staging, indicators and action planning.</a:t>
            </a:r>
            <a:endParaRPr sz="13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58368" y="1847088"/>
            <a:ext cx="2157984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804672" y="196596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D1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197864" y="1947672"/>
            <a:ext cx="1426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220"/>
              <a:buFont typeface="Noto Sans"/>
              <a:buNone/>
            </a:pPr>
            <a:r>
              <a:rPr b="1" lang="en-US" sz="12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Leadership &amp; governance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063240" y="1847088"/>
            <a:ext cx="2157984" cy="749808"/>
          </a:xfrm>
          <a:prstGeom prst="roundRect">
            <a:avLst>
              <a:gd fmla="val 14634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209544" y="196596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D2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602736" y="1947672"/>
            <a:ext cx="1426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220"/>
              <a:buFont typeface="Noto Sans"/>
              <a:buNone/>
            </a:pPr>
            <a:r>
              <a:rPr b="1" lang="en-US" sz="12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Service delivery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5468112" y="1847088"/>
            <a:ext cx="2157984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5614416" y="196596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D3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6007608" y="1947672"/>
            <a:ext cx="1426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220"/>
              <a:buFont typeface="Noto Sans"/>
              <a:buNone/>
            </a:pPr>
            <a:r>
              <a:rPr b="1" lang="en-US" sz="12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Commodity management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58368" y="2807208"/>
            <a:ext cx="2157984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804672" y="292608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D4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1197864" y="2907792"/>
            <a:ext cx="1426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220"/>
              <a:buFont typeface="Noto Sans"/>
              <a:buNone/>
            </a:pPr>
            <a:r>
              <a:rPr b="1" lang="en-US" sz="12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Health information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3063240" y="2807208"/>
            <a:ext cx="2157984" cy="749808"/>
          </a:xfrm>
          <a:prstGeom prst="roundRect">
            <a:avLst>
              <a:gd fmla="val 14634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3209544" y="292608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D5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3602736" y="2907792"/>
            <a:ext cx="1426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220"/>
              <a:buFont typeface="Noto Sans"/>
              <a:buNone/>
            </a:pPr>
            <a:r>
              <a:rPr b="1" lang="en-US" sz="12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Human resources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5468112" y="2807208"/>
            <a:ext cx="2157984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614416" y="292608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D6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007608" y="2907792"/>
            <a:ext cx="1426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220"/>
              <a:buFont typeface="Noto Sans"/>
              <a:buNone/>
            </a:pPr>
            <a:r>
              <a:rPr b="1" lang="en-US" sz="12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Laboratory systems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658368" y="3767328"/>
            <a:ext cx="2157984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804672" y="388620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D7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1197864" y="3867912"/>
            <a:ext cx="1426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220"/>
              <a:buFont typeface="Noto Sans"/>
              <a:buNone/>
            </a:pPr>
            <a:r>
              <a:rPr b="1" lang="en-US" sz="12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Community systems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3063240" y="3767328"/>
            <a:ext cx="2157984" cy="749808"/>
          </a:xfrm>
          <a:prstGeom prst="roundRect">
            <a:avLst>
              <a:gd fmla="val 14634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3209544" y="388620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D8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3602736" y="3867912"/>
            <a:ext cx="1426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220"/>
              <a:buFont typeface="Noto Sans"/>
              <a:buNone/>
            </a:pPr>
            <a:r>
              <a:rPr b="1" lang="en-US" sz="12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Health financing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5468112" y="3767328"/>
            <a:ext cx="2157984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614416" y="388620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D9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007608" y="3867912"/>
            <a:ext cx="142646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220"/>
              <a:buFont typeface="Noto Sans"/>
              <a:buNone/>
            </a:pPr>
            <a:r>
              <a:rPr b="1" lang="en-US" sz="12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Quality of care</a:t>
            </a:r>
            <a:endParaRPr sz="12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891272" y="1609344"/>
            <a:ext cx="3547872" cy="4151376"/>
          </a:xfrm>
          <a:prstGeom prst="roundRect">
            <a:avLst>
              <a:gd fmla="val 3093" name="adj"/>
            </a:avLst>
          </a:prstGeom>
          <a:solidFill>
            <a:srgbClr val="0B294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8202168" y="1865376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Noto Sans"/>
              <a:buNone/>
            </a:pPr>
            <a:r>
              <a:rPr b="1" lang="en-US" sz="17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Each domain includes</a:t>
            </a:r>
            <a:endParaRPr sz="1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8202168" y="2395728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8622792" y="2395728"/>
            <a:ext cx="2322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0"/>
              <a:buFont typeface="Noto Sans"/>
              <a:buNone/>
            </a:pPr>
            <a:r>
              <a:rPr b="1" lang="en-US" sz="13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Staging</a:t>
            </a:r>
            <a:endParaRPr sz="13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8622792" y="2688336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E0"/>
              </a:buClr>
              <a:buSzPts val="1060"/>
              <a:buFont typeface="Noto Sans"/>
              <a:buNone/>
            </a:pPr>
            <a:r>
              <a:rPr lang="en-US" sz="1060">
                <a:solidFill>
                  <a:srgbClr val="C8D7E0"/>
                </a:solidFill>
                <a:latin typeface="Noto Sans"/>
                <a:ea typeface="Noto Sans"/>
                <a:cs typeface="Noto Sans"/>
                <a:sym typeface="Noto Sans"/>
              </a:rPr>
              <a:t>Score standards 1–5 using evidence.</a:t>
            </a:r>
            <a:endParaRPr sz="10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8202168" y="3209544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B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8622792" y="3209544"/>
            <a:ext cx="2322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0"/>
              <a:buFont typeface="Noto Sans"/>
              <a:buNone/>
            </a:pPr>
            <a:r>
              <a:rPr b="1" lang="en-US" sz="13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Key indicators</a:t>
            </a:r>
            <a:endParaRPr sz="13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8622792" y="3502152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E0"/>
              </a:buClr>
              <a:buSzPts val="1060"/>
              <a:buFont typeface="Noto Sans"/>
              <a:buNone/>
            </a:pPr>
            <a:r>
              <a:rPr lang="en-US" sz="1060">
                <a:solidFill>
                  <a:srgbClr val="C8D7E0"/>
                </a:solidFill>
                <a:latin typeface="Noto Sans"/>
                <a:ea typeface="Noto Sans"/>
                <a:cs typeface="Noto Sans"/>
                <a:sym typeface="Noto Sans"/>
              </a:rPr>
              <a:t>Review measured signals of performance.</a:t>
            </a:r>
            <a:endParaRPr sz="10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8202168" y="4023360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9A2D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D69A2D"/>
                </a:solidFill>
                <a:latin typeface="Noto Sans"/>
                <a:ea typeface="Noto Sans"/>
                <a:cs typeface="Noto Sans"/>
                <a:sym typeface="Noto Sans"/>
              </a:rPr>
              <a:t>C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8622792" y="4023360"/>
            <a:ext cx="2322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0"/>
              <a:buFont typeface="Noto Sans"/>
              <a:buNone/>
            </a:pPr>
            <a:r>
              <a:rPr b="1" lang="en-US" sz="13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Synthesis &amp; action plan</a:t>
            </a:r>
            <a:endParaRPr sz="13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8622792" y="4315968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E0"/>
              </a:buClr>
              <a:buSzPts val="1060"/>
              <a:buFont typeface="Noto Sans"/>
              <a:buNone/>
            </a:pPr>
            <a:r>
              <a:rPr lang="en-US" sz="1060">
                <a:solidFill>
                  <a:srgbClr val="C8D7E0"/>
                </a:solidFill>
                <a:latin typeface="Noto Sans"/>
                <a:ea typeface="Noto Sans"/>
                <a:cs typeface="Noto Sans"/>
                <a:sym typeface="Noto Sans"/>
              </a:rPr>
              <a:t>Prioritise up to five gaps with owner and timeline.</a:t>
            </a:r>
            <a:endParaRPr sz="10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8202168" y="4837176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D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8622792" y="4837176"/>
            <a:ext cx="2322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0"/>
              <a:buFont typeface="Noto Sans"/>
              <a:buNone/>
            </a:pPr>
            <a:r>
              <a:rPr b="1" lang="en-US" sz="134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Shared experiences</a:t>
            </a:r>
            <a:endParaRPr sz="13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8622792" y="5129784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7E0"/>
              </a:buClr>
              <a:buSzPts val="1060"/>
              <a:buFont typeface="Noto Sans"/>
              <a:buNone/>
            </a:pPr>
            <a:r>
              <a:rPr lang="en-US" sz="1060">
                <a:solidFill>
                  <a:srgbClr val="C8D7E0"/>
                </a:solidFill>
                <a:latin typeface="Noto Sans"/>
                <a:ea typeface="Noto Sans"/>
                <a:cs typeface="Noto Sans"/>
                <a:sym typeface="Noto Sans"/>
              </a:rPr>
              <a:t>Capture what changed, what worked and what can spread.</a:t>
            </a:r>
            <a:endParaRPr sz="10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58368" y="5074920"/>
            <a:ext cx="6949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550"/>
              <a:buFont typeface="Noto Sans"/>
              <a:buNone/>
            </a:pPr>
            <a:r>
              <a:rPr b="1" lang="en-US" sz="15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One tool. One visit. Action plan before the team leaves.</a:t>
            </a:r>
            <a:endParaRPr sz="15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2" name="Google Shape;302;p7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A SHARED BASELINE, NOT A SCORECARD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How staging works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310" name="Google Shape;3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311" name="Google Shape;3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658368" y="134416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320"/>
              <a:buFont typeface="Noto Sans"/>
              <a:buNone/>
            </a:pPr>
            <a:r>
              <a:rPr lang="en-US" sz="132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Each standard is scored from 1 to 5. Agree the level with the facility team and record the evidence behind it.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685800" y="1993392"/>
            <a:ext cx="2157984" cy="2240280"/>
          </a:xfrm>
          <a:prstGeom prst="roundRect">
            <a:avLst>
              <a:gd fmla="val 4237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832104" y="2176272"/>
            <a:ext cx="411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832104" y="2679192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No integration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832104" y="317296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100"/>
              <a:buFont typeface="Noto Sans"/>
              <a:buNone/>
            </a:pPr>
            <a:r>
              <a:rPr b="1" lang="en-US" sz="13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20%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832104" y="352958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040"/>
              <a:buFont typeface="Noto Sans"/>
              <a:buNone/>
            </a:pPr>
            <a:r>
              <a:rPr lang="en-US" sz="134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Services remain vertical</a:t>
            </a:r>
            <a:endParaRPr sz="13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2953512" y="1993392"/>
            <a:ext cx="2157984" cy="2240280"/>
          </a:xfrm>
          <a:prstGeom prst="roundRect">
            <a:avLst>
              <a:gd fmla="val 4237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3099816" y="2176272"/>
            <a:ext cx="411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3099816" y="2679192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Minimal alignment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3099816" y="317296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100"/>
              <a:buFont typeface="Noto Sans"/>
              <a:buNone/>
            </a:pPr>
            <a:r>
              <a:rPr b="1" lang="en-US" sz="13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40%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3099816" y="352958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040"/>
              <a:buFont typeface="Noto Sans"/>
              <a:buNone/>
            </a:pPr>
            <a:r>
              <a:rPr lang="en-US" sz="134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Ad hoc steps, not systematic</a:t>
            </a:r>
            <a:endParaRPr sz="13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5221224" y="1993392"/>
            <a:ext cx="2157984" cy="2240280"/>
          </a:xfrm>
          <a:prstGeom prst="roundRect">
            <a:avLst>
              <a:gd fmla="val 4237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5367528" y="2176272"/>
            <a:ext cx="411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5367528" y="2679192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Partial integration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5367528" y="317296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100"/>
              <a:buFont typeface="Noto Sans"/>
              <a:buNone/>
            </a:pPr>
            <a:r>
              <a:rPr b="1" lang="en-US" sz="13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60%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5367528" y="352958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040"/>
              <a:buFont typeface="Noto Sans"/>
              <a:buNone/>
            </a:pPr>
            <a:r>
              <a:rPr lang="en-US" sz="134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Some structure; uneven practice</a:t>
            </a:r>
            <a:endParaRPr sz="13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7488936" y="1993392"/>
            <a:ext cx="2157984" cy="2240280"/>
          </a:xfrm>
          <a:prstGeom prst="roundRect">
            <a:avLst>
              <a:gd fmla="val 4237" name="adj"/>
            </a:avLst>
          </a:prstGeom>
          <a:solidFill>
            <a:srgbClr val="0B2947"/>
          </a:solidFill>
          <a:ln cap="flat" cmpd="sng" w="10150">
            <a:solidFill>
              <a:srgbClr val="0B29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7635240" y="2176272"/>
            <a:ext cx="411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9A2D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D69A2D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7635240" y="2679192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Strong alignment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7635240" y="317296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9A2D"/>
              </a:buClr>
              <a:buSzPts val="1100"/>
              <a:buFont typeface="Noto Sans"/>
              <a:buNone/>
            </a:pPr>
            <a:r>
              <a:rPr b="1" lang="en-US" sz="1300">
                <a:solidFill>
                  <a:srgbClr val="D69A2D"/>
                </a:solidFill>
                <a:latin typeface="Noto Sans"/>
                <a:ea typeface="Noto Sans"/>
                <a:cs typeface="Noto Sans"/>
                <a:sym typeface="Noto Sans"/>
              </a:rPr>
              <a:t>80%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7635240" y="352958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2E9"/>
              </a:buClr>
              <a:buSzPts val="1040"/>
              <a:buFont typeface="Noto Sans"/>
              <a:buNone/>
            </a:pPr>
            <a:r>
              <a:rPr lang="en-US" sz="1340">
                <a:solidFill>
                  <a:srgbClr val="D6E2E9"/>
                </a:solidFill>
                <a:latin typeface="Noto Sans"/>
                <a:ea typeface="Noto Sans"/>
                <a:cs typeface="Noto Sans"/>
                <a:sym typeface="Noto Sans"/>
              </a:rPr>
              <a:t>Routine, documented and sustained</a:t>
            </a:r>
            <a:endParaRPr sz="13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9756648" y="1993392"/>
            <a:ext cx="2157984" cy="2240280"/>
          </a:xfrm>
          <a:prstGeom prst="roundRect">
            <a:avLst>
              <a:gd fmla="val 4237" name="adj"/>
            </a:avLst>
          </a:prstGeom>
          <a:solidFill>
            <a:srgbClr val="EAF5E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9902952" y="2176272"/>
            <a:ext cx="411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2F855A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sz="2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9902952" y="2679192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Full integration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9902952" y="317296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1100"/>
              <a:buFont typeface="Noto Sans"/>
              <a:buNone/>
            </a:pPr>
            <a:r>
              <a:rPr b="1" lang="en-US" sz="1300">
                <a:solidFill>
                  <a:srgbClr val="2F855A"/>
                </a:solidFill>
                <a:latin typeface="Noto Sans"/>
                <a:ea typeface="Noto Sans"/>
                <a:cs typeface="Noto Sans"/>
                <a:sym typeface="Noto Sans"/>
              </a:rPr>
              <a:t>100%</a:t>
            </a:r>
            <a:endParaRPr sz="13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9902952" y="352958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040"/>
              <a:buFont typeface="Noto Sans"/>
              <a:buNone/>
            </a:pPr>
            <a:r>
              <a:rPr lang="en-US" sz="134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Consistent, self-sustaining; can mentor others</a:t>
            </a:r>
            <a:endParaRPr sz="13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685800" y="4645152"/>
            <a:ext cx="6830568" cy="1033272"/>
          </a:xfrm>
          <a:prstGeom prst="roundRect">
            <a:avLst>
              <a:gd fmla="val 10619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914400" y="4760792"/>
            <a:ext cx="636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700"/>
              <a:buFont typeface="Noto Sans"/>
              <a:buNone/>
            </a:pPr>
            <a:r>
              <a:rPr b="1" lang="en-US" sz="17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Target: Score 4 — Strong alignment</a:t>
            </a:r>
            <a:endParaRPr sz="1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914400" y="5243815"/>
            <a:ext cx="627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7D8A"/>
              </a:buClr>
              <a:buSzPts val="1150"/>
              <a:buFont typeface="Noto Sans"/>
              <a:buNone/>
            </a:pPr>
            <a:r>
              <a:rPr lang="en-US" sz="1350">
                <a:solidFill>
                  <a:srgbClr val="147D8A"/>
                </a:solidFill>
                <a:latin typeface="Noto Sans"/>
                <a:ea typeface="Noto Sans"/>
                <a:cs typeface="Noto Sans"/>
                <a:sym typeface="Noto Sans"/>
              </a:rPr>
              <a:t>Integrated protocols in use • CQI active • data reviewed • referrals tracked • routine practice documented</a:t>
            </a:r>
            <a:endParaRPr sz="13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7744968" y="4645152"/>
            <a:ext cx="3685032" cy="1033272"/>
          </a:xfrm>
          <a:prstGeom prst="roundRect">
            <a:avLst>
              <a:gd fmla="val 10619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7973568" y="4742509"/>
            <a:ext cx="221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50"/>
              <a:buFont typeface="Noto Sans"/>
              <a:buNone/>
            </a:pPr>
            <a:r>
              <a:rPr b="1" lang="en-US" sz="13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Good staging practice</a:t>
            </a:r>
            <a:endParaRPr sz="13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7973568" y="5161519"/>
            <a:ext cx="3054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20"/>
              <a:buFont typeface="Noto Sans"/>
              <a:buNone/>
            </a:pPr>
            <a:r>
              <a:rPr lang="en-US" sz="132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Use evidence • agree the score • record why • compare at the next review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5" name="Google Shape;345;p8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FIVE PRACTICAL ACTIONS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What the activation visit must deliver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353" name="Google Shape;3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354" name="Google Shape;3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9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658368" y="1417320"/>
            <a:ext cx="10561320" cy="768096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877824" y="1627632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877824" y="163677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1389900" y="1545319"/>
            <a:ext cx="3547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30"/>
              <a:buFont typeface="Noto Sans"/>
              <a:buNone/>
            </a:pPr>
            <a:r>
              <a:rPr b="1" lang="en-US" sz="143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Confirm the integration coordinator and CQI focal person &amp; core team</a:t>
            </a:r>
            <a:endParaRPr sz="14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5093208" y="1517904"/>
            <a:ext cx="5687568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60"/>
              <a:buFont typeface="Noto Sans"/>
              <a:buNone/>
            </a:pPr>
            <a:r>
              <a:rPr lang="en-US" sz="136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Clarify who supports staging, QI, records and service-point follow-up.</a:t>
            </a:r>
            <a:endParaRPr sz="13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658368" y="2286000"/>
            <a:ext cx="10561320" cy="768096"/>
          </a:xfrm>
          <a:prstGeom prst="roundRect">
            <a:avLst>
              <a:gd fmla="val 14286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877824" y="2496312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877824" y="250545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1389888" y="2414016"/>
            <a:ext cx="35478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30"/>
              <a:buFont typeface="Noto Sans"/>
              <a:buNone/>
            </a:pPr>
            <a:r>
              <a:rPr b="1" lang="en-US" sz="143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Place SOPs where care happens</a:t>
            </a:r>
            <a:endParaRPr sz="14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5093208" y="2386584"/>
            <a:ext cx="5687568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60"/>
              <a:buFont typeface="Noto Sans"/>
              <a:buNone/>
            </a:pPr>
            <a:r>
              <a:rPr lang="en-US" sz="136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Registration • triage • consultation • laboratory • pharmacy • exit • community follow-up.</a:t>
            </a:r>
            <a:endParaRPr sz="13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658368" y="3154680"/>
            <a:ext cx="10561320" cy="768096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877824" y="3364992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877824" y="337413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1389888" y="3282696"/>
            <a:ext cx="35478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30"/>
              <a:buFont typeface="Noto Sans"/>
              <a:buNone/>
            </a:pPr>
            <a:r>
              <a:rPr b="1" lang="en-US" sz="143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Complete staging &amp; inputs review</a:t>
            </a:r>
            <a:endParaRPr sz="14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5093208" y="3255264"/>
            <a:ext cx="5687568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60"/>
              <a:buFont typeface="Noto Sans"/>
              <a:buNone/>
            </a:pPr>
            <a:r>
              <a:rPr lang="en-US" sz="136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Agree the starting point and document missing HRH, tools, commodities, space, data and support.</a:t>
            </a:r>
            <a:endParaRPr sz="13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58368" y="4023360"/>
            <a:ext cx="10561320" cy="768096"/>
          </a:xfrm>
          <a:prstGeom prst="roundRect">
            <a:avLst>
              <a:gd fmla="val 14286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877824" y="4233672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877824" y="424281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1389900" y="4151374"/>
            <a:ext cx="354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30"/>
              <a:buFont typeface="Noto Sans"/>
              <a:buNone/>
            </a:pPr>
            <a:r>
              <a:rPr b="1" lang="en-US" sz="143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Agree the action tracker before leaving</a:t>
            </a:r>
            <a:endParaRPr sz="14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5093208" y="4123944"/>
            <a:ext cx="5687568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60"/>
              <a:buFont typeface="Noto Sans"/>
              <a:buNone/>
            </a:pPr>
            <a:r>
              <a:rPr lang="en-US" sz="136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Convert priority gaps into actions, owners, due dates, support needs and escalation points.</a:t>
            </a:r>
            <a:endParaRPr sz="13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658368" y="4892040"/>
            <a:ext cx="10561320" cy="768096"/>
          </a:xfrm>
          <a:prstGeom prst="roundRect">
            <a:avLst>
              <a:gd fmla="val 14286" name="adj"/>
            </a:avLst>
          </a:prstGeom>
          <a:solidFill>
            <a:srgbClr val="FBF3D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877824" y="5102352"/>
            <a:ext cx="347472" cy="347472"/>
          </a:xfrm>
          <a:prstGeom prst="ellipse">
            <a:avLst/>
          </a:prstGeom>
          <a:solidFill>
            <a:srgbClr val="D69A2D"/>
          </a:solidFill>
          <a:ln cap="flat" cmpd="sng" w="12700">
            <a:solidFill>
              <a:srgbClr val="D69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877824" y="511149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1389888" y="5020056"/>
            <a:ext cx="35478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30"/>
              <a:buFont typeface="Noto Sans"/>
              <a:buNone/>
            </a:pPr>
            <a:r>
              <a:rPr b="1" lang="en-US" sz="143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Start one QI focus &amp; capture learning</a:t>
            </a:r>
            <a:endParaRPr sz="143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5093208" y="4992624"/>
            <a:ext cx="5687568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60"/>
              <a:buFont typeface="Noto Sans"/>
              <a:buNone/>
            </a:pPr>
            <a:r>
              <a:rPr lang="en-US" sz="136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Choose a testable priority problem, start a PDSA and agree how progress will be reviewed.</a:t>
            </a:r>
            <a:endParaRPr sz="13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1572768" y="5833872"/>
            <a:ext cx="8805672" cy="429768"/>
          </a:xfrm>
          <a:prstGeom prst="roundRect">
            <a:avLst>
              <a:gd fmla="val 25532" name="adj"/>
            </a:avLst>
          </a:prstGeom>
          <a:solidFill>
            <a:srgbClr val="0B294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1801368" y="5916168"/>
            <a:ext cx="8366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No visit should end with observations only — leave with actions, owners, a QI focus and a follow-up plan.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3" name="Google Shape;383;p9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KEEP ORIENTATION PRACTICAL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SOPs — 17 job aids, not 17 lectures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391" name="Google Shape;3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392" name="Google Shape;39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0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658368" y="1316736"/>
            <a:ext cx="10652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310"/>
              <a:buFont typeface="Noto Sans"/>
              <a:buNone/>
            </a:pPr>
            <a:r>
              <a:rPr lang="en-US" sz="131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The SOPs standardise critical steps in integrated care. For this session, understand the three groups and how to use them.</a:t>
            </a:r>
            <a:endParaRPr sz="13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658368" y="1901952"/>
            <a:ext cx="3364992" cy="2697480"/>
          </a:xfrm>
          <a:prstGeom prst="roundRect">
            <a:avLst>
              <a:gd fmla="val 4068" name="adj"/>
            </a:avLst>
          </a:prstGeom>
          <a:solidFill>
            <a:srgbClr val="EDF3FA"/>
          </a:solidFill>
          <a:ln cap="flat" cmpd="sng" w="10150">
            <a:solidFill>
              <a:srgbClr val="ED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877824" y="2139696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1–6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877824" y="2615184"/>
            <a:ext cx="2761488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800"/>
              <a:buFont typeface="Noto Sans"/>
              <a:buNone/>
            </a:pPr>
            <a:r>
              <a:rPr b="1" lang="en-US" sz="18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Entry, flow &amp; assessment</a:t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877824" y="3383280"/>
            <a:ext cx="27889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10"/>
              <a:buFont typeface="Noto Sans"/>
              <a:buNone/>
            </a:pPr>
            <a:r>
              <a:rPr lang="en-US" sz="141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Registration • appointments • patient education • comprehensive assessment • emergency care • differentiated care</a:t>
            </a:r>
            <a:endParaRPr sz="14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242816" y="1901952"/>
            <a:ext cx="3364992" cy="2697480"/>
          </a:xfrm>
          <a:prstGeom prst="roundRect">
            <a:avLst>
              <a:gd fmla="val 4068" name="adj"/>
            </a:avLst>
          </a:prstGeom>
          <a:solidFill>
            <a:srgbClr val="EAF5EF"/>
          </a:solidFill>
          <a:ln cap="flat" cmpd="sng" w="10150">
            <a:solidFill>
              <a:srgbClr val="EA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4462272" y="2139696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2F855A"/>
                </a:solidFill>
                <a:latin typeface="Noto Sans"/>
                <a:ea typeface="Noto Sans"/>
                <a:cs typeface="Noto Sans"/>
                <a:sym typeface="Noto Sans"/>
              </a:rPr>
              <a:t>7–12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4462272" y="2615184"/>
            <a:ext cx="2761488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800"/>
              <a:buFont typeface="Noto Sans"/>
              <a:buNone/>
            </a:pPr>
            <a:r>
              <a:rPr b="1" lang="en-US" sz="18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Treatment, linkage &amp; community</a:t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4462272" y="3383280"/>
            <a:ext cx="27889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10"/>
              <a:buFont typeface="Noto Sans"/>
              <a:buNone/>
            </a:pPr>
            <a:r>
              <a:rPr lang="en-US" sz="141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DSD models • prescribing • dispensing • referrals • socioeconomic linkage • community outreach</a:t>
            </a:r>
            <a:endParaRPr sz="14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7827264" y="1901952"/>
            <a:ext cx="3364992" cy="2697480"/>
          </a:xfrm>
          <a:prstGeom prst="roundRect">
            <a:avLst>
              <a:gd fmla="val 4068" name="adj"/>
            </a:avLst>
          </a:prstGeom>
          <a:solidFill>
            <a:srgbClr val="FBF3DF"/>
          </a:solidFill>
          <a:ln cap="flat" cmpd="sng" w="10150">
            <a:solidFill>
              <a:srgbClr val="FBF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8046720" y="2139696"/>
            <a:ext cx="777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9A2D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D69A2D"/>
                </a:solidFill>
                <a:latin typeface="Noto Sans"/>
                <a:ea typeface="Noto Sans"/>
                <a:cs typeface="Noto Sans"/>
                <a:sym typeface="Noto Sans"/>
              </a:rPr>
              <a:t>13–17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8046720" y="2615184"/>
            <a:ext cx="2761488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800"/>
              <a:buFont typeface="Noto Sans"/>
              <a:buNone/>
            </a:pPr>
            <a:r>
              <a:rPr b="1" lang="en-US" sz="18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Systems, data &amp; QI</a:t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8046720" y="3383280"/>
            <a:ext cx="27889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10"/>
              <a:buFont typeface="Noto Sans"/>
              <a:buNone/>
            </a:pPr>
            <a:r>
              <a:rPr lang="en-US" sz="141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Patient tracking • CPD • client satisfaction • data/reporting • continuous quality improvement</a:t>
            </a:r>
            <a:endParaRPr sz="14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658368" y="4901184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50"/>
              <a:buFont typeface="Noto Sans"/>
              <a:buNone/>
            </a:pPr>
            <a:r>
              <a:rPr b="1" lang="en-US" sz="14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Why they matter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2057400" y="4855464"/>
            <a:ext cx="2075688" cy="320040"/>
          </a:xfrm>
          <a:prstGeom prst="roundRect">
            <a:avLst>
              <a:gd fmla="val 45714" name="adj"/>
            </a:avLst>
          </a:prstGeom>
          <a:solidFill>
            <a:srgbClr val="E9F6F7"/>
          </a:solidFill>
          <a:ln cap="flat" cmpd="sng" w="12700">
            <a:solidFill>
              <a:srgbClr val="E9F6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2130552" y="4892040"/>
            <a:ext cx="1929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8A"/>
              </a:buClr>
              <a:buSzPts val="1120"/>
              <a:buFont typeface="Noto Sans"/>
              <a:buNone/>
            </a:pPr>
            <a:r>
              <a:rPr b="1" lang="en-US" sz="1120">
                <a:solidFill>
                  <a:srgbClr val="147D8A"/>
                </a:solidFill>
                <a:latin typeface="Noto Sans"/>
                <a:ea typeface="Noto Sans"/>
                <a:cs typeface="Noto Sans"/>
                <a:sym typeface="Noto Sans"/>
              </a:rPr>
              <a:t>Standardise patient flow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315968" y="4855464"/>
            <a:ext cx="2075688" cy="320040"/>
          </a:xfrm>
          <a:prstGeom prst="roundRect">
            <a:avLst>
              <a:gd fmla="val 45714" name="adj"/>
            </a:avLst>
          </a:prstGeom>
          <a:solidFill>
            <a:srgbClr val="E9F6F7"/>
          </a:solidFill>
          <a:ln cap="flat" cmpd="sng" w="12700">
            <a:solidFill>
              <a:srgbClr val="E9F6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4389120" y="4892040"/>
            <a:ext cx="1929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8A"/>
              </a:buClr>
              <a:buSzPts val="1120"/>
              <a:buFont typeface="Noto Sans"/>
              <a:buNone/>
            </a:pPr>
            <a:r>
              <a:rPr b="1" lang="en-US" sz="1120">
                <a:solidFill>
                  <a:srgbClr val="147D8A"/>
                </a:solidFill>
                <a:latin typeface="Noto Sans"/>
                <a:ea typeface="Noto Sans"/>
                <a:cs typeface="Noto Sans"/>
                <a:sym typeface="Noto Sans"/>
              </a:rPr>
              <a:t>Reduce missed opportunities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6574536" y="4855464"/>
            <a:ext cx="2075688" cy="320040"/>
          </a:xfrm>
          <a:prstGeom prst="roundRect">
            <a:avLst>
              <a:gd fmla="val 45714" name="adj"/>
            </a:avLst>
          </a:prstGeom>
          <a:solidFill>
            <a:srgbClr val="E9F6F7"/>
          </a:solidFill>
          <a:ln cap="flat" cmpd="sng" w="12700">
            <a:solidFill>
              <a:srgbClr val="E9F6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6647688" y="4892040"/>
            <a:ext cx="1929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8A"/>
              </a:buClr>
              <a:buSzPts val="1120"/>
              <a:buFont typeface="Noto Sans"/>
              <a:buNone/>
            </a:pPr>
            <a:r>
              <a:rPr b="1" lang="en-US" sz="1120">
                <a:solidFill>
                  <a:srgbClr val="147D8A"/>
                </a:solidFill>
                <a:latin typeface="Noto Sans"/>
                <a:ea typeface="Noto Sans"/>
                <a:cs typeface="Noto Sans"/>
                <a:sym typeface="Noto Sans"/>
              </a:rPr>
              <a:t>Support frontline staff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8833104" y="4855464"/>
            <a:ext cx="2075688" cy="320040"/>
          </a:xfrm>
          <a:prstGeom prst="roundRect">
            <a:avLst>
              <a:gd fmla="val 45714" name="adj"/>
            </a:avLst>
          </a:prstGeom>
          <a:solidFill>
            <a:srgbClr val="FBF3DF"/>
          </a:solidFill>
          <a:ln cap="flat" cmpd="sng" w="12700">
            <a:solidFill>
              <a:srgbClr val="FBF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8906256" y="4892040"/>
            <a:ext cx="1929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20"/>
              <a:buFont typeface="Noto Sans"/>
              <a:buNone/>
            </a:pPr>
            <a:r>
              <a:rPr b="1" lang="en-US" sz="1120">
                <a:solidFill>
                  <a:srgbClr val="D97706"/>
                </a:solidFill>
                <a:latin typeface="Noto Sans"/>
                <a:ea typeface="Noto Sans"/>
                <a:cs typeface="Noto Sans"/>
                <a:sym typeface="Noto Sans"/>
              </a:rPr>
              <a:t>Strengthen supervision &amp; QI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658368" y="5532120"/>
            <a:ext cx="10570464" cy="502920"/>
          </a:xfrm>
          <a:prstGeom prst="roundRect">
            <a:avLst>
              <a:gd fmla="val 21818" name="adj"/>
            </a:avLst>
          </a:prstGeom>
          <a:solidFill>
            <a:srgbClr val="0B294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896112" y="5641848"/>
            <a:ext cx="10113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Noto Sans"/>
              <a:buNone/>
            </a:pPr>
            <a:r>
              <a:rPr b="1" lang="en-US" sz="126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Use them where the work happens: visible, accessible, discussed and refined through feedback.</a:t>
            </a:r>
            <a:endParaRPr sz="12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8" name="Google Shape;418;p10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1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FROM POSTER TO PRACTICE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Using SOPs in daily care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426" name="Google Shape;4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427" name="Google Shape;4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1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658368" y="1325880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320"/>
              <a:buFont typeface="Noto Sans"/>
              <a:buNone/>
            </a:pPr>
            <a:r>
              <a:rPr lang="en-US" sz="132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Put the right SOP at the right service point — and link feedback to supervision and QI.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676656" y="1947672"/>
            <a:ext cx="1975104" cy="1316736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822960" y="2139696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822960" y="2523744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Registration &amp;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appointments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2734056" y="2395728"/>
            <a:ext cx="256032" cy="365760"/>
          </a:xfrm>
          <a:prstGeom prst="chevron">
            <a:avLst>
              <a:gd fmla="val 50000" name="adj"/>
            </a:avLst>
          </a:prstGeom>
          <a:solidFill>
            <a:srgbClr val="B5C7D2"/>
          </a:solidFill>
          <a:ln cap="flat" cmpd="sng" w="12700">
            <a:solidFill>
              <a:srgbClr val="B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2944368" y="1947672"/>
            <a:ext cx="1975104" cy="1316736"/>
          </a:xfrm>
          <a:prstGeom prst="roundRect">
            <a:avLst>
              <a:gd fmla="val 8333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3090672" y="2139696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3090672" y="2523744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Education, triage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&amp; assessment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5001768" y="2395728"/>
            <a:ext cx="256032" cy="365760"/>
          </a:xfrm>
          <a:prstGeom prst="chevron">
            <a:avLst>
              <a:gd fmla="val 50000" name="adj"/>
            </a:avLst>
          </a:prstGeom>
          <a:solidFill>
            <a:srgbClr val="B5C7D2"/>
          </a:solidFill>
          <a:ln cap="flat" cmpd="sng" w="12700">
            <a:solidFill>
              <a:srgbClr val="B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5212080" y="1947672"/>
            <a:ext cx="1975104" cy="1316736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5358384" y="2139696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5358384" y="2523744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Prescribe &amp;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dispense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7269480" y="2395728"/>
            <a:ext cx="256032" cy="365760"/>
          </a:xfrm>
          <a:prstGeom prst="chevron">
            <a:avLst>
              <a:gd fmla="val 50000" name="adj"/>
            </a:avLst>
          </a:prstGeom>
          <a:solidFill>
            <a:srgbClr val="B5C7D2"/>
          </a:solidFill>
          <a:ln cap="flat" cmpd="sng" w="12700">
            <a:solidFill>
              <a:srgbClr val="B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7479792" y="1947672"/>
            <a:ext cx="1975104" cy="1316736"/>
          </a:xfrm>
          <a:prstGeom prst="roundRect">
            <a:avLst>
              <a:gd fmla="val 8333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7626096" y="2139696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7626096" y="2523744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Referral, community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&amp; follow-up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9537192" y="2395728"/>
            <a:ext cx="256032" cy="365760"/>
          </a:xfrm>
          <a:prstGeom prst="chevron">
            <a:avLst>
              <a:gd fmla="val 50000" name="adj"/>
            </a:avLst>
          </a:prstGeom>
          <a:solidFill>
            <a:srgbClr val="B5C7D2"/>
          </a:solidFill>
          <a:ln cap="flat" cmpd="sng" w="12700">
            <a:solidFill>
              <a:srgbClr val="B5C7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9747504" y="1947672"/>
            <a:ext cx="1975104" cy="1316736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9893808" y="2139696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9893808" y="2523744"/>
            <a:ext cx="1627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Feedback, data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320"/>
              <a:buFont typeface="Noto Sans"/>
              <a:buNone/>
            </a:pPr>
            <a:r>
              <a:rPr b="1" lang="en-US" sz="132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&amp; CQI</a:t>
            </a:r>
            <a:endParaRPr sz="13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676646" y="3703324"/>
            <a:ext cx="395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600"/>
              <a:buFont typeface="Noto Sans"/>
              <a:buNone/>
            </a:pPr>
            <a:r>
              <a:rPr b="1" lang="en-US" sz="16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Who keeps this working?</a:t>
            </a:r>
            <a:endParaRPr sz="1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676656" y="4160520"/>
            <a:ext cx="1975104" cy="1060704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795528" y="431596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160"/>
              <a:buFont typeface="Noto Sans"/>
              <a:buNone/>
            </a:pPr>
            <a:r>
              <a:rPr b="1" lang="en-US" sz="116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Facility in-charge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804672" y="4681728"/>
            <a:ext cx="1719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970"/>
              <a:buFont typeface="Noto Sans"/>
              <a:buNone/>
            </a:pPr>
            <a:r>
              <a:rPr lang="en-US" sz="11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Accountability, orientation, escalation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2944368" y="4160520"/>
            <a:ext cx="1975104" cy="1060704"/>
          </a:xfrm>
          <a:prstGeom prst="roundRect">
            <a:avLst>
              <a:gd fmla="val 10345" name="adj"/>
            </a:avLst>
          </a:prstGeom>
          <a:solidFill>
            <a:srgbClr val="E9F6F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3063240" y="431596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160"/>
              <a:buFont typeface="Noto Sans"/>
              <a:buNone/>
            </a:pPr>
            <a:r>
              <a:rPr b="1" lang="en-US" sz="116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integration Coordinator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3072384" y="4681728"/>
            <a:ext cx="1719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970"/>
              <a:buFont typeface="Noto Sans"/>
              <a:buNone/>
            </a:pPr>
            <a:r>
              <a:rPr lang="en-US" sz="11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Placement, feedback, learning log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5212080" y="4160520"/>
            <a:ext cx="1975104" cy="1060704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5330952" y="431596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160"/>
              <a:buFont typeface="Noto Sans"/>
              <a:buNone/>
            </a:pPr>
            <a:r>
              <a:rPr b="1" lang="en-US" sz="116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Service-point teams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5340096" y="4681728"/>
            <a:ext cx="1719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970"/>
              <a:buFont typeface="Noto Sans"/>
              <a:buNone/>
            </a:pPr>
            <a:r>
              <a:rPr lang="en-US" sz="11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Use SOPs; identify barriers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7479792" y="4160520"/>
            <a:ext cx="1975104" cy="1060704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7598664" y="431596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160"/>
              <a:buFont typeface="Noto Sans"/>
              <a:buNone/>
            </a:pPr>
            <a:r>
              <a:rPr b="1" lang="en-US" sz="116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QI &amp; records teams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7607808" y="4681728"/>
            <a:ext cx="1719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970"/>
              <a:buFont typeface="Noto Sans"/>
              <a:buNone/>
            </a:pPr>
            <a:r>
              <a:rPr lang="en-US" sz="11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Analyse gaps, review data, run PDSA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9747504" y="4160520"/>
            <a:ext cx="1975104" cy="1060704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9866376" y="431596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160"/>
              <a:buFont typeface="Noto Sans"/>
              <a:buNone/>
            </a:pPr>
            <a:r>
              <a:rPr b="1" lang="en-US" sz="116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DHMT / RRH mentors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9875520" y="4681728"/>
            <a:ext cx="1719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970"/>
              <a:buFont typeface="Noto Sans"/>
              <a:buNone/>
            </a:pPr>
            <a:r>
              <a:rPr lang="en-US" sz="11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Validate, coach and escalate</a:t>
            </a:r>
            <a:endParaRPr sz="11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1362456" y="5577840"/>
            <a:ext cx="9189720" cy="438912"/>
          </a:xfrm>
          <a:prstGeom prst="roundRect">
            <a:avLst>
              <a:gd fmla="val 25000" name="adj"/>
            </a:avLst>
          </a:prstGeom>
          <a:solidFill>
            <a:srgbClr val="EAF5E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1572768" y="5669280"/>
            <a:ext cx="87599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1210"/>
              <a:buFont typeface="Noto Sans"/>
              <a:buNone/>
            </a:pPr>
            <a:r>
              <a:rPr b="1" lang="en-US" sz="1210">
                <a:solidFill>
                  <a:srgbClr val="2F855A"/>
                </a:solidFill>
                <a:latin typeface="Noto Sans"/>
                <a:ea typeface="Noto Sans"/>
                <a:cs typeface="Noto Sans"/>
                <a:sym typeface="Noto Sans"/>
              </a:rPr>
              <a:t>Feedback loop: use → observe barriers → discuss → adapt practice → feed learning into supervision and QI.</a:t>
            </a:r>
            <a:endParaRPr sz="12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7" name="Google Shape;467;p11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FROM ONE GAP TO ONE TESTED CHANGE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QI — keep it practical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475" name="Google Shape;4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476" name="Google Shape;47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2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658368" y="1316736"/>
            <a:ext cx="10607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340"/>
              <a:buFont typeface="Noto Sans"/>
              <a:buNone/>
            </a:pPr>
            <a:r>
              <a:rPr lang="en-US" sz="134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QI is how the facility turns priority gaps into measurable improvement.</a:t>
            </a:r>
            <a:endParaRPr sz="134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658368" y="18013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50"/>
              <a:buFont typeface="Noto Sans"/>
              <a:buNone/>
            </a:pPr>
            <a:r>
              <a:rPr b="1" lang="en-US" sz="14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Four principles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658368" y="2176272"/>
            <a:ext cx="1993392" cy="320040"/>
          </a:xfrm>
          <a:prstGeom prst="roundRect">
            <a:avLst>
              <a:gd fmla="val 45714" name="adj"/>
            </a:avLst>
          </a:prstGeom>
          <a:solidFill>
            <a:srgbClr val="E9F6F7"/>
          </a:solidFill>
          <a:ln cap="flat" cmpd="sng" w="12700">
            <a:solidFill>
              <a:srgbClr val="E9F6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731520" y="2212848"/>
            <a:ext cx="18470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8A"/>
              </a:buClr>
              <a:buSzPts val="1120"/>
              <a:buFont typeface="Noto Sans"/>
              <a:buNone/>
            </a:pPr>
            <a:r>
              <a:rPr b="1" lang="en-US" sz="1120">
                <a:solidFill>
                  <a:srgbClr val="147D8A"/>
                </a:solidFill>
                <a:latin typeface="Noto Sans"/>
                <a:ea typeface="Noto Sans"/>
                <a:cs typeface="Noto Sans"/>
                <a:sym typeface="Noto Sans"/>
              </a:rPr>
              <a:t>Client focus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2834640" y="2176272"/>
            <a:ext cx="1993392" cy="320040"/>
          </a:xfrm>
          <a:prstGeom prst="roundRect">
            <a:avLst>
              <a:gd fmla="val 45714" name="adj"/>
            </a:avLst>
          </a:prstGeom>
          <a:solidFill>
            <a:srgbClr val="E9F6F7"/>
          </a:solidFill>
          <a:ln cap="flat" cmpd="sng" w="12700">
            <a:solidFill>
              <a:srgbClr val="E9F6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2907792" y="2212848"/>
            <a:ext cx="18470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8A"/>
              </a:buClr>
              <a:buSzPts val="1120"/>
              <a:buFont typeface="Noto Sans"/>
              <a:buNone/>
            </a:pPr>
            <a:r>
              <a:rPr b="1" lang="en-US" sz="1120">
                <a:solidFill>
                  <a:srgbClr val="147D8A"/>
                </a:solidFill>
                <a:latin typeface="Noto Sans"/>
                <a:ea typeface="Noto Sans"/>
                <a:cs typeface="Noto Sans"/>
                <a:sym typeface="Noto Sans"/>
              </a:rPr>
              <a:t>Systems thinking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5010912" y="2176272"/>
            <a:ext cx="1993392" cy="320040"/>
          </a:xfrm>
          <a:prstGeom prst="roundRect">
            <a:avLst>
              <a:gd fmla="val 45714" name="adj"/>
            </a:avLst>
          </a:prstGeom>
          <a:solidFill>
            <a:srgbClr val="E9F6F7"/>
          </a:solidFill>
          <a:ln cap="flat" cmpd="sng" w="12700">
            <a:solidFill>
              <a:srgbClr val="E9F6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5084064" y="2212848"/>
            <a:ext cx="18470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8A"/>
              </a:buClr>
              <a:buSzPts val="1120"/>
              <a:buFont typeface="Noto Sans"/>
              <a:buNone/>
            </a:pPr>
            <a:r>
              <a:rPr b="1" lang="en-US" sz="1120">
                <a:solidFill>
                  <a:srgbClr val="147D8A"/>
                </a:solidFill>
                <a:latin typeface="Noto Sans"/>
                <a:ea typeface="Noto Sans"/>
                <a:cs typeface="Noto Sans"/>
                <a:sym typeface="Noto Sans"/>
              </a:rPr>
              <a:t>Data use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7187184" y="2176272"/>
            <a:ext cx="1993392" cy="320040"/>
          </a:xfrm>
          <a:prstGeom prst="roundRect">
            <a:avLst>
              <a:gd fmla="val 45714" name="adj"/>
            </a:avLst>
          </a:prstGeom>
          <a:solidFill>
            <a:srgbClr val="FBF3DF"/>
          </a:solidFill>
          <a:ln cap="flat" cmpd="sng" w="12700">
            <a:solidFill>
              <a:srgbClr val="FBF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7260336" y="2212848"/>
            <a:ext cx="18470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20"/>
              <a:buFont typeface="Noto Sans"/>
              <a:buNone/>
            </a:pPr>
            <a:r>
              <a:rPr b="1" lang="en-US" sz="1120">
                <a:solidFill>
                  <a:srgbClr val="D97706"/>
                </a:solidFill>
                <a:latin typeface="Noto Sans"/>
                <a:ea typeface="Noto Sans"/>
                <a:cs typeface="Noto Sans"/>
                <a:sym typeface="Noto Sans"/>
              </a:rPr>
              <a:t>Teamwork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658368" y="278892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50"/>
              <a:buFont typeface="Noto Sans"/>
              <a:buNone/>
            </a:pPr>
            <a:r>
              <a:rPr b="1" lang="en-US" sz="14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Four-step CQI process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658368" y="3172968"/>
            <a:ext cx="2487168" cy="1490472"/>
          </a:xfrm>
          <a:prstGeom prst="roundRect">
            <a:avLst>
              <a:gd fmla="val 7362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822960" y="3374136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822960" y="3383280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1280160" y="3364992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Identify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822960" y="3904488"/>
            <a:ext cx="2130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070"/>
              <a:buFont typeface="Noto Sans"/>
              <a:buNone/>
            </a:pPr>
            <a:r>
              <a:rPr lang="en-US" sz="12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What is the problem? How do we know?</a:t>
            </a:r>
            <a:endParaRPr sz="12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3346704" y="3172968"/>
            <a:ext cx="2487168" cy="1490472"/>
          </a:xfrm>
          <a:prstGeom prst="roundRect">
            <a:avLst>
              <a:gd fmla="val 7362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3511296" y="3374136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511296" y="3383280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3968496" y="3364992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Analyse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3511296" y="3904488"/>
            <a:ext cx="2130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070"/>
              <a:buFont typeface="Noto Sans"/>
              <a:buNone/>
            </a:pPr>
            <a:r>
              <a:rPr lang="en-US" sz="12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Why is it happening?</a:t>
            </a:r>
            <a:endParaRPr sz="12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6035040" y="3172968"/>
            <a:ext cx="2487168" cy="1490472"/>
          </a:xfrm>
          <a:prstGeom prst="roundRect">
            <a:avLst>
              <a:gd fmla="val 7362" name="adj"/>
            </a:avLst>
          </a:prstGeom>
          <a:solidFill>
            <a:srgbClr val="FFFFF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6199632" y="3374136"/>
            <a:ext cx="347472" cy="347472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6199632" y="3383280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6656832" y="3364992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Develop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6199632" y="3904488"/>
            <a:ext cx="2130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070"/>
              <a:buFont typeface="Noto Sans"/>
              <a:buNone/>
            </a:pPr>
            <a:r>
              <a:rPr lang="en-US" sz="127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What small change may help?</a:t>
            </a:r>
            <a:endParaRPr sz="12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8723376" y="3172968"/>
            <a:ext cx="2487168" cy="1490472"/>
          </a:xfrm>
          <a:prstGeom prst="roundRect">
            <a:avLst>
              <a:gd fmla="val 7362" name="adj"/>
            </a:avLst>
          </a:prstGeom>
          <a:solidFill>
            <a:srgbClr val="0B294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8887968" y="3374136"/>
            <a:ext cx="347472" cy="347472"/>
          </a:xfrm>
          <a:prstGeom prst="ellipse">
            <a:avLst/>
          </a:prstGeom>
          <a:solidFill>
            <a:srgbClr val="D69A2D"/>
          </a:solidFill>
          <a:ln cap="flat" cmpd="sng" w="12700">
            <a:solidFill>
              <a:srgbClr val="D69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8887968" y="3383280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9345168" y="3364992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Test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8887968" y="3904488"/>
            <a:ext cx="2130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E0E8"/>
              </a:buClr>
              <a:buSzPts val="1070"/>
              <a:buFont typeface="Noto Sans"/>
              <a:buNone/>
            </a:pPr>
            <a:r>
              <a:rPr lang="en-US" sz="1270">
                <a:solidFill>
                  <a:srgbClr val="D2E0E8"/>
                </a:solidFill>
                <a:latin typeface="Noto Sans"/>
                <a:ea typeface="Noto Sans"/>
                <a:cs typeface="Noto Sans"/>
                <a:sym typeface="Noto Sans"/>
              </a:rPr>
              <a:t>PDSA: plan • do • study • act</a:t>
            </a:r>
            <a:endParaRPr sz="127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658368" y="5001768"/>
            <a:ext cx="6693408" cy="758952"/>
          </a:xfrm>
          <a:prstGeom prst="roundRect">
            <a:avLst>
              <a:gd fmla="val 14458" name="adj"/>
            </a:avLst>
          </a:prstGeom>
          <a:solidFill>
            <a:srgbClr val="EAF5E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868680" y="5157216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1280"/>
              <a:buFont typeface="Noto Sans"/>
              <a:buNone/>
            </a:pPr>
            <a:r>
              <a:rPr b="1" lang="en-US" sz="1280">
                <a:solidFill>
                  <a:srgbClr val="2F855A"/>
                </a:solidFill>
                <a:latin typeface="Noto Sans"/>
                <a:ea typeface="Noto Sans"/>
                <a:cs typeface="Noto Sans"/>
                <a:sym typeface="Noto Sans"/>
              </a:rPr>
              <a:t>MoH priority QoC areas</a:t>
            </a:r>
            <a:endParaRPr sz="12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2633475" y="5157234"/>
            <a:ext cx="4370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60"/>
              <a:buFont typeface="Noto Sans"/>
              <a:buNone/>
            </a:pPr>
            <a:r>
              <a:rPr lang="en-US" sz="136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Patient safety • IPC • 5S • client satisfaction • integration</a:t>
            </a:r>
            <a:endParaRPr sz="13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7562100" y="5001778"/>
            <a:ext cx="3657600" cy="1135500"/>
          </a:xfrm>
          <a:prstGeom prst="roundRect">
            <a:avLst>
              <a:gd fmla="val 14458" name="adj"/>
            </a:avLst>
          </a:prstGeom>
          <a:solidFill>
            <a:srgbClr val="FBF3DF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7683112" y="5349778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50"/>
              <a:buFont typeface="Noto Sans"/>
              <a:buNone/>
            </a:pPr>
            <a:r>
              <a:rPr b="1" lang="en-US" sz="1250">
                <a:solidFill>
                  <a:srgbClr val="D97706"/>
                </a:solidFill>
                <a:latin typeface="Noto Sans"/>
                <a:ea typeface="Noto Sans"/>
                <a:cs typeface="Noto Sans"/>
                <a:sym typeface="Noto Sans"/>
              </a:rPr>
              <a:t>Important:</a:t>
            </a:r>
            <a:endParaRPr sz="12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8659368" y="5276626"/>
            <a:ext cx="2249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060"/>
              <a:buFont typeface="Noto Sans"/>
              <a:buNone/>
            </a:pPr>
            <a:r>
              <a:rPr lang="en-US" sz="126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QI is not needed for every gap. Use it where a practical change can be tested, measured and refined.</a:t>
            </a:r>
            <a:endParaRPr sz="12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5" name="Google Shape;515;p12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3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WHO DOES WHAT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Clear ownership, reporting and escalation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523" name="Google Shape;5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524" name="Google Shape;5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3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658368" y="1719072"/>
            <a:ext cx="2505456" cy="3136392"/>
          </a:xfrm>
          <a:prstGeom prst="roundRect">
            <a:avLst>
              <a:gd fmla="val 4380" name="adj"/>
            </a:avLst>
          </a:prstGeom>
          <a:solidFill>
            <a:srgbClr val="EDF3FA"/>
          </a:solidFill>
          <a:ln cap="flat" cmpd="sng" w="10150">
            <a:solidFill>
              <a:srgbClr val="ED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841248" y="1975104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380"/>
              <a:buFont typeface="Noto Sans"/>
              <a:buNone/>
            </a:pPr>
            <a:r>
              <a:rPr b="1" lang="en-US" sz="138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FACILITY</a:t>
            </a:r>
            <a:endParaRPr sz="13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868680" y="2615184"/>
            <a:ext cx="2048256" cy="153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10"/>
              <a:buFont typeface="Noto Sans"/>
              <a:buNone/>
            </a:pPr>
            <a:r>
              <a:rPr lang="en-US" sz="141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Use SOPs • complete staging • run CQI/PDSA • maintain learning logs • review data monthly</a:t>
            </a:r>
            <a:endParaRPr sz="14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3246120" y="2944368"/>
            <a:ext cx="256032" cy="384048"/>
          </a:xfrm>
          <a:prstGeom prst="chevron">
            <a:avLst>
              <a:gd fmla="val 50000" name="adj"/>
            </a:avLst>
          </a:prstGeom>
          <a:solidFill>
            <a:srgbClr val="B6C6D0"/>
          </a:solidFill>
          <a:ln cap="flat" cmpd="sng" w="12700">
            <a:solidFill>
              <a:srgbClr val="B6C6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3374136" y="1719072"/>
            <a:ext cx="2505456" cy="3136392"/>
          </a:xfrm>
          <a:prstGeom prst="roundRect">
            <a:avLst>
              <a:gd fmla="val 4380" name="adj"/>
            </a:avLst>
          </a:prstGeom>
          <a:solidFill>
            <a:srgbClr val="E9F6F7"/>
          </a:solidFill>
          <a:ln cap="flat" cmpd="sng" w="10150">
            <a:solidFill>
              <a:srgbClr val="E9F6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3557016" y="1975104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8A"/>
              </a:buClr>
              <a:buSzPts val="1380"/>
              <a:buFont typeface="Noto Sans"/>
              <a:buNone/>
            </a:pPr>
            <a:r>
              <a:rPr b="1" lang="en-US" sz="1380">
                <a:solidFill>
                  <a:srgbClr val="147D8A"/>
                </a:solidFill>
                <a:latin typeface="Noto Sans"/>
                <a:ea typeface="Noto Sans"/>
                <a:cs typeface="Noto Sans"/>
                <a:sym typeface="Noto Sans"/>
              </a:rPr>
              <a:t>DHMT</a:t>
            </a:r>
            <a:endParaRPr sz="13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3584448" y="2615184"/>
            <a:ext cx="2048256" cy="153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10"/>
              <a:buFont typeface="Noto Sans"/>
              <a:buNone/>
            </a:pPr>
            <a:r>
              <a:rPr lang="en-US" sz="141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Routine supervision • follow up action plans • solve local bottlenecks • spread tested practice</a:t>
            </a:r>
            <a:endParaRPr sz="14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5961888" y="2944368"/>
            <a:ext cx="256032" cy="384048"/>
          </a:xfrm>
          <a:prstGeom prst="chevron">
            <a:avLst>
              <a:gd fmla="val 50000" name="adj"/>
            </a:avLst>
          </a:prstGeom>
          <a:solidFill>
            <a:srgbClr val="B6C6D0"/>
          </a:solidFill>
          <a:ln cap="flat" cmpd="sng" w="12700">
            <a:solidFill>
              <a:srgbClr val="B6C6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6089904" y="1719072"/>
            <a:ext cx="2505456" cy="3136392"/>
          </a:xfrm>
          <a:prstGeom prst="roundRect">
            <a:avLst>
              <a:gd fmla="val 4380" name="adj"/>
            </a:avLst>
          </a:prstGeom>
          <a:solidFill>
            <a:srgbClr val="EAF5EF"/>
          </a:solidFill>
          <a:ln cap="flat" cmpd="sng" w="10150">
            <a:solidFill>
              <a:srgbClr val="EA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6272784" y="1975104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1380"/>
              <a:buFont typeface="Noto Sans"/>
              <a:buNone/>
            </a:pPr>
            <a:r>
              <a:rPr b="1" lang="en-US" sz="1380">
                <a:solidFill>
                  <a:srgbClr val="2F855A"/>
                </a:solidFill>
                <a:latin typeface="Noto Sans"/>
                <a:ea typeface="Noto Sans"/>
                <a:cs typeface="Noto Sans"/>
                <a:sym typeface="Noto Sans"/>
              </a:rPr>
              <a:t>RRH / REGIONAL ICS</a:t>
            </a:r>
            <a:endParaRPr sz="13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6300216" y="2615184"/>
            <a:ext cx="2048256" cy="153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10"/>
              <a:buFont typeface="Noto Sans"/>
              <a:buNone/>
            </a:pPr>
            <a:r>
              <a:rPr lang="en-US" sz="141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Activation • mentorship • peer learning • data use • escalate system constraints</a:t>
            </a:r>
            <a:endParaRPr sz="14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8677656" y="2944368"/>
            <a:ext cx="256032" cy="384048"/>
          </a:xfrm>
          <a:prstGeom prst="chevron">
            <a:avLst>
              <a:gd fmla="val 50000" name="adj"/>
            </a:avLst>
          </a:prstGeom>
          <a:solidFill>
            <a:srgbClr val="B6C6D0"/>
          </a:solidFill>
          <a:ln cap="flat" cmpd="sng" w="12700">
            <a:solidFill>
              <a:srgbClr val="B6C6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8805672" y="1719072"/>
            <a:ext cx="2505456" cy="3136392"/>
          </a:xfrm>
          <a:prstGeom prst="roundRect">
            <a:avLst>
              <a:gd fmla="val 4380" name="adj"/>
            </a:avLst>
          </a:prstGeom>
          <a:solidFill>
            <a:srgbClr val="FBF3DF"/>
          </a:solidFill>
          <a:ln cap="flat" cmpd="sng" w="10150">
            <a:solidFill>
              <a:srgbClr val="FBF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8988552" y="1975104"/>
            <a:ext cx="2084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9A2D"/>
              </a:buClr>
              <a:buSzPts val="1380"/>
              <a:buFont typeface="Noto Sans"/>
              <a:buNone/>
            </a:pPr>
            <a:r>
              <a:rPr b="1" lang="en-US" sz="1380">
                <a:solidFill>
                  <a:srgbClr val="D69A2D"/>
                </a:solidFill>
                <a:latin typeface="Noto Sans"/>
                <a:ea typeface="Noto Sans"/>
                <a:cs typeface="Noto Sans"/>
                <a:sym typeface="Noto Sans"/>
              </a:rPr>
              <a:t>MOH / NACI</a:t>
            </a:r>
            <a:endParaRPr sz="13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9015984" y="2615184"/>
            <a:ext cx="2048256" cy="153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210"/>
              <a:buFont typeface="Noto Sans"/>
              <a:buNone/>
            </a:pPr>
            <a:r>
              <a:rPr lang="en-US" sz="141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Stewardship • standard tools/SOPs • national synthesis • policy uptake • unblock decisions</a:t>
            </a:r>
            <a:endParaRPr sz="14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1307592" y="5257800"/>
            <a:ext cx="9308592" cy="603504"/>
          </a:xfrm>
          <a:prstGeom prst="roundRect">
            <a:avLst>
              <a:gd fmla="val 18182" name="adj"/>
            </a:avLst>
          </a:prstGeom>
          <a:solidFill>
            <a:srgbClr val="0B294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1536192" y="5404104"/>
            <a:ext cx="8851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"/>
              <a:buNone/>
            </a:pPr>
            <a:r>
              <a:rPr b="1" lang="en-US" sz="1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Reporting pathway: Facility → DHMT → RRH / Regional ICS → MoH / NACI</a:t>
            </a:r>
            <a:endParaRPr sz="14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2596896" y="5989320"/>
            <a:ext cx="67116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8"/>
              </a:buClr>
              <a:buSzPts val="1120"/>
              <a:buFont typeface="Noto Sans"/>
              <a:buNone/>
            </a:pPr>
            <a:r>
              <a:rPr i="1" lang="en-US" sz="1120">
                <a:solidFill>
                  <a:srgbClr val="5E6B78"/>
                </a:solidFill>
                <a:latin typeface="Noto Sans"/>
                <a:ea typeface="Noto Sans"/>
                <a:cs typeface="Noto Sans"/>
                <a:sym typeface="Noto Sans"/>
              </a:rPr>
              <a:t>Learning travels both ways; unresolved bottlenecks move upward for action.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4" name="Google Shape;544;p13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4"/>
          <p:cNvSpPr/>
          <p:nvPr/>
        </p:nvSpPr>
        <p:spPr>
          <a:xfrm>
            <a:off x="566928" y="384048"/>
            <a:ext cx="7863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050"/>
              <a:buFont typeface="Noto Sans"/>
              <a:buNone/>
            </a:pPr>
            <a:r>
              <a:rPr b="1" lang="en-US" sz="10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IMPLEMENTATION TIMELINE &amp; FOLLOW-UP</a:t>
            </a:r>
            <a:endParaRPr sz="10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566928" y="658368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2650"/>
              <a:buFont typeface="Noto Sans"/>
              <a:buNone/>
            </a:pPr>
            <a:r>
              <a:rPr b="1" lang="en-US" sz="265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Activation now; learning continues</a:t>
            </a:r>
            <a:endParaRPr sz="26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552" name="Google Shape;5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310896"/>
            <a:ext cx="420624" cy="256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553" name="Google Shape;55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0" y="246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14"/>
          <p:cNvSpPr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4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Sentinel Learning &amp; Adaptation Sites • September 2026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658368" y="1737360"/>
            <a:ext cx="2514600" cy="3273552"/>
          </a:xfrm>
          <a:prstGeom prst="roundRect">
            <a:avLst>
              <a:gd fmla="val 4364" name="adj"/>
            </a:avLst>
          </a:prstGeom>
          <a:solidFill>
            <a:srgbClr val="EDF3FA"/>
          </a:solidFill>
          <a:ln cap="flat" cmpd="sng" w="10150">
            <a:solidFill>
              <a:srgbClr val="ED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841248" y="1984248"/>
            <a:ext cx="21488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160"/>
              <a:buFont typeface="Noto Sans"/>
              <a:buNone/>
            </a:pPr>
            <a:r>
              <a:rPr b="1" lang="en-US" sz="116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Mar–Aug 2026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841248" y="244144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510"/>
              <a:buFont typeface="Noto Sans"/>
              <a:buNone/>
            </a:pPr>
            <a:r>
              <a:rPr b="1" lang="en-US" sz="151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FOUNDATION</a:t>
            </a:r>
            <a:endParaRPr sz="15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932700" y="3063250"/>
            <a:ext cx="20124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Site selection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Assessment tool finalised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SOPs developed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Teams prepared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3355848" y="1737360"/>
            <a:ext cx="2514600" cy="3273552"/>
          </a:xfrm>
          <a:prstGeom prst="roundRect">
            <a:avLst>
              <a:gd fmla="val 4364" name="adj"/>
            </a:avLst>
          </a:prstGeom>
          <a:solidFill>
            <a:srgbClr val="FBF3DF"/>
          </a:solidFill>
          <a:ln cap="flat" cmpd="sng" w="10150">
            <a:solidFill>
              <a:srgbClr val="FBF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3538728" y="1984248"/>
            <a:ext cx="21488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9A2D"/>
              </a:buClr>
              <a:buSzPts val="1160"/>
              <a:buFont typeface="Noto Sans"/>
              <a:buNone/>
            </a:pPr>
            <a:r>
              <a:rPr b="1" lang="en-US" sz="1160">
                <a:solidFill>
                  <a:srgbClr val="D69A2D"/>
                </a:solidFill>
                <a:latin typeface="Noto Sans"/>
                <a:ea typeface="Noto Sans"/>
                <a:cs typeface="Noto Sans"/>
                <a:sym typeface="Noto Sans"/>
              </a:rPr>
              <a:t>Sep–Oct 2026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3538728" y="244144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510"/>
              <a:buFont typeface="Noto Sans"/>
              <a:buNone/>
            </a:pPr>
            <a:r>
              <a:rPr b="1" lang="en-US" sz="151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ACTIVATION</a:t>
            </a:r>
            <a:endParaRPr sz="15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3693934" y="3063250"/>
            <a:ext cx="20124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Baseline assessments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First mentorship visits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CQI cycles initiated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First learning synthesis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3959352" y="4590288"/>
            <a:ext cx="1307592" cy="320040"/>
          </a:xfrm>
          <a:prstGeom prst="roundRect">
            <a:avLst>
              <a:gd fmla="val 45714" name="adj"/>
            </a:avLst>
          </a:prstGeom>
          <a:solidFill>
            <a:srgbClr val="0B2947"/>
          </a:solidFill>
          <a:ln cap="flat" cmpd="sng" w="12700">
            <a:solidFill>
              <a:srgbClr val="0B29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4032504" y="4626864"/>
            <a:ext cx="1161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Noto Sans"/>
              <a:buNone/>
            </a:pPr>
            <a:r>
              <a:rPr b="1" lang="en-US" sz="11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WE ARE HERE</a:t>
            </a:r>
            <a:endParaRPr sz="112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6053328" y="1737360"/>
            <a:ext cx="2514600" cy="3273552"/>
          </a:xfrm>
          <a:prstGeom prst="roundRect">
            <a:avLst>
              <a:gd fmla="val 4364" name="adj"/>
            </a:avLst>
          </a:prstGeom>
          <a:solidFill>
            <a:srgbClr val="E9F6F7"/>
          </a:solidFill>
          <a:ln cap="flat" cmpd="sng" w="10150">
            <a:solidFill>
              <a:srgbClr val="E9F6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6236208" y="1984248"/>
            <a:ext cx="21488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7D8A"/>
              </a:buClr>
              <a:buSzPts val="1160"/>
              <a:buFont typeface="Noto Sans"/>
              <a:buNone/>
            </a:pPr>
            <a:r>
              <a:rPr b="1" lang="en-US" sz="1160">
                <a:solidFill>
                  <a:srgbClr val="147D8A"/>
                </a:solidFill>
                <a:latin typeface="Noto Sans"/>
                <a:ea typeface="Noto Sans"/>
                <a:cs typeface="Noto Sans"/>
                <a:sym typeface="Noto Sans"/>
              </a:rPr>
              <a:t>Nov–Dec 2026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6236208" y="244144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510"/>
              <a:buFont typeface="Noto Sans"/>
              <a:buNone/>
            </a:pPr>
            <a:r>
              <a:rPr b="1" lang="en-US" sz="151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REVIEW &amp; REFINE</a:t>
            </a:r>
            <a:endParaRPr sz="15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6172576" y="3063250"/>
            <a:ext cx="22950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Performance review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Second mentorship/</a:t>
            </a:r>
            <a:b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CQI round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Change packages documented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8750808" y="1737360"/>
            <a:ext cx="2514600" cy="3273552"/>
          </a:xfrm>
          <a:prstGeom prst="roundRect">
            <a:avLst>
              <a:gd fmla="val 4364" name="adj"/>
            </a:avLst>
          </a:prstGeom>
          <a:solidFill>
            <a:srgbClr val="EAF5EF"/>
          </a:solidFill>
          <a:ln cap="flat" cmpd="sng" w="10150">
            <a:solidFill>
              <a:srgbClr val="EA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8933688" y="1984248"/>
            <a:ext cx="21488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1160"/>
              <a:buFont typeface="Noto Sans"/>
              <a:buNone/>
            </a:pPr>
            <a:r>
              <a:rPr b="1" lang="en-US" sz="1160">
                <a:solidFill>
                  <a:srgbClr val="2F855A"/>
                </a:solidFill>
                <a:latin typeface="Noto Sans"/>
                <a:ea typeface="Noto Sans"/>
                <a:cs typeface="Noto Sans"/>
                <a:sym typeface="Noto Sans"/>
              </a:rPr>
              <a:t>2027–2028</a:t>
            </a:r>
            <a:endParaRPr sz="116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8933688" y="244144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947"/>
              </a:buClr>
              <a:buSzPts val="1510"/>
              <a:buFont typeface="Noto Sans"/>
              <a:buNone/>
            </a:pPr>
            <a:r>
              <a:rPr b="1" lang="en-US" sz="1510">
                <a:solidFill>
                  <a:srgbClr val="0B2947"/>
                </a:solidFill>
                <a:latin typeface="Noto Sans"/>
                <a:ea typeface="Noto Sans"/>
                <a:cs typeface="Noto Sans"/>
                <a:sym typeface="Noto Sans"/>
              </a:rPr>
              <a:t>SCALE LEARNING</a:t>
            </a:r>
            <a:endParaRPr sz="151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8933700" y="3063250"/>
            <a:ext cx="22950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Repeated learning cycles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National synthesis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Change-package toolkit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12B"/>
              </a:buClr>
              <a:buSzPts val="1150"/>
              <a:buFont typeface="Noto Sans"/>
              <a:buNone/>
            </a:pPr>
            <a:r>
              <a:rPr lang="en-US" sz="1450">
                <a:solidFill>
                  <a:srgbClr val="17212B"/>
                </a:solidFill>
                <a:latin typeface="Noto Sans"/>
                <a:ea typeface="Noto Sans"/>
                <a:cs typeface="Noto Sans"/>
                <a:sym typeface="Noto Sans"/>
              </a:rPr>
              <a:t>Guidance updates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658368" y="5358384"/>
            <a:ext cx="10570464" cy="621792"/>
          </a:xfrm>
          <a:prstGeom prst="roundRect">
            <a:avLst>
              <a:gd fmla="val 17647" name="adj"/>
            </a:avLst>
          </a:prstGeom>
          <a:solidFill>
            <a:srgbClr val="0B2947"/>
          </a:solidFill>
          <a:ln cap="flat" cmpd="sng" w="10150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950976" y="5504688"/>
            <a:ext cx="9985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Noto Sans"/>
              <a:buNone/>
            </a:pPr>
            <a:r>
              <a:rPr b="1" lang="en-US" sz="14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September visit output: baseline + action tracker + first QI focus + clear follow-up date</a:t>
            </a:r>
            <a:endParaRPr sz="14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5" name="Google Shape;575;p14"/>
          <p:cNvSpPr txBox="1"/>
          <p:nvPr>
            <p:ph idx="4294967295" type="sldNum"/>
          </p:nvPr>
        </p:nvSpPr>
        <p:spPr>
          <a:xfrm>
            <a:off x="11539728" y="651967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7A8694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800">
              <a:solidFill>
                <a:srgbClr val="7A869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947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5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0" y="64008"/>
            <a:ext cx="12191695" cy="50292"/>
          </a:xfrm>
          <a:prstGeom prst="rect">
            <a:avLst/>
          </a:prstGeom>
          <a:solidFill>
            <a:srgbClr val="F5D547"/>
          </a:solidFill>
          <a:ln cap="flat" cmpd="sng" w="12700">
            <a:solidFill>
              <a:srgbClr val="F5D5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0" y="114300"/>
            <a:ext cx="12191695" cy="64008"/>
          </a:xfrm>
          <a:prstGeom prst="rect">
            <a:avLst/>
          </a:prstGeom>
          <a:solidFill>
            <a:srgbClr val="C64E45"/>
          </a:solidFill>
          <a:ln cap="flat" cmpd="sng" w="12700">
            <a:solidFill>
              <a:srgbClr val="C64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4" name="Google Shape;584;p15"/>
          <p:cNvSpPr/>
          <p:nvPr/>
        </p:nvSpPr>
        <p:spPr>
          <a:xfrm>
            <a:off x="676656" y="658368"/>
            <a:ext cx="3566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96A6"/>
              </a:buClr>
              <a:buSzPts val="1150"/>
              <a:buFont typeface="Noto Sans"/>
              <a:buNone/>
            </a:pPr>
            <a:r>
              <a:rPr b="1" lang="en-US" sz="1150">
                <a:solidFill>
                  <a:srgbClr val="0396A6"/>
                </a:solidFill>
                <a:latin typeface="Noto Sans"/>
                <a:ea typeface="Noto Sans"/>
                <a:cs typeface="Noto Sans"/>
                <a:sym typeface="Noto Sans"/>
              </a:rPr>
              <a:t>DISCUSSION • 20 MINUTES</a:t>
            </a:r>
            <a:endParaRPr sz="115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5" name="Google Shape;585;p15"/>
          <p:cNvSpPr/>
          <p:nvPr/>
        </p:nvSpPr>
        <p:spPr>
          <a:xfrm>
            <a:off x="676656" y="114300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Noto Sans"/>
              <a:buNone/>
            </a:pPr>
            <a:r>
              <a:rPr b="1" lang="en-US" sz="3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What must we agree today?</a:t>
            </a:r>
            <a:endParaRPr sz="3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768096" y="2066544"/>
            <a:ext cx="420624" cy="420624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768096" y="2112264"/>
            <a:ext cx="4206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8" name="Google Shape;588;p15"/>
          <p:cNvSpPr/>
          <p:nvPr/>
        </p:nvSpPr>
        <p:spPr>
          <a:xfrm>
            <a:off x="1417320" y="20116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F4"/>
              </a:buClr>
              <a:buSzPts val="1700"/>
              <a:buFont typeface="Noto Sans"/>
              <a:buNone/>
            </a:pPr>
            <a:r>
              <a:rPr lang="en-US" sz="1700">
                <a:solidFill>
                  <a:srgbClr val="E9F0F4"/>
                </a:solidFill>
                <a:latin typeface="Noto Sans"/>
                <a:ea typeface="Noto Sans"/>
                <a:cs typeface="Noto Sans"/>
                <a:sym typeface="Noto Sans"/>
              </a:rPr>
              <a:t>Are the facility focal persons and core teams clear?</a:t>
            </a:r>
            <a:endParaRPr sz="1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768096" y="2999232"/>
            <a:ext cx="420624" cy="420624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768096" y="3044952"/>
            <a:ext cx="4206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1" name="Google Shape;591;p15"/>
          <p:cNvSpPr/>
          <p:nvPr/>
        </p:nvSpPr>
        <p:spPr>
          <a:xfrm>
            <a:off x="1417320" y="2944368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F4"/>
              </a:buClr>
              <a:buSzPts val="1700"/>
              <a:buFont typeface="Noto Sans"/>
              <a:buNone/>
            </a:pPr>
            <a:r>
              <a:rPr lang="en-US" sz="1700">
                <a:solidFill>
                  <a:srgbClr val="E9F0F4"/>
                </a:solidFill>
                <a:latin typeface="Noto Sans"/>
                <a:ea typeface="Noto Sans"/>
                <a:cs typeface="Noto Sans"/>
                <a:sym typeface="Noto Sans"/>
              </a:rPr>
              <a:t>Completion of the baseline and action tracker during activation — and what evidence is needed?</a:t>
            </a:r>
            <a:endParaRPr sz="1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768096" y="3931920"/>
            <a:ext cx="420624" cy="420624"/>
          </a:xfrm>
          <a:prstGeom prst="ellipse">
            <a:avLst/>
          </a:prstGeom>
          <a:solidFill>
            <a:srgbClr val="0396A6"/>
          </a:solidFill>
          <a:ln cap="flat" cmpd="sng" w="12700">
            <a:solidFill>
              <a:srgbClr val="039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768096" y="3977640"/>
            <a:ext cx="4206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1417320" y="3877056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F4"/>
              </a:buClr>
              <a:buSzPts val="1700"/>
              <a:buFont typeface="Noto Sans"/>
              <a:buNone/>
            </a:pPr>
            <a:r>
              <a:rPr lang="en-US" sz="1700">
                <a:solidFill>
                  <a:srgbClr val="E9F0F4"/>
                </a:solidFill>
                <a:latin typeface="Noto Sans"/>
                <a:ea typeface="Noto Sans"/>
                <a:cs typeface="Noto Sans"/>
                <a:sym typeface="Noto Sans"/>
              </a:rPr>
              <a:t>Which SOPs need immediate placement or orientation at service points?</a:t>
            </a:r>
            <a:endParaRPr sz="1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768096" y="4864608"/>
            <a:ext cx="420624" cy="420624"/>
          </a:xfrm>
          <a:prstGeom prst="ellipse">
            <a:avLst/>
          </a:prstGeom>
          <a:solidFill>
            <a:srgbClr val="D69A2D"/>
          </a:solidFill>
          <a:ln cap="flat" cmpd="sng" w="12700">
            <a:solidFill>
              <a:srgbClr val="D69A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768096" y="4910328"/>
            <a:ext cx="4206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-US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1417320" y="4809744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F0F4"/>
              </a:buClr>
              <a:buSzPts val="1700"/>
              <a:buFont typeface="Noto Sans"/>
              <a:buNone/>
            </a:pPr>
            <a:r>
              <a:rPr b="1" lang="en-US" sz="1700">
                <a:solidFill>
                  <a:srgbClr val="E9F0F4"/>
                </a:solidFill>
                <a:latin typeface="Noto Sans"/>
                <a:ea typeface="Noto Sans"/>
                <a:cs typeface="Noto Sans"/>
                <a:sym typeface="Noto Sans"/>
              </a:rPr>
              <a:t>What should be the first QI focus, and what gaps need district, regional or national escalation?</a:t>
            </a:r>
            <a:endParaRPr sz="1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676656" y="5806440"/>
            <a:ext cx="10625328" cy="530352"/>
          </a:xfrm>
          <a:prstGeom prst="roundRect">
            <a:avLst>
              <a:gd fmla="val 17241" name="adj"/>
            </a:avLst>
          </a:prstGeom>
          <a:solidFill>
            <a:srgbClr val="153A5B"/>
          </a:solidFill>
          <a:ln cap="flat" cmpd="sng" w="10150">
            <a:solidFill>
              <a:srgbClr val="153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896112" y="5934456"/>
            <a:ext cx="10195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9A2D"/>
              </a:buClr>
              <a:buSzPts val="1380"/>
              <a:buFont typeface="Noto Sans"/>
              <a:buNone/>
            </a:pPr>
            <a:r>
              <a:rPr b="1" lang="en-US" sz="1380">
                <a:solidFill>
                  <a:srgbClr val="D69A2D"/>
                </a:solidFill>
                <a:latin typeface="Noto Sans"/>
                <a:ea typeface="Noto Sans"/>
                <a:cs typeface="Noto Sans"/>
                <a:sym typeface="Noto Sans"/>
              </a:rPr>
              <a:t>End with decisions • owners • dates • escalation points</a:t>
            </a:r>
            <a:endParaRPr sz="13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assets/s13_img3.png" id="600" name="Google Shape;6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3616" y="621792"/>
            <a:ext cx="566928" cy="338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ssets/s13_img4.png" id="601" name="Google Shape;6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01984" y="502920"/>
            <a:ext cx="420624" cy="42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2026-09-09T22:46:05Z</dcterms:created>
  <dc:creator>Diana Sera</dc:creator>
</cp:coreProperties>
</file>