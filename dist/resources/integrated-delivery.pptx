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UdXmgVbx0OdynuJs/zHFvdf2Y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Previously we had standalone verticalized clinics. Going forward we should have either a mixed OPD seeing all acute and chronic patients like is the case in lower-level health facilities or have a General OPD and a Chronic Care OPD like in higher level health facilities where there is space and infrastructure. Clients in need of specialist services should benefit from internal or external referrals with follow-up.</a:t>
            </a:r>
            <a:endParaRPr/>
          </a:p>
        </p:txBody>
      </p:sp>
      <p:sp>
        <p:nvSpPr>
          <p:cNvPr id="302" name="Google Shape;3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Emphasize the patient at the center </a:t>
            </a:r>
            <a:r>
              <a:rPr b="0" lang="en-US"/>
              <a:t>of our service delivery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lang="en-US"/>
              <a:t>Emphasize the </a:t>
            </a:r>
            <a:r>
              <a:rPr b="1" lang="en-US"/>
              <a:t>clinic flow through OPD</a:t>
            </a:r>
            <a:r>
              <a:rPr b="0" lang="en-US"/>
              <a:t> and the </a:t>
            </a:r>
            <a:r>
              <a:rPr b="1" lang="en-US"/>
              <a:t>basic package</a:t>
            </a:r>
            <a:r>
              <a:rPr b="0" lang="en-US"/>
              <a:t> </a:t>
            </a:r>
            <a:r>
              <a:rPr b="1" lang="en-US"/>
              <a:t>of clinical and diagnostic processes</a:t>
            </a:r>
            <a:r>
              <a:rPr b="0" lang="en-US"/>
              <a:t> that each patient should receive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These are backed by systems</a:t>
            </a:r>
            <a:r>
              <a:rPr b="0" lang="en-US"/>
              <a:t> that support the service delivery.</a:t>
            </a:r>
            <a:endParaRPr/>
          </a:p>
        </p:txBody>
      </p:sp>
      <p:sp>
        <p:nvSpPr>
          <p:cNvPr id="372" name="Google Shape;3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GOU" id="21" name="Google Shape;2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460" y="379228"/>
            <a:ext cx="96774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737600" y="6356351"/>
            <a:ext cx="2402348" cy="427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152400" lvl="0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2400" lvl="1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52400" lvl="2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52400" lvl="3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52400" lvl="4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52400" lvl="5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52400" lvl="6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52400" lvl="7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52400" lvl="8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8600" lvl="0" marL="22860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AutoNum type="arabicPeriod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" name="Google Shape;28;p16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29" name="Google Shape;29;p16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30" name="Google Shape;30;p16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31" name="Google Shape;31;p16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pic>
        <p:nvPicPr>
          <p:cNvPr descr="GOU" id="32" name="Google Shape;3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44272" y="6155592"/>
            <a:ext cx="664613" cy="627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" name="Google Shape;40;p18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41" name="Google Shape;41;p18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42" name="Google Shape;42;p18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43" name="Google Shape;43;p18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152400" lvl="0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2400" lvl="1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52400" lvl="2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52400" lvl="3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52400" lvl="4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52400" lvl="5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52400" lvl="6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52400" lvl="7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52400" lvl="8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8600" lvl="0" marL="22860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AutoNum type="arabicPeriod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1" name="Google Shape;51;p19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52" name="Google Shape;52;p19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53" name="Google Shape;53;p19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54" name="Google Shape;54;p19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pic>
        <p:nvPicPr>
          <p:cNvPr id="55" name="Google Shape;5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97757" y="6002521"/>
            <a:ext cx="694610" cy="78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20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0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152400" lvl="0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2400" lvl="1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52400" lvl="2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52400" lvl="3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52400" lvl="4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52400" lvl="5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52400" lvl="6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52400" lvl="7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52400" lvl="8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8600" lvl="0" marL="22860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AutoNum type="arabicPeriod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20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66" name="Google Shape;66;p20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67" name="Google Shape;67;p20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68" name="Google Shape;68;p20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pic>
        <p:nvPicPr>
          <p:cNvPr id="69" name="Google Shape;6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82401" y="6097698"/>
            <a:ext cx="609966" cy="685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152400" lvl="0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2400" lvl="1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52400" lvl="2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52400" lvl="3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52400" lvl="4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52400" lvl="5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52400" lvl="6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52400" lvl="7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52400" lvl="8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8600" lvl="0" marL="22860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AutoNum type="arabicPeriod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5" name="Google Shape;75;p21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76" name="Google Shape;76;p21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77" name="Google Shape;77;p21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78" name="Google Shape;78;p21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pic>
        <p:nvPicPr>
          <p:cNvPr id="79" name="Google Shape;7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68347" y="6108700"/>
            <a:ext cx="624019" cy="7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152400" lvl="0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2400" lvl="1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52400" lvl="2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52400" lvl="3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52400" lvl="4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52400" lvl="5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52400" lvl="6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52400" lvl="7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52400" lvl="8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8600" lvl="0" marL="22860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AutoNum type="arabicPeriod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4" name="Google Shape;84;p22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85" name="Google Shape;85;p22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86" name="Google Shape;86;p22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87" name="Google Shape;87;p22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pic>
        <p:nvPicPr>
          <p:cNvPr id="88" name="Google Shape;8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95906" y="6007099"/>
            <a:ext cx="694610" cy="78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2" name="Google Shape;92;p23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152400" lvl="0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2400" lvl="1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52400" lvl="2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52400" lvl="3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52400" lvl="4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52400" lvl="5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52400" lvl="6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52400" lvl="7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52400" lvl="8" marL="22860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8600" lvl="0" marL="22860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AutoNum type="arabicPeriod"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6" name="Google Shape;96;p23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97" name="Google Shape;97;p23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98" name="Google Shape;98;p23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99" name="Google Shape;99;p23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pic>
        <p:nvPicPr>
          <p:cNvPr id="100" name="Google Shape;10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68347" y="6108700"/>
            <a:ext cx="624019" cy="7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5" name="Google Shape;105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8" name="Google Shape;108;p24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109" name="Google Shape;109;p24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110" name="Google Shape;110;p24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111" name="Google Shape;111;p24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8" name="Google Shape;118;p25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119" name="Google Shape;119;p25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120" name="Google Shape;120;p25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121" name="Google Shape;121;p25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8" name="Google Shape;128;p26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129" name="Google Shape;129;p26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130" name="Google Shape;130;p26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131" name="Google Shape;131;p26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gif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251460" y="2359025"/>
            <a:ext cx="1193546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>
                <a:latin typeface="Calibri"/>
                <a:ea typeface="Calibri"/>
                <a:cs typeface="Calibri"/>
                <a:sym typeface="Calibri"/>
              </a:rPr>
              <a:t>Shift from Disease-Based to Integrated Patient-Centered Service Delivery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0621" y="4819486"/>
            <a:ext cx="11673900" cy="1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RRH SEC/ DHO-September 2026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grpSp>
        <p:nvGrpSpPr>
          <p:cNvPr id="138" name="Google Shape;138;p1"/>
          <p:cNvGrpSpPr/>
          <p:nvPr/>
        </p:nvGrpSpPr>
        <p:grpSpPr>
          <a:xfrm>
            <a:off x="-1484" y="74428"/>
            <a:ext cx="12193851" cy="152400"/>
            <a:chOff x="-1484" y="74428"/>
            <a:chExt cx="12193851" cy="152400"/>
          </a:xfrm>
        </p:grpSpPr>
        <p:cxnSp>
          <p:nvCxnSpPr>
            <p:cNvPr id="139" name="Google Shape;139;p1"/>
            <p:cNvCxnSpPr/>
            <p:nvPr/>
          </p:nvCxnSpPr>
          <p:spPr>
            <a:xfrm>
              <a:off x="0" y="744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140" name="Google Shape;140;p1"/>
            <p:cNvCxnSpPr/>
            <p:nvPr/>
          </p:nvCxnSpPr>
          <p:spPr>
            <a:xfrm>
              <a:off x="367" y="226828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141" name="Google Shape;141;p1"/>
            <p:cNvCxnSpPr/>
            <p:nvPr/>
          </p:nvCxnSpPr>
          <p:spPr>
            <a:xfrm>
              <a:off x="-1484" y="145301"/>
              <a:ext cx="12192000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pic>
        <p:nvPicPr>
          <p:cNvPr descr="Ouganda" id="142" name="Google Shape;1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8140" y="448699"/>
            <a:ext cx="142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U" id="143" name="Google Shape;14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" y="379228"/>
            <a:ext cx="96774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1D255B"/>
                </a:solidFill>
              </a:rPr>
              <a:t>Outline</a:t>
            </a:r>
            <a:endParaRPr/>
          </a:p>
        </p:txBody>
      </p:sp>
      <p:cxnSp>
        <p:nvCxnSpPr>
          <p:cNvPr id="149" name="Google Shape;149;p2"/>
          <p:cNvCxnSpPr/>
          <p:nvPr/>
        </p:nvCxnSpPr>
        <p:spPr>
          <a:xfrm>
            <a:off x="640080" y="1343152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"/>
          <p:cNvCxnSpPr/>
          <p:nvPr/>
        </p:nvCxnSpPr>
        <p:spPr>
          <a:xfrm>
            <a:off x="0" y="6812280"/>
            <a:ext cx="12191695" cy="0"/>
          </a:xfrm>
          <a:prstGeom prst="straightConnector1">
            <a:avLst/>
          </a:prstGeom>
          <a:noFill/>
          <a:ln cap="flat" cmpd="sng" w="27925">
            <a:solidFill>
              <a:srgbClr val="008C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2"/>
          <p:cNvSpPr/>
          <p:nvPr/>
        </p:nvSpPr>
        <p:spPr>
          <a:xfrm>
            <a:off x="594360" y="6556248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685800" y="1676400"/>
            <a:ext cx="10820400" cy="838200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863600" y="1905000"/>
            <a:ext cx="381000" cy="381000"/>
          </a:xfrm>
          <a:prstGeom prst="roundRect">
            <a:avLst>
              <a:gd fmla="val 19048" name="adj"/>
            </a:avLst>
          </a:prstGeom>
          <a:solidFill>
            <a:srgbClr val="31859B"/>
          </a:solidFill>
          <a:ln cap="flat" cmpd="sng" w="12700">
            <a:solidFill>
              <a:srgbClr val="0E6B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863600" y="1905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5" name="Google Shape;155;p2"/>
          <p:cNvSpPr/>
          <p:nvPr/>
        </p:nvSpPr>
        <p:spPr>
          <a:xfrm>
            <a:off x="1397000" y="18288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685800" y="2667000"/>
            <a:ext cx="10820400" cy="838200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863600" y="2895600"/>
            <a:ext cx="381000" cy="381000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863600" y="2895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9" name="Google Shape;159;p2"/>
          <p:cNvSpPr/>
          <p:nvPr/>
        </p:nvSpPr>
        <p:spPr>
          <a:xfrm>
            <a:off x="1397000" y="28194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Rationale for Integrated Delivery of Health Services</a:t>
            </a:r>
            <a:endParaRPr/>
          </a:p>
        </p:txBody>
      </p:sp>
      <p:sp>
        <p:nvSpPr>
          <p:cNvPr id="160" name="Google Shape;160;p2"/>
          <p:cNvSpPr/>
          <p:nvPr/>
        </p:nvSpPr>
        <p:spPr>
          <a:xfrm>
            <a:off x="685800" y="3657600"/>
            <a:ext cx="10820400" cy="838200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863600" y="3886200"/>
            <a:ext cx="381000" cy="381000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863600" y="3886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1397000" y="38100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Enabling Environment</a:t>
            </a:r>
            <a:endParaRPr/>
          </a:p>
        </p:txBody>
      </p:sp>
      <p:sp>
        <p:nvSpPr>
          <p:cNvPr id="164" name="Google Shape;164;p2"/>
          <p:cNvSpPr/>
          <p:nvPr/>
        </p:nvSpPr>
        <p:spPr>
          <a:xfrm>
            <a:off x="685800" y="4648200"/>
            <a:ext cx="10820400" cy="838200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863600" y="4876800"/>
            <a:ext cx="381000" cy="381000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863600" y="4876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7" name="Google Shape;167;p2"/>
          <p:cNvSpPr/>
          <p:nvPr/>
        </p:nvSpPr>
        <p:spPr>
          <a:xfrm>
            <a:off x="1397000" y="48006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Progress &amp; Implementation Standards</a:t>
            </a:r>
            <a:endParaRPr/>
          </a:p>
        </p:txBody>
      </p:sp>
      <p:sp>
        <p:nvSpPr>
          <p:cNvPr id="168" name="Google Shape;168;p2"/>
          <p:cNvSpPr/>
          <p:nvPr/>
        </p:nvSpPr>
        <p:spPr>
          <a:xfrm>
            <a:off x="685800" y="5638800"/>
            <a:ext cx="10820400" cy="838200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863600" y="5867400"/>
            <a:ext cx="381000" cy="381000"/>
          </a:xfrm>
          <a:prstGeom prst="roundRect">
            <a:avLst>
              <a:gd fmla="val 19048" name="adj"/>
            </a:avLst>
          </a:prstGeom>
          <a:solidFill>
            <a:srgbClr val="31859B"/>
          </a:solidFill>
          <a:ln cap="flat" cmpd="sng" w="12700">
            <a:solidFill>
              <a:srgbClr val="0E6B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863600" y="5867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1" name="Google Shape;171;p2"/>
          <p:cNvSpPr/>
          <p:nvPr/>
        </p:nvSpPr>
        <p:spPr>
          <a:xfrm>
            <a:off x="1397000" y="57912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Persistent Gaps &amp; Next Steps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>
            <p:ph type="title"/>
          </p:nvPr>
        </p:nvSpPr>
        <p:spPr>
          <a:xfrm>
            <a:off x="1186241" y="113714"/>
            <a:ext cx="10261022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/>
          </a:p>
        </p:txBody>
      </p:sp>
      <p:sp>
        <p:nvSpPr>
          <p:cNvPr id="177" name="Google Shape;177;p3"/>
          <p:cNvSpPr txBox="1"/>
          <p:nvPr>
            <p:ph idx="1" type="body"/>
          </p:nvPr>
        </p:nvSpPr>
        <p:spPr>
          <a:xfrm>
            <a:off x="475638" y="1045091"/>
            <a:ext cx="3852161" cy="526230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National Development Plan (NDP) IV  and government priorities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emphasize equitable access to high-quality, patient-centered health services for all Ugandans, maximizing available resources.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4593070" y="1045090"/>
            <a:ext cx="3447363" cy="353659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programs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while addressing specific diseases, may not fully meet the holistic needs of patients.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8305704" y="1045091"/>
            <a:ext cx="3646657" cy="5259919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 is re-emphasizing a strategic shift towards integrated service delivery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promote a patient-centered, holistic approach that optimizes resources for greater efficiency and sustainability.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473" y="4626129"/>
            <a:ext cx="1797004" cy="1681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4400"/>
              <a:buFont typeface="Times New Roman"/>
              <a:buNone/>
            </a:pPr>
            <a:r>
              <a:rPr b="1" lang="en-US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Rationale for Integrated Service Delivery</a:t>
            </a:r>
            <a:endParaRPr/>
          </a:p>
        </p:txBody>
      </p:sp>
      <p:cxnSp>
        <p:nvCxnSpPr>
          <p:cNvPr id="186" name="Google Shape;186;p4"/>
          <p:cNvCxnSpPr/>
          <p:nvPr/>
        </p:nvCxnSpPr>
        <p:spPr>
          <a:xfrm>
            <a:off x="640080" y="1343152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4"/>
          <p:cNvCxnSpPr/>
          <p:nvPr/>
        </p:nvCxnSpPr>
        <p:spPr>
          <a:xfrm>
            <a:off x="0" y="6812280"/>
            <a:ext cx="12191695" cy="0"/>
          </a:xfrm>
          <a:prstGeom prst="straightConnector1">
            <a:avLst/>
          </a:prstGeom>
          <a:noFill/>
          <a:ln cap="flat" cmpd="sng" w="27925">
            <a:solidFill>
              <a:srgbClr val="008C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4"/>
          <p:cNvSpPr/>
          <p:nvPr/>
        </p:nvSpPr>
        <p:spPr>
          <a:xfrm>
            <a:off x="594360" y="6556248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5715000" y="6519672"/>
            <a:ext cx="5897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MoH Integration Update — High-Level Stakeholder Engagement Meeting, 20 July 2026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685800" y="2395731"/>
            <a:ext cx="5166360" cy="772663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914400" y="1901954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31859B"/>
          </a:solidFill>
          <a:ln cap="flat" cmpd="sng" w="12700">
            <a:solidFill>
              <a:srgbClr val="0E6B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914400" y="2054601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371600" y="1973079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819912" y="2587242"/>
            <a:ext cx="4837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Reduce duplication and make better use of scarce resources through coordinated patient flow and service platforms.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355080" y="2428240"/>
            <a:ext cx="5166360" cy="696463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6459728" y="1888740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6428232" y="2044699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6972300" y="1943606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Cross-program coordination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6565392" y="2547116"/>
            <a:ext cx="4837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Align HIV, TB, malaria, NCDs, MNCH and acute care around shared OPD, chronic care and community platforms.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685800" y="3904492"/>
            <a:ext cx="5105401" cy="784346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850392" y="3410711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835152" y="3575305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1344168" y="3467616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Universal Health Coverage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850392" y="4038598"/>
            <a:ext cx="4837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Advance equitable, patient-centred care in line with national development and UHC priorities.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6400800" y="3935981"/>
            <a:ext cx="5166360" cy="752857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6501384" y="3487163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6459728" y="3662171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7059168" y="3503165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Financing transition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6565392" y="4019297"/>
            <a:ext cx="4837176" cy="519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Support government-led delivery and performance-based financing through more efficient, integrated service delivery.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914400" y="5249400"/>
            <a:ext cx="2424023" cy="550929"/>
          </a:xfrm>
          <a:prstGeom prst="roundRect">
            <a:avLst>
              <a:gd fmla="val 10000" name="adj"/>
            </a:avLst>
          </a:prstGeom>
          <a:solidFill>
            <a:srgbClr val="00B050"/>
          </a:solidFill>
          <a:ln cap="flat" cmpd="sng" w="12700">
            <a:solidFill>
              <a:srgbClr val="1D25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Core message: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3493698" y="5055079"/>
            <a:ext cx="8119182" cy="9395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Integration is not a separate programme; it is the way the health system organizes people, platforms, information and resources around the patient.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 txBox="1"/>
          <p:nvPr>
            <p:ph type="title"/>
          </p:nvPr>
        </p:nvSpPr>
        <p:spPr>
          <a:xfrm>
            <a:off x="609600" y="447158"/>
            <a:ext cx="11172012" cy="744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Integration Framework</a:t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1463040" y="2111048"/>
            <a:ext cx="9006840" cy="18288"/>
          </a:xfrm>
          <a:prstGeom prst="rect">
            <a:avLst/>
          </a:prstGeom>
          <a:solidFill>
            <a:srgbClr val="E3E7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764024" y="1406960"/>
            <a:ext cx="24688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764024" y="1273864"/>
            <a:ext cx="2468880" cy="73152"/>
          </a:xfrm>
          <a:prstGeom prst="rect">
            <a:avLst/>
          </a:prstGeom>
          <a:solidFill>
            <a:srgbClr val="1D25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4956048" y="134295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750"/>
              <a:buFont typeface="Calibri"/>
              <a:buNone/>
            </a:pPr>
            <a:r>
              <a:rPr b="1" i="0" lang="en-US" sz="17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Integration Framework</a:t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1472184" y="2145076"/>
            <a:ext cx="274320" cy="274320"/>
          </a:xfrm>
          <a:prstGeom prst="ellipse">
            <a:avLst/>
          </a:prstGeom>
          <a:solidFill>
            <a:srgbClr val="008C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731520" y="2385368"/>
            <a:ext cx="23317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731520" y="2385368"/>
            <a:ext cx="2331720" cy="137160"/>
          </a:xfrm>
          <a:prstGeom prst="rect">
            <a:avLst/>
          </a:prstGeom>
          <a:solidFill>
            <a:srgbClr val="1D25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731520" y="2385368"/>
            <a:ext cx="36576" cy="137160"/>
          </a:xfrm>
          <a:prstGeom prst="rect">
            <a:avLst/>
          </a:prstGeom>
          <a:solidFill>
            <a:srgbClr val="008C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877824" y="2613968"/>
            <a:ext cx="20299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460"/>
              <a:buFont typeface="Calibri"/>
              <a:buNone/>
            </a:pPr>
            <a:r>
              <a:rPr b="1" i="0" lang="en-US" sz="146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System &amp; Service</a:t>
            </a:r>
            <a:br>
              <a:rPr b="1" i="0" lang="en-US" sz="146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6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Delivery Adaptations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896112" y="3263192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Aligning services, workflows and platforms for integrated care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Coordinated systems</a:t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4517136" y="2129336"/>
            <a:ext cx="274320" cy="274320"/>
          </a:xfrm>
          <a:prstGeom prst="ellipse">
            <a:avLst/>
          </a:prstGeom>
          <a:solidFill>
            <a:srgbClr val="11764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3767328" y="2385368"/>
            <a:ext cx="23317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3767328" y="2385368"/>
            <a:ext cx="2331720" cy="137160"/>
          </a:xfrm>
          <a:prstGeom prst="rect">
            <a:avLst/>
          </a:prstGeom>
          <a:solidFill>
            <a:srgbClr val="1D25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3767328" y="2385368"/>
            <a:ext cx="36576" cy="137160"/>
          </a:xfrm>
          <a:prstGeom prst="rect">
            <a:avLst/>
          </a:prstGeom>
          <a:solidFill>
            <a:srgbClr val="11764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3913632" y="2613968"/>
            <a:ext cx="20299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460"/>
              <a:buFont typeface="Calibri"/>
              <a:buNone/>
            </a:pPr>
            <a:r>
              <a:rPr b="1" i="0" lang="en-US" sz="146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Levels of</a:t>
            </a:r>
            <a:br>
              <a:rPr b="1" i="0" lang="en-US" sz="146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6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3931920" y="3263192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1.  Macro (National)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2.  Meso (Regional/DHT)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3.  Micro (Facility)</a:t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7208923" y="2119839"/>
            <a:ext cx="274320" cy="274320"/>
          </a:xfrm>
          <a:prstGeom prst="ellipse">
            <a:avLst/>
          </a:prstGeom>
          <a:solidFill>
            <a:srgbClr val="4E5FB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345936" y="2385368"/>
            <a:ext cx="23317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345936" y="2385368"/>
            <a:ext cx="2331720" cy="137160"/>
          </a:xfrm>
          <a:prstGeom prst="rect">
            <a:avLst/>
          </a:prstGeom>
          <a:solidFill>
            <a:srgbClr val="1D25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6345936" y="2385368"/>
            <a:ext cx="36576" cy="137160"/>
          </a:xfrm>
          <a:prstGeom prst="rect">
            <a:avLst/>
          </a:prstGeom>
          <a:solidFill>
            <a:srgbClr val="4E5FB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6492240" y="2613968"/>
            <a:ext cx="20299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460"/>
              <a:buFont typeface="Calibri"/>
              <a:buNone/>
            </a:pPr>
            <a:r>
              <a:rPr b="1" i="0" lang="en-US" sz="146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6510528" y="3263192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1.  Stabilisation Phase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2.  Consolidation Phase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3.  Transformation Phase</a:t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9885181" y="2111048"/>
            <a:ext cx="274320" cy="274320"/>
          </a:xfrm>
          <a:prstGeom prst="ellipse">
            <a:avLst/>
          </a:prstGeom>
          <a:solidFill>
            <a:srgbClr val="E69E1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9144000" y="2385368"/>
            <a:ext cx="23317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9144000" y="2385368"/>
            <a:ext cx="2331720" cy="137160"/>
          </a:xfrm>
          <a:prstGeom prst="rect">
            <a:avLst/>
          </a:prstGeom>
          <a:solidFill>
            <a:srgbClr val="1D25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9144000" y="2385368"/>
            <a:ext cx="36576" cy="137160"/>
          </a:xfrm>
          <a:prstGeom prst="rect">
            <a:avLst/>
          </a:prstGeom>
          <a:solidFill>
            <a:srgbClr val="E69E1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9290304" y="2613968"/>
            <a:ext cx="20299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460"/>
              <a:buFont typeface="Calibri"/>
              <a:buNone/>
            </a:pPr>
            <a:r>
              <a:rPr b="1" i="0" lang="en-US" sz="146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Maturity Matrix</a:t>
            </a:r>
            <a:endParaRPr/>
          </a:p>
        </p:txBody>
      </p:sp>
      <p:sp>
        <p:nvSpPr>
          <p:cNvPr id="244" name="Google Shape;244;p5"/>
          <p:cNvSpPr txBox="1"/>
          <p:nvPr/>
        </p:nvSpPr>
        <p:spPr>
          <a:xfrm>
            <a:off x="9308592" y="3263192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Level 1: No 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Level 2: Minimal alignment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Level 3: Partial 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Level 4: Strong alignment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58606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Level 5: Full integration</a:t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658368" y="4744520"/>
            <a:ext cx="1078992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1874519" y="48176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What success looks like (patient-centred care &amp; health-system efficiencies)</a:t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932688" y="5183432"/>
            <a:ext cx="2880360" cy="896112"/>
          </a:xfrm>
          <a:prstGeom prst="roundRect">
            <a:avLst>
              <a:gd fmla="val 16667" name="adj"/>
            </a:avLst>
          </a:prstGeom>
          <a:solidFill>
            <a:srgbClr val="E8EEFA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1042416" y="532059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480"/>
              <a:buFont typeface="Calibri"/>
              <a:buNone/>
            </a:pPr>
            <a:r>
              <a:rPr b="1" i="0" lang="en-US" sz="148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Client experience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1097280" y="5658920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Fewer visits and queues; one care plan; respectful, continuous care.</a:t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4343400" y="5183432"/>
            <a:ext cx="2880360" cy="896112"/>
          </a:xfrm>
          <a:prstGeom prst="roundRect">
            <a:avLst>
              <a:gd fmla="val 16667" name="adj"/>
            </a:avLst>
          </a:prstGeom>
          <a:solidFill>
            <a:srgbClr val="EAF3ED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4453128" y="532059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480"/>
              <a:buFont typeface="Calibri"/>
              <a:buNone/>
            </a:pPr>
            <a:r>
              <a:rPr b="1" i="0" lang="en-US" sz="148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Health outcomes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4507992" y="5658920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Improved continuity, adherence and timely referrals; better outcomes.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7754112" y="5183432"/>
            <a:ext cx="3184182" cy="896112"/>
          </a:xfrm>
          <a:prstGeom prst="roundRect">
            <a:avLst>
              <a:gd fmla="val 16667" name="adj"/>
            </a:avLst>
          </a:prstGeom>
          <a:solidFill>
            <a:srgbClr val="EEF1F8"/>
          </a:solidFill>
          <a:ln cap="flat" cmpd="sng" w="9525">
            <a:solidFill>
              <a:srgbClr val="E3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 txBox="1"/>
          <p:nvPr/>
        </p:nvSpPr>
        <p:spPr>
          <a:xfrm>
            <a:off x="7863840" y="532059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480"/>
              <a:buFont typeface="Calibri"/>
              <a:buNone/>
            </a:pPr>
            <a:r>
              <a:rPr b="1" i="0" lang="en-US" sz="148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System efficiency</a:t>
            </a:r>
            <a:endParaRPr/>
          </a:p>
        </p:txBody>
      </p:sp>
      <p:sp>
        <p:nvSpPr>
          <p:cNvPr id="255" name="Google Shape;255;p5"/>
          <p:cNvSpPr txBox="1"/>
          <p:nvPr/>
        </p:nvSpPr>
        <p:spPr>
          <a:xfrm>
            <a:off x="7918704" y="5658920"/>
            <a:ext cx="3019590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120"/>
              <a:buFont typeface="Calibri"/>
              <a:buNone/>
            </a:pPr>
            <a:r>
              <a:rPr b="0" i="0" lang="en-US" sz="112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Reduced duplication, streamlined workflows, integrated reporting and supervision.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0" y="6920792"/>
            <a:ext cx="12191695" cy="27432"/>
          </a:xfrm>
          <a:prstGeom prst="rect">
            <a:avLst/>
          </a:prstGeom>
          <a:solidFill>
            <a:srgbClr val="008C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"/>
          <p:cNvSpPr txBox="1"/>
          <p:nvPr>
            <p:ph type="title"/>
          </p:nvPr>
        </p:nvSpPr>
        <p:spPr>
          <a:xfrm>
            <a:off x="448056" y="2662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4400"/>
              <a:buFont typeface="Times New Roman"/>
              <a:buNone/>
            </a:pPr>
            <a:r>
              <a:rPr b="1" lang="en-US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Enabling Environment</a:t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914400" y="1500149"/>
            <a:ext cx="9966960" cy="18288"/>
          </a:xfrm>
          <a:prstGeom prst="rect">
            <a:avLst/>
          </a:prstGeom>
          <a:solidFill>
            <a:srgbClr val="E3E7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800702" y="1664382"/>
            <a:ext cx="402336" cy="402336"/>
          </a:xfrm>
          <a:prstGeom prst="ellipse">
            <a:avLst/>
          </a:prstGeom>
          <a:solidFill>
            <a:srgbClr val="11764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374902" y="2105230"/>
            <a:ext cx="2551177" cy="513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Policy, Planning &amp; Financing</a:t>
            </a:r>
            <a:br>
              <a:rPr b="1" i="0" lang="en-US" sz="15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/>
          </a:p>
        </p:txBody>
      </p:sp>
      <p:sp>
        <p:nvSpPr>
          <p:cNvPr id="265" name="Google Shape;265;p6"/>
          <p:cNvSpPr txBox="1"/>
          <p:nvPr/>
        </p:nvSpPr>
        <p:spPr>
          <a:xfrm>
            <a:off x="374902" y="2692003"/>
            <a:ext cx="2253996" cy="134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5860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PS Circular</a:t>
            </a:r>
            <a:endParaRPr b="0" i="0" sz="1200" u="none" cap="none" strike="noStrike">
              <a:solidFill>
                <a:srgbClr val="5860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Practical Guide issued</a:t>
            </a:r>
            <a:endParaRPr sz="1200">
              <a:solidFill>
                <a:srgbClr val="5860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Integration framework developed</a:t>
            </a:r>
            <a:endParaRPr b="0" i="0" sz="1200" u="none" cap="none" strike="noStrike">
              <a:solidFill>
                <a:srgbClr val="5860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Financing arrangement to align resources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3573605" y="2094376"/>
            <a:ext cx="2180213" cy="513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Governance Structures</a:t>
            </a:r>
            <a:br>
              <a:rPr b="1" i="0" lang="en-US" sz="15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Established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3228781" y="2917768"/>
            <a:ext cx="3186943" cy="579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NACI operationalized; national rollout begins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Departmental reforms initiated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Regional Integrated Care Systems transition</a:t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4226278" y="1635277"/>
            <a:ext cx="402336" cy="402336"/>
          </a:xfrm>
          <a:prstGeom prst="ellipse">
            <a:avLst/>
          </a:prstGeom>
          <a:solidFill>
            <a:srgbClr val="0E98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6238020" y="2224495"/>
            <a:ext cx="1600200" cy="275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Learning 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6345613" y="2809360"/>
            <a:ext cx="2815339" cy="961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Regional update webinars launched nationally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National SOPs introduced and training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Integrated conferences JASH/CDNCD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Sentinel sites</a:t>
            </a:r>
            <a:endParaRPr b="0" i="0" sz="1200" u="none" cap="none" strike="noStrike">
              <a:solidFill>
                <a:srgbClr val="5860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7018196" y="1503519"/>
            <a:ext cx="402336" cy="402336"/>
          </a:xfrm>
          <a:prstGeom prst="ellipse">
            <a:avLst/>
          </a:prstGeom>
          <a:solidFill>
            <a:srgbClr val="0E98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9427407" y="2180807"/>
            <a:ext cx="2389690" cy="275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Monitoring and Evaluation</a:t>
            </a:r>
            <a:endParaRPr/>
          </a:p>
        </p:txBody>
      </p:sp>
      <p:sp>
        <p:nvSpPr>
          <p:cNvPr id="273" name="Google Shape;273;p6"/>
          <p:cNvSpPr txBox="1"/>
          <p:nvPr/>
        </p:nvSpPr>
        <p:spPr>
          <a:xfrm>
            <a:off x="9427407" y="2757302"/>
            <a:ext cx="2243386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National supervision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5860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8606E"/>
                </a:solidFill>
                <a:latin typeface="Calibri"/>
                <a:ea typeface="Calibri"/>
                <a:cs typeface="Calibri"/>
                <a:sym typeface="Calibri"/>
              </a:rPr>
              <a:t>•  Research and evaluation agenda</a:t>
            </a:r>
            <a:endParaRPr b="0" i="0" sz="1200" u="none" cap="none" strike="noStrike">
              <a:solidFill>
                <a:srgbClr val="5860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9869424" y="1729038"/>
            <a:ext cx="402336" cy="402336"/>
          </a:xfrm>
          <a:prstGeom prst="ellipse">
            <a:avLst/>
          </a:prstGeom>
          <a:solidFill>
            <a:srgbClr val="4E5FB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374903" y="5216602"/>
            <a:ext cx="1583293" cy="5909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Shift in emphasis</a:t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343775" y="1212627"/>
            <a:ext cx="11108210" cy="28315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Policy and guidance at scale  →     standardized implementation                     →  measurement, accountability and learning</a:t>
            </a:r>
            <a:endParaRPr/>
          </a:p>
        </p:txBody>
      </p:sp>
      <p:sp>
        <p:nvSpPr>
          <p:cNvPr id="277" name="Google Shape;277;p6"/>
          <p:cNvSpPr txBox="1"/>
          <p:nvPr/>
        </p:nvSpPr>
        <p:spPr>
          <a:xfrm>
            <a:off x="2133744" y="5260448"/>
            <a:ext cx="9808752" cy="529376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Together, these instruments make integration a structured health-system reform rather than a facility-by-facility improvisation.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/>
          <p:nvPr/>
        </p:nvSpPr>
        <p:spPr>
          <a:xfrm>
            <a:off x="502920" y="68580"/>
            <a:ext cx="10515600" cy="516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at Glance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69900" y="754381"/>
            <a:ext cx="11587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Domains 1–2: Leadership and Service Delivery Reorganization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02920" y="1600200"/>
            <a:ext cx="5394960" cy="4572000"/>
          </a:xfrm>
          <a:prstGeom prst="roundRect">
            <a:avLst>
              <a:gd fmla="val 1600" name="adj"/>
            </a:avLst>
          </a:prstGeom>
          <a:solidFill>
            <a:srgbClr val="F7F9FC"/>
          </a:solidFill>
          <a:ln>
            <a:noFill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777240" y="18288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1 — Leadership &amp; Governance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77240" y="22860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National Level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822960" y="2903220"/>
            <a:ext cx="4846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NACI operational; integration maturity framework finalized</a:t>
            </a:r>
            <a:b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Guidelines for integrated service delivery completed</a:t>
            </a:r>
            <a:b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Weekly national learning webinars chaired by the Director General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777240" y="4384548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Subnational Level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777240" y="4818888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RRH Directors coordinating implementation regionally; action plans developed for every district</a:t>
            </a:r>
            <a:b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All district leaders engaged — </a:t>
            </a: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 RRH Directors, </a:t>
            </a: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CAOs, DHOs, CHOs, facility in-charges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263640" y="1600200"/>
            <a:ext cx="5425135" cy="4572000"/>
          </a:xfrm>
          <a:prstGeom prst="roundRect">
            <a:avLst>
              <a:gd fmla="val 1600" name="adj"/>
            </a:avLst>
          </a:prstGeom>
          <a:solidFill>
            <a:srgbClr val="F7F9FC"/>
          </a:solidFill>
          <a:ln>
            <a:noFill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6537960" y="1828800"/>
            <a:ext cx="48764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2 — Service Delivery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537960" y="2286000"/>
            <a:ext cx="48764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Before: standalone vertical clinics (ART, TB, Hypertension, Diabetes, General OPD) running in parallel.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7"/>
          <p:cNvCxnSpPr/>
          <p:nvPr/>
        </p:nvCxnSpPr>
        <p:spPr>
          <a:xfrm>
            <a:off x="6537960" y="3154680"/>
            <a:ext cx="4876495" cy="0"/>
          </a:xfrm>
          <a:prstGeom prst="straightConnector1">
            <a:avLst/>
          </a:prstGeom>
          <a:noFill/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7"/>
          <p:cNvSpPr/>
          <p:nvPr/>
        </p:nvSpPr>
        <p:spPr>
          <a:xfrm>
            <a:off x="6537959" y="3429000"/>
            <a:ext cx="48764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After: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537960" y="3886200"/>
            <a:ext cx="4876495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Lower-level facilities → single Integrated Mixed OPD</a:t>
            </a:r>
            <a:b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Higher-level facilities → General (Acute Care) OPD + Chronic Care OPD</a:t>
            </a:r>
            <a:b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Referral / linkage to specialist services as needed, with follow-up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830775" y="64922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MoH Integration Update — Sub-National Stakeholder Meeting, 20 July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Google Shape;304;p8"/>
          <p:cNvCxnSpPr/>
          <p:nvPr/>
        </p:nvCxnSpPr>
        <p:spPr>
          <a:xfrm>
            <a:off x="6096000" y="1417752"/>
            <a:ext cx="0" cy="506793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5" name="Google Shape;305;p8"/>
          <p:cNvSpPr/>
          <p:nvPr/>
        </p:nvSpPr>
        <p:spPr>
          <a:xfrm>
            <a:off x="1956625" y="1417752"/>
            <a:ext cx="2806836" cy="453666"/>
          </a:xfrm>
          <a:prstGeom prst="roundRect">
            <a:avLst>
              <a:gd fmla="val 16667" name="adj"/>
            </a:avLst>
          </a:prstGeom>
          <a:solidFill>
            <a:srgbClr val="528DD5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7715679" y="1417752"/>
            <a:ext cx="2806836" cy="453666"/>
          </a:xfrm>
          <a:prstGeom prst="roundRect">
            <a:avLst>
              <a:gd fmla="val 16667" name="adj"/>
            </a:avLst>
          </a:prstGeom>
          <a:solidFill>
            <a:srgbClr val="0F243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07" name="Google Shape;307;p8"/>
          <p:cNvGrpSpPr/>
          <p:nvPr/>
        </p:nvGrpSpPr>
        <p:grpSpPr>
          <a:xfrm>
            <a:off x="459586" y="2550905"/>
            <a:ext cx="2360292" cy="1191737"/>
            <a:chOff x="446567" y="2550856"/>
            <a:chExt cx="2360425" cy="1191804"/>
          </a:xfrm>
        </p:grpSpPr>
        <p:grpSp>
          <p:nvGrpSpPr>
            <p:cNvPr id="308" name="Google Shape;308;p8"/>
            <p:cNvGrpSpPr/>
            <p:nvPr/>
          </p:nvGrpSpPr>
          <p:grpSpPr>
            <a:xfrm>
              <a:off x="446567" y="2550856"/>
              <a:ext cx="2360425" cy="1191804"/>
              <a:chOff x="446567" y="2550856"/>
              <a:chExt cx="2360425" cy="1191804"/>
            </a:xfrm>
          </p:grpSpPr>
          <p:sp>
            <p:nvSpPr>
              <p:cNvPr id="309" name="Google Shape;309;p8"/>
              <p:cNvSpPr/>
              <p:nvPr/>
            </p:nvSpPr>
            <p:spPr>
              <a:xfrm>
                <a:off x="446567" y="2550856"/>
                <a:ext cx="2360425" cy="453692"/>
              </a:xfrm>
              <a:prstGeom prst="trapezoid">
                <a:avLst>
                  <a:gd fmla="val 25000" name="adj"/>
                </a:avLst>
              </a:prstGeom>
              <a:solidFill>
                <a:srgbClr val="F2DADA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General OPD</a:t>
                </a:r>
                <a:endParaRPr/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609600" y="3014330"/>
                <a:ext cx="2006007" cy="728330"/>
              </a:xfrm>
              <a:prstGeom prst="rect">
                <a:avLst/>
              </a:prstGeom>
              <a:solidFill>
                <a:srgbClr val="7F7F7F"/>
              </a:soli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1" name="Google Shape;311;p8"/>
            <p:cNvSpPr/>
            <p:nvPr/>
          </p:nvSpPr>
          <p:spPr>
            <a:xfrm>
              <a:off x="850605" y="3168502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1364510" y="3169716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1924491" y="3168502"/>
              <a:ext cx="318976" cy="506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4" name="Google Shape;314;p8"/>
          <p:cNvCxnSpPr/>
          <p:nvPr/>
        </p:nvCxnSpPr>
        <p:spPr>
          <a:xfrm rot="10800000">
            <a:off x="6422117" y="4033727"/>
            <a:ext cx="561105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5" name="Google Shape;315;p8"/>
          <p:cNvSpPr txBox="1"/>
          <p:nvPr/>
        </p:nvSpPr>
        <p:spPr>
          <a:xfrm>
            <a:off x="6178618" y="2329015"/>
            <a:ext cx="1705039" cy="1323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Lower Level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Health Units and some Higher-Level units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6357462" y="5632991"/>
            <a:ext cx="1906818" cy="830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Higher Level Facilities with space and infrastructure</a:t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8298794" y="5786289"/>
            <a:ext cx="2163563" cy="706903"/>
          </a:xfrm>
          <a:prstGeom prst="ellipse">
            <a:avLst/>
          </a:prstGeom>
          <a:solidFill>
            <a:srgbClr val="632423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Linkage / Referral to Specialist Services as needed by patient</a:t>
            </a:r>
            <a:endParaRPr/>
          </a:p>
        </p:txBody>
      </p:sp>
      <p:grpSp>
        <p:nvGrpSpPr>
          <p:cNvPr id="318" name="Google Shape;318;p8"/>
          <p:cNvGrpSpPr/>
          <p:nvPr/>
        </p:nvGrpSpPr>
        <p:grpSpPr>
          <a:xfrm>
            <a:off x="7949898" y="2289275"/>
            <a:ext cx="2633552" cy="1191726"/>
            <a:chOff x="340112" y="2550867"/>
            <a:chExt cx="2633700" cy="1191793"/>
          </a:xfrm>
        </p:grpSpPr>
        <p:grpSp>
          <p:nvGrpSpPr>
            <p:cNvPr id="319" name="Google Shape;319;p8"/>
            <p:cNvGrpSpPr/>
            <p:nvPr/>
          </p:nvGrpSpPr>
          <p:grpSpPr>
            <a:xfrm>
              <a:off x="340112" y="2550867"/>
              <a:ext cx="2633700" cy="1191793"/>
              <a:chOff x="340112" y="2550867"/>
              <a:chExt cx="2633700" cy="1191793"/>
            </a:xfrm>
          </p:grpSpPr>
          <p:sp>
            <p:nvSpPr>
              <p:cNvPr id="320" name="Google Shape;320;p8"/>
              <p:cNvSpPr/>
              <p:nvPr/>
            </p:nvSpPr>
            <p:spPr>
              <a:xfrm>
                <a:off x="340112" y="2550867"/>
                <a:ext cx="2633700" cy="453600"/>
              </a:xfrm>
              <a:prstGeom prst="trapezoid">
                <a:avLst>
                  <a:gd fmla="val 25000" name="adj"/>
                </a:avLst>
              </a:prstGeom>
              <a:solidFill>
                <a:srgbClr val="F2DADA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Integrated Mixed</a:t>
                </a:r>
                <a:r>
                  <a:rPr b="1" lang="en-US" sz="1848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OPD</a:t>
                </a: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609600" y="3014330"/>
                <a:ext cx="2006007" cy="728330"/>
              </a:xfrm>
              <a:prstGeom prst="rect">
                <a:avLst/>
              </a:prstGeom>
              <a:solidFill>
                <a:srgbClr val="7F7F7F"/>
              </a:soli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2" name="Google Shape;322;p8"/>
            <p:cNvSpPr/>
            <p:nvPr/>
          </p:nvSpPr>
          <p:spPr>
            <a:xfrm>
              <a:off x="850605" y="3168502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1364510" y="3169716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1924491" y="3168502"/>
              <a:ext cx="318976" cy="506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8"/>
          <p:cNvGrpSpPr/>
          <p:nvPr/>
        </p:nvGrpSpPr>
        <p:grpSpPr>
          <a:xfrm>
            <a:off x="6392979" y="4324057"/>
            <a:ext cx="2360292" cy="1191737"/>
            <a:chOff x="446567" y="2550856"/>
            <a:chExt cx="2360425" cy="1191804"/>
          </a:xfrm>
        </p:grpSpPr>
        <p:grpSp>
          <p:nvGrpSpPr>
            <p:cNvPr id="326" name="Google Shape;326;p8"/>
            <p:cNvGrpSpPr/>
            <p:nvPr/>
          </p:nvGrpSpPr>
          <p:grpSpPr>
            <a:xfrm>
              <a:off x="446567" y="2550856"/>
              <a:ext cx="2360425" cy="1191804"/>
              <a:chOff x="446567" y="2550856"/>
              <a:chExt cx="2360425" cy="1191804"/>
            </a:xfrm>
          </p:grpSpPr>
          <p:sp>
            <p:nvSpPr>
              <p:cNvPr id="327" name="Google Shape;327;p8"/>
              <p:cNvSpPr/>
              <p:nvPr/>
            </p:nvSpPr>
            <p:spPr>
              <a:xfrm>
                <a:off x="446567" y="2550856"/>
                <a:ext cx="2360425" cy="453692"/>
              </a:xfrm>
              <a:prstGeom prst="trapezoid">
                <a:avLst>
                  <a:gd fmla="val 25000" name="adj"/>
                </a:avLst>
              </a:prstGeom>
              <a:solidFill>
                <a:srgbClr val="F2DADA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General OPD </a:t>
                </a:r>
                <a:b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(Acute Care)</a:t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609600" y="3014330"/>
                <a:ext cx="2006007" cy="728330"/>
              </a:xfrm>
              <a:prstGeom prst="rect">
                <a:avLst/>
              </a:prstGeom>
              <a:solidFill>
                <a:srgbClr val="7F7F7F"/>
              </a:soli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9" name="Google Shape;329;p8"/>
            <p:cNvSpPr/>
            <p:nvPr/>
          </p:nvSpPr>
          <p:spPr>
            <a:xfrm>
              <a:off x="850605" y="3168502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1364510" y="3169716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1924491" y="3168502"/>
              <a:ext cx="318976" cy="506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8"/>
          <p:cNvGrpSpPr/>
          <p:nvPr/>
        </p:nvGrpSpPr>
        <p:grpSpPr>
          <a:xfrm>
            <a:off x="9466469" y="4324057"/>
            <a:ext cx="2360292" cy="1191737"/>
            <a:chOff x="446567" y="2550856"/>
            <a:chExt cx="2360425" cy="1191804"/>
          </a:xfrm>
        </p:grpSpPr>
        <p:grpSp>
          <p:nvGrpSpPr>
            <p:cNvPr id="333" name="Google Shape;333;p8"/>
            <p:cNvGrpSpPr/>
            <p:nvPr/>
          </p:nvGrpSpPr>
          <p:grpSpPr>
            <a:xfrm>
              <a:off x="446567" y="2550856"/>
              <a:ext cx="2360425" cy="1191804"/>
              <a:chOff x="446567" y="2550856"/>
              <a:chExt cx="2360425" cy="1191804"/>
            </a:xfrm>
          </p:grpSpPr>
          <p:sp>
            <p:nvSpPr>
              <p:cNvPr id="334" name="Google Shape;334;p8"/>
              <p:cNvSpPr/>
              <p:nvPr/>
            </p:nvSpPr>
            <p:spPr>
              <a:xfrm>
                <a:off x="446567" y="2550856"/>
                <a:ext cx="2360425" cy="453692"/>
              </a:xfrm>
              <a:prstGeom prst="trapezoid">
                <a:avLst>
                  <a:gd fmla="val 25000" name="adj"/>
                </a:avLst>
              </a:prstGeom>
              <a:solidFill>
                <a:srgbClr val="F2DADA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Chronic Care OPD</a:t>
                </a: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609600" y="3014330"/>
                <a:ext cx="2006007" cy="728330"/>
              </a:xfrm>
              <a:prstGeom prst="rect">
                <a:avLst/>
              </a:prstGeom>
              <a:solidFill>
                <a:srgbClr val="7F7F7F"/>
              </a:solidFill>
              <a:ln cap="flat" cmpd="sng" w="9525">
                <a:solidFill>
                  <a:srgbClr val="528DD5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6" name="Google Shape;336;p8"/>
            <p:cNvSpPr/>
            <p:nvPr/>
          </p:nvSpPr>
          <p:spPr>
            <a:xfrm>
              <a:off x="850605" y="3168502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1364510" y="3169716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1924491" y="3168502"/>
              <a:ext cx="318976" cy="506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8"/>
          <p:cNvSpPr/>
          <p:nvPr/>
        </p:nvSpPr>
        <p:spPr>
          <a:xfrm>
            <a:off x="8850921" y="3809602"/>
            <a:ext cx="595673" cy="453666"/>
          </a:xfrm>
          <a:prstGeom prst="ellipse">
            <a:avLst/>
          </a:prstGeom>
          <a:solidFill>
            <a:srgbClr val="17365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40" name="Google Shape;340;p8"/>
          <p:cNvGrpSpPr/>
          <p:nvPr/>
        </p:nvGrpSpPr>
        <p:grpSpPr>
          <a:xfrm>
            <a:off x="3179309" y="2550905"/>
            <a:ext cx="2360292" cy="1191737"/>
            <a:chOff x="446567" y="2550856"/>
            <a:chExt cx="2360425" cy="1191804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446567" y="2550856"/>
              <a:ext cx="2360425" cy="1191804"/>
              <a:chOff x="446567" y="2550856"/>
              <a:chExt cx="2360425" cy="1191804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446567" y="2550856"/>
                <a:ext cx="2360425" cy="453692"/>
              </a:xfrm>
              <a:prstGeom prst="trapezoid">
                <a:avLst>
                  <a:gd fmla="val 25000" name="adj"/>
                </a:avLst>
              </a:prstGeom>
              <a:solidFill>
                <a:srgbClr val="F2DADA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ART Clinic</a:t>
                </a: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609600" y="3014330"/>
                <a:ext cx="2006007" cy="728330"/>
              </a:xfrm>
              <a:prstGeom prst="rect">
                <a:avLst/>
              </a:prstGeom>
              <a:solidFill>
                <a:srgbClr val="7F7F7F"/>
              </a:soli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4" name="Google Shape;344;p8"/>
            <p:cNvSpPr/>
            <p:nvPr/>
          </p:nvSpPr>
          <p:spPr>
            <a:xfrm>
              <a:off x="850605" y="3168502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1364510" y="3169716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1924491" y="3168502"/>
              <a:ext cx="318976" cy="506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8"/>
          <p:cNvGrpSpPr/>
          <p:nvPr/>
        </p:nvGrpSpPr>
        <p:grpSpPr>
          <a:xfrm>
            <a:off x="445409" y="4018085"/>
            <a:ext cx="2360292" cy="1191737"/>
            <a:chOff x="446567" y="2550856"/>
            <a:chExt cx="2360425" cy="1191804"/>
          </a:xfrm>
        </p:grpSpPr>
        <p:grpSp>
          <p:nvGrpSpPr>
            <p:cNvPr id="348" name="Google Shape;348;p8"/>
            <p:cNvGrpSpPr/>
            <p:nvPr/>
          </p:nvGrpSpPr>
          <p:grpSpPr>
            <a:xfrm>
              <a:off x="446567" y="2550856"/>
              <a:ext cx="2360425" cy="1191804"/>
              <a:chOff x="446567" y="2550856"/>
              <a:chExt cx="2360425" cy="1191804"/>
            </a:xfrm>
          </p:grpSpPr>
          <p:sp>
            <p:nvSpPr>
              <p:cNvPr id="349" name="Google Shape;349;p8"/>
              <p:cNvSpPr/>
              <p:nvPr/>
            </p:nvSpPr>
            <p:spPr>
              <a:xfrm>
                <a:off x="446567" y="2550856"/>
                <a:ext cx="2360425" cy="453692"/>
              </a:xfrm>
              <a:prstGeom prst="trapezoid">
                <a:avLst>
                  <a:gd fmla="val 25000" name="adj"/>
                </a:avLst>
              </a:prstGeom>
              <a:solidFill>
                <a:srgbClr val="F2DADA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TB Clinic</a:t>
                </a: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609600" y="3014330"/>
                <a:ext cx="2006007" cy="728330"/>
              </a:xfrm>
              <a:prstGeom prst="rect">
                <a:avLst/>
              </a:prstGeom>
              <a:solidFill>
                <a:srgbClr val="7F7F7F"/>
              </a:soli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1" name="Google Shape;351;p8"/>
            <p:cNvSpPr/>
            <p:nvPr/>
          </p:nvSpPr>
          <p:spPr>
            <a:xfrm>
              <a:off x="850605" y="3168502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1364510" y="3169716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924491" y="3168502"/>
              <a:ext cx="318976" cy="506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8"/>
          <p:cNvGrpSpPr/>
          <p:nvPr/>
        </p:nvGrpSpPr>
        <p:grpSpPr>
          <a:xfrm>
            <a:off x="3160099" y="4039827"/>
            <a:ext cx="2360292" cy="1191737"/>
            <a:chOff x="446567" y="2550856"/>
            <a:chExt cx="2360425" cy="1191804"/>
          </a:xfrm>
        </p:grpSpPr>
        <p:grpSp>
          <p:nvGrpSpPr>
            <p:cNvPr id="355" name="Google Shape;355;p8"/>
            <p:cNvGrpSpPr/>
            <p:nvPr/>
          </p:nvGrpSpPr>
          <p:grpSpPr>
            <a:xfrm>
              <a:off x="446567" y="2550856"/>
              <a:ext cx="2360425" cy="1191804"/>
              <a:chOff x="446567" y="2550856"/>
              <a:chExt cx="2360425" cy="1191804"/>
            </a:xfrm>
          </p:grpSpPr>
          <p:sp>
            <p:nvSpPr>
              <p:cNvPr id="356" name="Google Shape;356;p8"/>
              <p:cNvSpPr/>
              <p:nvPr/>
            </p:nvSpPr>
            <p:spPr>
              <a:xfrm>
                <a:off x="446567" y="2550856"/>
                <a:ext cx="2360425" cy="453692"/>
              </a:xfrm>
              <a:prstGeom prst="trapezoid">
                <a:avLst>
                  <a:gd fmla="val 25000" name="adj"/>
                </a:avLst>
              </a:prstGeom>
              <a:solidFill>
                <a:srgbClr val="F2DADA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Hypertension Clinic</a:t>
                </a: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609600" y="3014330"/>
                <a:ext cx="2006007" cy="728330"/>
              </a:xfrm>
              <a:prstGeom prst="rect">
                <a:avLst/>
              </a:prstGeom>
              <a:solidFill>
                <a:srgbClr val="7F7F7F"/>
              </a:soli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" name="Google Shape;358;p8"/>
            <p:cNvSpPr/>
            <p:nvPr/>
          </p:nvSpPr>
          <p:spPr>
            <a:xfrm>
              <a:off x="850605" y="3168502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1364510" y="3169716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1924491" y="3168502"/>
              <a:ext cx="318976" cy="506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8"/>
          <p:cNvGrpSpPr/>
          <p:nvPr/>
        </p:nvGrpSpPr>
        <p:grpSpPr>
          <a:xfrm>
            <a:off x="1656383" y="5522975"/>
            <a:ext cx="2360292" cy="1191737"/>
            <a:chOff x="446567" y="2550856"/>
            <a:chExt cx="2360425" cy="1191804"/>
          </a:xfrm>
        </p:grpSpPr>
        <p:grpSp>
          <p:nvGrpSpPr>
            <p:cNvPr id="362" name="Google Shape;362;p8"/>
            <p:cNvGrpSpPr/>
            <p:nvPr/>
          </p:nvGrpSpPr>
          <p:grpSpPr>
            <a:xfrm>
              <a:off x="446567" y="2550856"/>
              <a:ext cx="2360425" cy="1191804"/>
              <a:chOff x="446567" y="2550856"/>
              <a:chExt cx="2360425" cy="1191804"/>
            </a:xfrm>
          </p:grpSpPr>
          <p:sp>
            <p:nvSpPr>
              <p:cNvPr id="363" name="Google Shape;363;p8"/>
              <p:cNvSpPr/>
              <p:nvPr/>
            </p:nvSpPr>
            <p:spPr>
              <a:xfrm>
                <a:off x="446567" y="2550856"/>
                <a:ext cx="2360425" cy="453692"/>
              </a:xfrm>
              <a:prstGeom prst="trapezoid">
                <a:avLst>
                  <a:gd fmla="val 25000" name="adj"/>
                </a:avLst>
              </a:prstGeom>
              <a:solidFill>
                <a:srgbClr val="F2DADA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48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Diabetes Clinic</a:t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609600" y="3014330"/>
                <a:ext cx="2006007" cy="728330"/>
              </a:xfrm>
              <a:prstGeom prst="rect">
                <a:avLst/>
              </a:prstGeom>
              <a:solidFill>
                <a:srgbClr val="7F7F7F"/>
              </a:soli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5" name="Google Shape;365;p8"/>
            <p:cNvSpPr/>
            <p:nvPr/>
          </p:nvSpPr>
          <p:spPr>
            <a:xfrm>
              <a:off x="850605" y="3168502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1364510" y="3169716"/>
              <a:ext cx="318976" cy="2604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1924491" y="3168502"/>
              <a:ext cx="318976" cy="50679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8"/>
          <p:cNvSpPr txBox="1"/>
          <p:nvPr>
            <p:ph type="title"/>
          </p:nvPr>
        </p:nvSpPr>
        <p:spPr>
          <a:xfrm>
            <a:off x="609600" y="274638"/>
            <a:ext cx="10972800" cy="606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shift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"/>
          <p:cNvSpPr txBox="1"/>
          <p:nvPr>
            <p:ph type="title"/>
          </p:nvPr>
        </p:nvSpPr>
        <p:spPr>
          <a:xfrm>
            <a:off x="48468" y="180805"/>
            <a:ext cx="11998819" cy="79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Client flow &amp; Clinical Assessment and Care</a:t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144715" y="864572"/>
            <a:ext cx="4061284" cy="2564429"/>
          </a:xfrm>
          <a:prstGeom prst="roundRect">
            <a:avLst>
              <a:gd fmla="val 10752" name="adj"/>
            </a:avLst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4525" lIns="89050" spcFirstLastPara="1" rIns="89050" wrap="square" tIns="44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rPr>
              <a:t>INTEGRATED SCREENING &amp; TRIAGE IN OPD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client. </a:t>
            </a:r>
            <a:endParaRPr/>
          </a:p>
          <a:p>
            <a:pPr indent="-247653" lvl="0" marL="28575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sz="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53" lvl="0" marL="2851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 Vitals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(BP, Temp, Weight, Height, Pulse, RR) </a:t>
            </a: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classify triaged cases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emergency, urgent or routine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3" lvl="0" marL="28575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Noto Sans Symbols"/>
              <a:buNone/>
            </a:pPr>
            <a:r>
              <a:t/>
            </a:r>
            <a:endParaRPr sz="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Screen for different disease conditions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using available tools  </a:t>
            </a:r>
            <a:endParaRPr/>
          </a:p>
          <a:p>
            <a:pPr indent="-219078" lvl="0" marL="28575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t/>
            </a:r>
            <a:endParaRPr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7378628" y="2914680"/>
            <a:ext cx="4668658" cy="3752638"/>
          </a:xfrm>
          <a:prstGeom prst="roundRect">
            <a:avLst>
              <a:gd fmla="val 7706" name="adj"/>
            </a:avLst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rPr>
              <a:t>PATIENT-CENTERED CLINICAL ASSESSMENT AND INDIVIDUALIZED TREATMENT PLAN</a:t>
            </a:r>
            <a:br>
              <a:rPr b="1"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4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History taking and physical examination</a:t>
            </a:r>
            <a:endParaRPr/>
          </a:p>
          <a:p>
            <a:pPr indent="-127002" lvl="0" marL="17145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None/>
            </a:pPr>
            <a:r>
              <a:t/>
            </a:r>
            <a:endParaRPr b="1" sz="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Laboratory and diagnostic testing.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convenient POC tests where available. Radiology as needed.</a:t>
            </a:r>
            <a:endParaRPr/>
          </a:p>
          <a:p>
            <a:pPr indent="-104777" lvl="0" marL="17145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t/>
            </a:r>
            <a:endParaRPr b="1"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Clinicians must use </a:t>
            </a: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best prescription practices</a:t>
            </a:r>
            <a:endParaRPr/>
          </a:p>
          <a:p>
            <a:pPr indent="-139702" lvl="0" marL="17145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 Symbols"/>
              <a:buNone/>
            </a:pPr>
            <a:r>
              <a:t/>
            </a:r>
            <a:endParaRPr sz="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Counseling and Treatment Support</a:t>
            </a:r>
            <a:endParaRPr/>
          </a:p>
          <a:p>
            <a:pPr indent="-133352" lvl="0" marL="17145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sz="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specialist services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needed</a:t>
            </a:r>
            <a:endParaRPr/>
          </a:p>
          <a:p>
            <a:pPr indent="-139702" lvl="0" marL="17145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 Symbols"/>
              <a:buNone/>
            </a:pPr>
            <a:r>
              <a:t/>
            </a:r>
            <a:endParaRPr sz="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Preventive services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vaccinations, nutritional support, condoms etc.</a:t>
            </a:r>
            <a:endParaRPr/>
          </a:p>
          <a:p>
            <a:pPr indent="-133352" lvl="0" marL="17145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sz="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Obtain client feedback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(Satisfaction Surveys, Exit Interviews and populate the National Dashboard)</a:t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157411" y="3776201"/>
            <a:ext cx="4061285" cy="2844191"/>
          </a:xfrm>
          <a:prstGeom prst="roundRect">
            <a:avLst>
              <a:gd fmla="val 9901" name="adj"/>
            </a:avLst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rPr>
              <a:t>FOLLOW-UP (CHRONIC CARE MODEL)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Aligned appointment system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 family-based, comorbid conditions on same day, MMD</a:t>
            </a:r>
            <a:endParaRPr/>
          </a:p>
          <a:p>
            <a:pPr indent="-196853" lvl="0" marL="28575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Treatment support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adherence</a:t>
            </a:r>
            <a:endParaRPr/>
          </a:p>
          <a:p>
            <a:pPr indent="-196853" lvl="0" marL="28575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to community workers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tracking</a:t>
            </a:r>
            <a:endParaRPr/>
          </a:p>
          <a:p>
            <a:pPr indent="-196853" lvl="0" marL="28575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Empower patients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e.g., support groups, self-management</a:t>
            </a:r>
            <a:b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Follow-up of Referrals</a:t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7467523" y="856237"/>
            <a:ext cx="4470148" cy="1813528"/>
          </a:xfrm>
          <a:prstGeom prst="roundRect">
            <a:avLst>
              <a:gd fmla="val 7949" name="adj"/>
            </a:avLst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rPr>
              <a:t>HEALTH EDUCATION AND APPOINTMENT MANAGEMENT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3" lvl="0" marL="28575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b="1" sz="6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Conduct Integrated Health Talks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disease prevention, lifestyle modification, adherence</a:t>
            </a: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3" lvl="0" marL="28575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if on </a:t>
            </a: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Appointment Date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Retrieve files the day before for chronic care patients.</a:t>
            </a:r>
            <a:endParaRPr/>
          </a:p>
          <a:p>
            <a:pPr indent="-254003" lvl="0" marL="28575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 Symbols"/>
              <a:buNone/>
            </a:pPr>
            <a:r>
              <a:t/>
            </a:r>
            <a:endParaRPr sz="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428392" y="4166305"/>
            <a:ext cx="2805849" cy="1443555"/>
          </a:xfrm>
          <a:prstGeom prst="roundRect">
            <a:avLst>
              <a:gd fmla="val 16667" name="adj"/>
            </a:avLst>
          </a:prstGeom>
          <a:solidFill>
            <a:srgbClr val="FDE9D8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SUPPORT SYSTEMS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 RESOURCE</a:t>
            </a:r>
            <a:endParaRPr/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SYSTEM</a:t>
            </a:r>
            <a:endParaRPr/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QUALITY IMPROVEMENT</a:t>
            </a:r>
            <a:endParaRPr/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SUPPLY CHAIN</a:t>
            </a:r>
            <a:endParaRPr/>
          </a:p>
          <a:p>
            <a:pPr indent="-171452" lvl="0" marL="171452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COMMUNITY &amp; REFERRAL SYSTEMS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person, posing, wall, indoor&#10;&#10;AI-generated content may be incorrect." id="380" name="Google Shape;3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3374" y="1887259"/>
            <a:ext cx="2120554" cy="2120554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381" name="Google Shape;381;p9"/>
          <p:cNvSpPr/>
          <p:nvPr/>
        </p:nvSpPr>
        <p:spPr>
          <a:xfrm>
            <a:off x="4795431" y="5495813"/>
            <a:ext cx="2320204" cy="265986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Waste management System</a:t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277915" y="3187111"/>
            <a:ext cx="3928083" cy="435647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 for infectious diseases including of outbreak potential e.g., TB, mPox, EVD, Covid19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 flipH="1" rot="-5400000">
            <a:off x="5297888" y="-489048"/>
            <a:ext cx="1156542" cy="3792046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36609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 flipH="1" rot="5400000">
            <a:off x="5218323" y="4367114"/>
            <a:ext cx="1156542" cy="366557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36609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1796576" y="2775894"/>
            <a:ext cx="2409423" cy="363688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TB Screening and infection control- </a:t>
            </a:r>
            <a:r>
              <a:rPr i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isolate and treat</a:t>
            </a:r>
            <a:endParaRPr/>
          </a:p>
        </p:txBody>
      </p:sp>
      <p:pic>
        <p:nvPicPr>
          <p:cNvPr descr="Warning Sign In Yellow Triangle Shape, Warning, Safety ..." id="386" name="Google Shape;3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6891" y="2839911"/>
            <a:ext cx="459367" cy="45936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9"/>
          <p:cNvSpPr/>
          <p:nvPr/>
        </p:nvSpPr>
        <p:spPr>
          <a:xfrm>
            <a:off x="4590150" y="5805468"/>
            <a:ext cx="2611438" cy="265986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Emergency Ambulance Services</a:t>
            </a:r>
            <a:endParaRPr/>
          </a:p>
        </p:txBody>
      </p:sp>
      <p:pic>
        <p:nvPicPr>
          <p:cNvPr descr="Warning Sign In Yellow Triangle Shape, Warning, Safety ..." id="388" name="Google Shape;3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4885" y="5468558"/>
            <a:ext cx="459367" cy="459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"/>
          <p:cNvSpPr/>
          <p:nvPr/>
        </p:nvSpPr>
        <p:spPr>
          <a:xfrm>
            <a:off x="502920" y="14173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IMPLEMENTATION STANDARDS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02920" y="548640"/>
            <a:ext cx="11689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Domain 3–6: Supply Chain, Data, HR &amp; Laboratory Systems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10"/>
          <p:cNvCxnSpPr/>
          <p:nvPr/>
        </p:nvCxnSpPr>
        <p:spPr>
          <a:xfrm>
            <a:off x="502920" y="1353312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0"/>
          <p:cNvSpPr/>
          <p:nvPr/>
        </p:nvSpPr>
        <p:spPr>
          <a:xfrm>
            <a:off x="502920" y="1600200"/>
            <a:ext cx="5387188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731520" y="1801368"/>
            <a:ext cx="4929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731520" y="2093976"/>
            <a:ext cx="49299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Supply Chain &amp; Commodities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731520" y="2514600"/>
            <a:ext cx="49299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Integrated quantification and ordering for all essential medicines &amp; health supplies; one stock card per item; integrated OPD dispensing points at every facility level.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6301588" y="1600200"/>
            <a:ext cx="5387188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6530188" y="1801368"/>
            <a:ext cx="4929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6530188" y="2093976"/>
            <a:ext cx="49299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Integrated Data Systems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6530188" y="2514600"/>
            <a:ext cx="49299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HMIS forms being rationalized around patient care processes; e-AFYA rollout under way (Uganda EMR still used to capture data points not yet in e-AFYA); DHIS2 stabilization ongoing.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02920" y="3931920"/>
            <a:ext cx="5387188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731520" y="4133088"/>
            <a:ext cx="4929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731520" y="4425696"/>
            <a:ext cx="49299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Human Resources for Health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731520" y="4846320"/>
            <a:ext cx="49299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87% of targeted facilities trained (1,487 of 1,711); 26,766 frontline health workers reached; an HRH Optimization Plan for Integration is in development.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6301588" y="3931920"/>
            <a:ext cx="5387188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6530188" y="4133088"/>
            <a:ext cx="4929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530188" y="4425696"/>
            <a:ext cx="49299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Laboratory Systems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6530188" y="4846320"/>
            <a:ext cx="49299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Facilities have developed an integrated mechanism to coordinate sample collection and the return of results across programs.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830775" y="64922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MoH Integration Update — Sub-National Stakeholder Meeting, 20 July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/>
          <p:nvPr/>
        </p:nvSpPr>
        <p:spPr>
          <a:xfrm>
            <a:off x="502920" y="1859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IMPLEMENTATION STANDARDS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502920" y="548640"/>
            <a:ext cx="1159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Domain 7–9: Community Services, Financing &amp; Resources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1"/>
          <p:cNvCxnSpPr/>
          <p:nvPr/>
        </p:nvCxnSpPr>
        <p:spPr>
          <a:xfrm>
            <a:off x="502920" y="1353312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11"/>
          <p:cNvSpPr/>
          <p:nvPr/>
        </p:nvSpPr>
        <p:spPr>
          <a:xfrm>
            <a:off x="502920" y="1600200"/>
            <a:ext cx="3484778" cy="4572000"/>
          </a:xfrm>
          <a:prstGeom prst="roundRect">
            <a:avLst>
              <a:gd fmla="val 2099" name="adj"/>
            </a:avLst>
          </a:prstGeom>
          <a:solidFill>
            <a:srgbClr val="F7F9FC"/>
          </a:solidFill>
          <a:ln>
            <a:noFill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731520" y="1828800"/>
            <a:ext cx="3027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731520" y="2121408"/>
            <a:ext cx="30275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Community Health Services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731520" y="2926080"/>
            <a:ext cx="3027578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Integrated community outreaches by health facilities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Community-based DSD models (CCLAD, community pharmacies) for HIV and other chronic diseases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Home-based follow-up through VHTs, CHEWs and other CHWs; active client support groups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4353458" y="1600200"/>
            <a:ext cx="3484778" cy="4572000"/>
          </a:xfrm>
          <a:prstGeom prst="roundRect">
            <a:avLst>
              <a:gd fmla="val 2099" name="adj"/>
            </a:avLst>
          </a:prstGeom>
          <a:solidFill>
            <a:srgbClr val="F7F9FC"/>
          </a:solidFill>
          <a:ln>
            <a:noFill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4582058" y="1828800"/>
            <a:ext cx="3027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4582058" y="2121408"/>
            <a:ext cx="30275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Health Financing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4582058" y="2926080"/>
            <a:ext cx="3027578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Joint Planning and Budgeting Framework finalized, including a partner mapping tool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Roadmap developed to align resources; a Virtual Pool digital tool is under finalization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PHC funds and partner resources being utilized for integration in several facilities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8203997" y="1600200"/>
            <a:ext cx="3484778" cy="4572000"/>
          </a:xfrm>
          <a:prstGeom prst="roundRect">
            <a:avLst>
              <a:gd fmla="val 2099" name="adj"/>
            </a:avLst>
          </a:prstGeom>
          <a:solidFill>
            <a:srgbClr val="F7F9FC"/>
          </a:solidFill>
          <a:ln>
            <a:noFill/>
          </a:ln>
          <a:effectLst>
            <a:outerShdw blurRad="76200" rotWithShape="0" algn="bl" dir="5400000" dist="25400">
              <a:srgbClr val="1A2238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8432597" y="1828800"/>
            <a:ext cx="30275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9 &amp; 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8432597" y="2121408"/>
            <a:ext cx="30275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PHC Resources, Waste &amp; Equipment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8432597" y="2926080"/>
            <a:ext cx="3027578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Progressive utilization of shared PHC resources across programs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Waste management and equipment maintenance systems being strengthened alongside clinical integration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4830775" y="64922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MoH Integration Update — Sub-National Stakeholder Meeting, 20 July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"/>
          <p:cNvSpPr/>
          <p:nvPr/>
        </p:nvSpPr>
        <p:spPr>
          <a:xfrm>
            <a:off x="594360" y="320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C99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8C99"/>
                </a:solidFill>
                <a:latin typeface="Arial"/>
                <a:ea typeface="Arial"/>
                <a:cs typeface="Arial"/>
                <a:sym typeface="Arial"/>
              </a:rPr>
              <a:t>PERSISTENT GAPS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850392" y="58140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D255B"/>
                </a:solidFill>
                <a:latin typeface="Georgia"/>
                <a:ea typeface="Georgia"/>
                <a:cs typeface="Georgia"/>
                <a:sym typeface="Georgia"/>
              </a:rPr>
              <a:t>Areas Requiring Further Evidence and Action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12"/>
          <p:cNvCxnSpPr/>
          <p:nvPr/>
        </p:nvCxnSpPr>
        <p:spPr>
          <a:xfrm>
            <a:off x="594360" y="1170432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D8E2E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extracted_national/ppt/media/image3.png" id="445" name="Google Shape;4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8660" y="121921"/>
            <a:ext cx="1028700" cy="102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" name="Google Shape;446;p12"/>
          <p:cNvCxnSpPr/>
          <p:nvPr/>
        </p:nvCxnSpPr>
        <p:spPr>
          <a:xfrm>
            <a:off x="0" y="6812280"/>
            <a:ext cx="12191695" cy="0"/>
          </a:xfrm>
          <a:prstGeom prst="straightConnector1">
            <a:avLst/>
          </a:prstGeom>
          <a:noFill/>
          <a:ln cap="flat" cmpd="sng" w="27925">
            <a:solidFill>
              <a:srgbClr val="008C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12"/>
          <p:cNvSpPr/>
          <p:nvPr/>
        </p:nvSpPr>
        <p:spPr>
          <a:xfrm>
            <a:off x="594360" y="6556248"/>
            <a:ext cx="3200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5715000" y="6519672"/>
            <a:ext cx="5897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MoH Integration Update — High-Level Stakeholder Engagement Meeting, 20 July 2026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85800" y="1452378"/>
            <a:ext cx="5102352" cy="1309110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850392" y="1810512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850392" y="1892808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1344168" y="1669288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Digital-system fragmentation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1289304" y="2113794"/>
            <a:ext cx="4498848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e-AFYA and Uganda EMR are not yet interoperable, creating parallel data-entry burdens.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6263640" y="1470667"/>
            <a:ext cx="5102352" cy="1290821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6428232" y="1536192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D98200"/>
          </a:solidFill>
          <a:ln cap="flat" cmpd="sng" w="12700">
            <a:solidFill>
              <a:srgbClr val="D982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6397752" y="1639831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6922008" y="1677924"/>
            <a:ext cx="4584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Quality Improvement remains lowest-performing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6812280" y="2260081"/>
            <a:ext cx="4453128" cy="428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QI scores remain below other domains: 56% at regional level and 40% at facility level.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685800" y="3154680"/>
            <a:ext cx="5029200" cy="1409692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850392" y="3319272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850392" y="3401568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1344168" y="331927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Significant regional variation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1344168" y="3923034"/>
            <a:ext cx="4343400" cy="456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National averages mask important differences across contexts such as Kigezi, West Nile and Karamoja.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6263640" y="3154679"/>
            <a:ext cx="5303520" cy="1409693"/>
          </a:xfrm>
          <a:prstGeom prst="roundRect">
            <a:avLst>
              <a:gd fmla="val 4918" name="adj"/>
            </a:avLst>
          </a:prstGeom>
          <a:solidFill>
            <a:srgbClr val="FFFFFF"/>
          </a:solidFill>
          <a:ln cap="flat" cmpd="sng" w="12700">
            <a:solidFill>
              <a:srgbClr val="E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6428232" y="3319272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008C99"/>
          </a:solidFill>
          <a:ln cap="flat" cmpd="sng" w="12700">
            <a:solidFill>
              <a:srgbClr val="008C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6428232" y="3401568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6976872" y="337007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5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255B"/>
                </a:solidFill>
                <a:latin typeface="Calibri"/>
                <a:ea typeface="Calibri"/>
                <a:cs typeface="Calibri"/>
                <a:sym typeface="Calibri"/>
              </a:rPr>
              <a:t>Incomplete process–outcome linkage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6922008" y="3875537"/>
            <a:ext cx="4343400" cy="504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578"/>
                </a:solidFill>
                <a:latin typeface="Calibri"/>
                <a:ea typeface="Calibri"/>
                <a:cs typeface="Calibri"/>
                <a:sym typeface="Calibri"/>
              </a:rPr>
              <a:t>Further evaluation is required to understand how integration scores translate into retention, viral suppression and NCD outcomes.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868680" y="4846319"/>
            <a:ext cx="10396728" cy="1207003"/>
          </a:xfrm>
          <a:prstGeom prst="roundRect">
            <a:avLst>
              <a:gd fmla="val 7317" name="adj"/>
            </a:avLst>
          </a:prstGeom>
          <a:solidFill>
            <a:srgbClr val="1D255B"/>
          </a:solidFill>
          <a:ln cap="flat" cmpd="sng" w="12700">
            <a:solidFill>
              <a:srgbClr val="1D25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1143000" y="5074920"/>
            <a:ext cx="9738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where subnational experience, independent evaluation and sentinel-site learning become essential.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3"/>
          <p:cNvSpPr txBox="1"/>
          <p:nvPr>
            <p:ph type="title"/>
          </p:nvPr>
        </p:nvSpPr>
        <p:spPr>
          <a:xfrm>
            <a:off x="609600" y="277328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632423"/>
                </a:solidFill>
              </a:rPr>
              <a:t>Thank you</a:t>
            </a:r>
            <a:endParaRPr/>
          </a:p>
        </p:txBody>
      </p:sp>
      <p:pic>
        <p:nvPicPr>
          <p:cNvPr descr="Flag Uganda animated gif 240x180" id="476" name="Google Shape;4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4600" y="1352550"/>
            <a:ext cx="2286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  <dc:creator>Vennie Nabitaka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F1DC3FA1914B4FA1A0D217C7147F415E_13</vt:lpwstr>
  </property>
  <property fmtid="{D5CDD505-2E9C-101B-9397-08002B2CF9AE}" pid="3" name="KSOProductBuildVer">
    <vt:lpwstr>1033-12.2.0.20795</vt:lpwstr>
  </property>
</Properties>
</file>