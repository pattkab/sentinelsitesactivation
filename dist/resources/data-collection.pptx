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embeddedFontLst>
    <p:embeddedFont>
      <p:font typeface="Play"/>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8" roundtripDataSignature="AMtx7mjAS7KKBQv0GIuacvAMbcSruRoS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lay-bold.fntdata"/><Relationship Id="rId16" Type="http://schemas.openxmlformats.org/officeDocument/2006/relationships/font" Target="fonts/Play-regular.fntdata"/><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p:nvPr>
            <p:ph idx="2" type="pic"/>
          </p:nvPr>
        </p:nvSpPr>
        <p:spPr>
          <a:xfrm>
            <a:off x="1792288" y="612775"/>
            <a:ext cx="5486400" cy="4114800"/>
          </a:xfrm>
          <a:prstGeom prst="rect">
            <a:avLst/>
          </a:prstGeom>
          <a:noFill/>
          <a:ln>
            <a:noFill/>
          </a:ln>
        </p:spPr>
      </p:sp>
      <p:sp>
        <p:nvSpPr>
          <p:cNvPr id="64" name="Google Shape;64;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gif"/><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251789" y="2359086"/>
            <a:ext cx="11934788" cy="146994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5400"/>
              <a:buFont typeface="Calibri"/>
              <a:buNone/>
            </a:pPr>
            <a:r>
              <a:rPr b="1" i="0" lang="en-US" sz="5400" u="none" cap="none" strike="noStrike">
                <a:solidFill>
                  <a:schemeClr val="dk1"/>
                </a:solidFill>
                <a:latin typeface="Calibri"/>
                <a:ea typeface="Calibri"/>
                <a:cs typeface="Calibri"/>
                <a:sym typeface="Calibri"/>
              </a:rPr>
              <a:t>Support Supervision Tool for Sentinel Sites on Integration</a:t>
            </a:r>
            <a:endParaRPr b="0" i="0" sz="5400" u="none" cap="none" strike="noStrike">
              <a:solidFill>
                <a:schemeClr val="dk1"/>
              </a:solidFill>
              <a:latin typeface="Calibri"/>
              <a:ea typeface="Calibri"/>
              <a:cs typeface="Calibri"/>
              <a:sym typeface="Calibri"/>
            </a:endParaRPr>
          </a:p>
        </p:txBody>
      </p:sp>
      <p:grpSp>
        <p:nvGrpSpPr>
          <p:cNvPr id="85" name="Google Shape;85;p1"/>
          <p:cNvGrpSpPr/>
          <p:nvPr/>
        </p:nvGrpSpPr>
        <p:grpSpPr>
          <a:xfrm>
            <a:off x="-1140" y="74617"/>
            <a:ext cx="12193163" cy="152391"/>
            <a:chOff x="-1484" y="74428"/>
            <a:chExt cx="12193851" cy="152400"/>
          </a:xfrm>
        </p:grpSpPr>
        <p:cxnSp>
          <p:nvCxnSpPr>
            <p:cNvPr id="86" name="Google Shape;86;p1"/>
            <p:cNvCxnSpPr/>
            <p:nvPr/>
          </p:nvCxnSpPr>
          <p:spPr>
            <a:xfrm>
              <a:off x="0" y="74428"/>
              <a:ext cx="12192000" cy="0"/>
            </a:xfrm>
            <a:prstGeom prst="straightConnector1">
              <a:avLst/>
            </a:prstGeom>
            <a:noFill/>
            <a:ln cap="flat" cmpd="sng" w="76200">
              <a:solidFill>
                <a:schemeClr val="dk1"/>
              </a:solidFill>
              <a:prstDash val="solid"/>
              <a:round/>
              <a:headEnd len="sm" w="sm" type="none"/>
              <a:tailEnd len="sm" w="sm" type="none"/>
            </a:ln>
            <a:effectLst>
              <a:outerShdw blurRad="40000" rotWithShape="0" dir="5400000" dist="20000">
                <a:srgbClr val="000000">
                  <a:alpha val="38039"/>
                </a:srgbClr>
              </a:outerShdw>
            </a:effectLst>
          </p:spPr>
        </p:cxnSp>
        <p:cxnSp>
          <p:nvCxnSpPr>
            <p:cNvPr id="87" name="Google Shape;87;p1"/>
            <p:cNvCxnSpPr/>
            <p:nvPr/>
          </p:nvCxnSpPr>
          <p:spPr>
            <a:xfrm>
              <a:off x="367" y="226828"/>
              <a:ext cx="12192000" cy="0"/>
            </a:xfrm>
            <a:prstGeom prst="straightConnector1">
              <a:avLst/>
            </a:prstGeom>
            <a:noFill/>
            <a:ln cap="flat" cmpd="sng" w="76200">
              <a:solidFill>
                <a:srgbClr val="FF0000"/>
              </a:solidFill>
              <a:prstDash val="solid"/>
              <a:round/>
              <a:headEnd len="sm" w="sm" type="none"/>
              <a:tailEnd len="sm" w="sm" type="none"/>
            </a:ln>
            <a:effectLst>
              <a:outerShdw blurRad="40000" rotWithShape="0" dir="5400000" dist="20000">
                <a:srgbClr val="000000">
                  <a:alpha val="38039"/>
                </a:srgbClr>
              </a:outerShdw>
            </a:effectLst>
          </p:spPr>
        </p:cxnSp>
        <p:cxnSp>
          <p:nvCxnSpPr>
            <p:cNvPr id="88" name="Google Shape;88;p1"/>
            <p:cNvCxnSpPr/>
            <p:nvPr/>
          </p:nvCxnSpPr>
          <p:spPr>
            <a:xfrm>
              <a:off x="-1484" y="145301"/>
              <a:ext cx="12192000" cy="0"/>
            </a:xfrm>
            <a:prstGeom prst="straightConnector1">
              <a:avLst/>
            </a:prstGeom>
            <a:noFill/>
            <a:ln cap="flat" cmpd="sng" w="76200">
              <a:solidFill>
                <a:srgbClr val="FFFF00"/>
              </a:solidFill>
              <a:prstDash val="solid"/>
              <a:round/>
              <a:headEnd len="sm" w="sm" type="none"/>
              <a:tailEnd len="sm" w="sm" type="none"/>
            </a:ln>
            <a:effectLst>
              <a:outerShdw blurRad="40000" rotWithShape="0" dir="5400000" dist="20000">
                <a:srgbClr val="000000">
                  <a:alpha val="38039"/>
                </a:srgbClr>
              </a:outerShdw>
            </a:effectLst>
          </p:spPr>
        </p:cxnSp>
      </p:grpSp>
      <p:pic>
        <p:nvPicPr>
          <p:cNvPr descr="Ouganda" id="89" name="Google Shape;89;p1"/>
          <p:cNvPicPr preferRelativeResize="0"/>
          <p:nvPr/>
        </p:nvPicPr>
        <p:blipFill rotWithShape="1">
          <a:blip r:embed="rId3">
            <a:alphaModFix/>
          </a:blip>
          <a:srcRect b="0" l="0" r="0" t="0"/>
          <a:stretch/>
        </p:blipFill>
        <p:spPr>
          <a:xfrm>
            <a:off x="10517891" y="448868"/>
            <a:ext cx="1422320" cy="761957"/>
          </a:xfrm>
          <a:prstGeom prst="rect">
            <a:avLst/>
          </a:prstGeom>
          <a:noFill/>
          <a:ln>
            <a:noFill/>
          </a:ln>
        </p:spPr>
      </p:pic>
      <p:pic>
        <p:nvPicPr>
          <p:cNvPr descr="GOU" id="90" name="Google Shape;90;p1"/>
          <p:cNvPicPr preferRelativeResize="0"/>
          <p:nvPr/>
        </p:nvPicPr>
        <p:blipFill rotWithShape="1">
          <a:blip r:embed="rId4">
            <a:alphaModFix/>
          </a:blip>
          <a:srcRect b="0" l="0" r="0" t="0"/>
          <a:stretch/>
        </p:blipFill>
        <p:spPr>
          <a:xfrm>
            <a:off x="251789" y="379400"/>
            <a:ext cx="967686" cy="9143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 name="Shape 94"/>
        <p:cNvGrpSpPr/>
        <p:nvPr/>
      </p:nvGrpSpPr>
      <p:grpSpPr>
        <a:xfrm>
          <a:off x="0" y="0"/>
          <a:ext cx="0" cy="0"/>
          <a:chOff x="0" y="0"/>
          <a:chExt cx="0" cy="0"/>
        </a:xfrm>
      </p:grpSpPr>
      <p:sp>
        <p:nvSpPr>
          <p:cNvPr id="95" name="Google Shape;95;p2"/>
          <p:cNvSpPr/>
          <p:nvPr/>
        </p:nvSpPr>
        <p:spPr>
          <a:xfrm>
            <a:off x="0" y="0"/>
            <a:ext cx="12191695" cy="118872"/>
          </a:xfrm>
          <a:prstGeom prst="rect">
            <a:avLst/>
          </a:prstGeom>
          <a:solidFill>
            <a:srgbClr val="1F497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6" name="Google Shape;96;p2"/>
          <p:cNvSpPr txBox="1"/>
          <p:nvPr/>
        </p:nvSpPr>
        <p:spPr>
          <a:xfrm>
            <a:off x="594360" y="347472"/>
            <a:ext cx="10972800" cy="5943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700" u="none" cap="none" strike="noStrike">
                <a:solidFill>
                  <a:srgbClr val="1F497D"/>
                </a:solidFill>
                <a:latin typeface="Play"/>
                <a:ea typeface="Play"/>
                <a:cs typeface="Play"/>
                <a:sym typeface="Play"/>
              </a:rPr>
              <a:t>Tracking Integrated Service Delivery at Facility Level</a:t>
            </a:r>
            <a:endParaRPr/>
          </a:p>
        </p:txBody>
      </p:sp>
      <p:sp>
        <p:nvSpPr>
          <p:cNvPr id="97" name="Google Shape;97;p2"/>
          <p:cNvSpPr/>
          <p:nvPr/>
        </p:nvSpPr>
        <p:spPr>
          <a:xfrm>
            <a:off x="594360" y="1353312"/>
            <a:ext cx="6400800" cy="4526280"/>
          </a:xfrm>
          <a:prstGeom prst="roundRect">
            <a:avLst>
              <a:gd fmla="val 16667" name="adj"/>
            </a:avLst>
          </a:prstGeom>
          <a:solidFill>
            <a:srgbClr val="F6F9FA"/>
          </a:solidFill>
          <a:ln cap="flat" cmpd="sng" w="9525">
            <a:solidFill>
              <a:srgbClr val="E8F1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 name="Google Shape;98;p2"/>
          <p:cNvSpPr txBox="1"/>
          <p:nvPr/>
        </p:nvSpPr>
        <p:spPr>
          <a:xfrm>
            <a:off x="914400" y="1737360"/>
            <a:ext cx="576072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500">
                <a:solidFill>
                  <a:srgbClr val="1F497D"/>
                </a:solidFill>
                <a:latin typeface="Play"/>
                <a:ea typeface="Play"/>
                <a:cs typeface="Play"/>
                <a:sym typeface="Play"/>
              </a:rPr>
              <a:t>From assessment to action</a:t>
            </a:r>
            <a:endParaRPr/>
          </a:p>
        </p:txBody>
      </p:sp>
      <p:sp>
        <p:nvSpPr>
          <p:cNvPr id="99" name="Google Shape;99;p2"/>
          <p:cNvSpPr txBox="1"/>
          <p:nvPr/>
        </p:nvSpPr>
        <p:spPr>
          <a:xfrm>
            <a:off x="914400" y="2606040"/>
            <a:ext cx="5486400" cy="23774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50">
                <a:solidFill>
                  <a:srgbClr val="2A363F"/>
                </a:solidFill>
                <a:latin typeface="Arial"/>
                <a:ea typeface="Arial"/>
                <a:cs typeface="Arial"/>
                <a:sym typeface="Arial"/>
              </a:rPr>
              <a:t>• Create a common picture of how integrated services are functioning at each facility.</a:t>
            </a:r>
            <a:endParaRPr/>
          </a:p>
          <a:p>
            <a:pPr indent="0" lvl="0" marL="0" marR="0" rtl="0" algn="l">
              <a:spcBef>
                <a:spcPts val="1000"/>
              </a:spcBef>
              <a:spcAft>
                <a:spcPts val="0"/>
              </a:spcAft>
              <a:buNone/>
            </a:pPr>
            <a:r>
              <a:rPr lang="en-US" sz="1550">
                <a:solidFill>
                  <a:srgbClr val="2A363F"/>
                </a:solidFill>
                <a:latin typeface="Arial"/>
                <a:ea typeface="Arial"/>
                <a:cs typeface="Arial"/>
                <a:sym typeface="Arial"/>
              </a:rPr>
              <a:t>• Identify strengths, gaps and priority areas for improvement.</a:t>
            </a:r>
            <a:endParaRPr/>
          </a:p>
          <a:p>
            <a:pPr indent="0" lvl="0" marL="0" marR="0" rtl="0" algn="l">
              <a:spcBef>
                <a:spcPts val="1000"/>
              </a:spcBef>
              <a:spcAft>
                <a:spcPts val="0"/>
              </a:spcAft>
              <a:buNone/>
            </a:pPr>
            <a:r>
              <a:rPr lang="en-US" sz="1550">
                <a:solidFill>
                  <a:srgbClr val="2A363F"/>
                </a:solidFill>
                <a:latin typeface="Arial"/>
                <a:ea typeface="Arial"/>
                <a:cs typeface="Arial"/>
                <a:sym typeface="Arial"/>
              </a:rPr>
              <a:t>• Track agreed actions and progress over time.</a:t>
            </a:r>
            <a:endParaRPr/>
          </a:p>
          <a:p>
            <a:pPr indent="0" lvl="0" marL="0" marR="0" rtl="0" algn="l">
              <a:spcBef>
                <a:spcPts val="1000"/>
              </a:spcBef>
              <a:spcAft>
                <a:spcPts val="0"/>
              </a:spcAft>
              <a:buNone/>
            </a:pPr>
            <a:r>
              <a:rPr lang="en-US" sz="1550">
                <a:solidFill>
                  <a:srgbClr val="2A363F"/>
                </a:solidFill>
                <a:latin typeface="Arial"/>
                <a:ea typeface="Arial"/>
                <a:cs typeface="Arial"/>
                <a:sym typeface="Arial"/>
              </a:rPr>
              <a:t>• Capture practical experiences that can be shared across facilities.</a:t>
            </a:r>
            <a:endParaRPr/>
          </a:p>
        </p:txBody>
      </p:sp>
      <p:sp>
        <p:nvSpPr>
          <p:cNvPr id="100" name="Google Shape;100;p2"/>
          <p:cNvSpPr/>
          <p:nvPr/>
        </p:nvSpPr>
        <p:spPr>
          <a:xfrm>
            <a:off x="7360920" y="1417320"/>
            <a:ext cx="4069080" cy="658368"/>
          </a:xfrm>
          <a:prstGeom prst="roundRect">
            <a:avLst>
              <a:gd fmla="val 16667" name="adj"/>
            </a:avLst>
          </a:prstGeom>
          <a:solidFill>
            <a:srgbClr val="E8F1F6"/>
          </a:solidFill>
          <a:ln cap="flat" cmpd="sng" w="9525">
            <a:solidFill>
              <a:srgbClr val="E8F1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 name="Google Shape;101;p2"/>
          <p:cNvSpPr txBox="1"/>
          <p:nvPr/>
        </p:nvSpPr>
        <p:spPr>
          <a:xfrm>
            <a:off x="7543800" y="1490472"/>
            <a:ext cx="96012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37719E"/>
                </a:solidFill>
                <a:latin typeface="Calibri"/>
                <a:ea typeface="Calibri"/>
                <a:cs typeface="Calibri"/>
                <a:sym typeface="Calibri"/>
              </a:rPr>
              <a:t>ASSESS</a:t>
            </a:r>
            <a:endParaRPr/>
          </a:p>
        </p:txBody>
      </p:sp>
      <p:sp>
        <p:nvSpPr>
          <p:cNvPr id="102" name="Google Shape;102;p2"/>
          <p:cNvSpPr txBox="1"/>
          <p:nvPr/>
        </p:nvSpPr>
        <p:spPr>
          <a:xfrm>
            <a:off x="8503920" y="1490472"/>
            <a:ext cx="269748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2A363F"/>
                </a:solidFill>
                <a:latin typeface="Calibri"/>
                <a:ea typeface="Calibri"/>
                <a:cs typeface="Calibri"/>
                <a:sym typeface="Calibri"/>
              </a:rPr>
              <a:t>Where are we now?</a:t>
            </a:r>
            <a:endParaRPr/>
          </a:p>
        </p:txBody>
      </p:sp>
      <p:sp>
        <p:nvSpPr>
          <p:cNvPr id="103" name="Google Shape;103;p2"/>
          <p:cNvSpPr/>
          <p:nvPr/>
        </p:nvSpPr>
        <p:spPr>
          <a:xfrm>
            <a:off x="7360920" y="2276856"/>
            <a:ext cx="4069080" cy="658368"/>
          </a:xfrm>
          <a:prstGeom prst="roundRect">
            <a:avLst>
              <a:gd fmla="val 16667" name="adj"/>
            </a:avLst>
          </a:prstGeom>
          <a:solidFill>
            <a:srgbClr val="F6F9FA"/>
          </a:solidFill>
          <a:ln cap="flat" cmpd="sng" w="9525">
            <a:solidFill>
              <a:srgbClr val="E8F1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 name="Google Shape;104;p2"/>
          <p:cNvSpPr txBox="1"/>
          <p:nvPr/>
        </p:nvSpPr>
        <p:spPr>
          <a:xfrm>
            <a:off x="7543800" y="2350008"/>
            <a:ext cx="96012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37719E"/>
                </a:solidFill>
                <a:latin typeface="Calibri"/>
                <a:ea typeface="Calibri"/>
                <a:cs typeface="Calibri"/>
                <a:sym typeface="Calibri"/>
              </a:rPr>
              <a:t>STAGE</a:t>
            </a:r>
            <a:endParaRPr/>
          </a:p>
        </p:txBody>
      </p:sp>
      <p:sp>
        <p:nvSpPr>
          <p:cNvPr id="105" name="Google Shape;105;p2"/>
          <p:cNvSpPr txBox="1"/>
          <p:nvPr/>
        </p:nvSpPr>
        <p:spPr>
          <a:xfrm>
            <a:off x="8503920" y="2350008"/>
            <a:ext cx="269748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2A363F"/>
                </a:solidFill>
                <a:latin typeface="Calibri"/>
                <a:ea typeface="Calibri"/>
                <a:cs typeface="Calibri"/>
                <a:sym typeface="Calibri"/>
              </a:rPr>
              <a:t>How mature is integration?</a:t>
            </a:r>
            <a:endParaRPr/>
          </a:p>
        </p:txBody>
      </p:sp>
      <p:sp>
        <p:nvSpPr>
          <p:cNvPr id="106" name="Google Shape;106;p2"/>
          <p:cNvSpPr/>
          <p:nvPr/>
        </p:nvSpPr>
        <p:spPr>
          <a:xfrm>
            <a:off x="7360920" y="3136391"/>
            <a:ext cx="4069080" cy="658368"/>
          </a:xfrm>
          <a:prstGeom prst="roundRect">
            <a:avLst>
              <a:gd fmla="val 16667" name="adj"/>
            </a:avLst>
          </a:prstGeom>
          <a:solidFill>
            <a:srgbClr val="E8F1F6"/>
          </a:solidFill>
          <a:ln cap="flat" cmpd="sng" w="9525">
            <a:solidFill>
              <a:srgbClr val="E8F1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7" name="Google Shape;107;p2"/>
          <p:cNvSpPr txBox="1"/>
          <p:nvPr/>
        </p:nvSpPr>
        <p:spPr>
          <a:xfrm>
            <a:off x="7543800" y="3209544"/>
            <a:ext cx="96012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37719E"/>
                </a:solidFill>
                <a:latin typeface="Calibri"/>
                <a:ea typeface="Calibri"/>
                <a:cs typeface="Calibri"/>
                <a:sym typeface="Calibri"/>
              </a:rPr>
              <a:t>MEASURE</a:t>
            </a:r>
            <a:endParaRPr/>
          </a:p>
        </p:txBody>
      </p:sp>
      <p:sp>
        <p:nvSpPr>
          <p:cNvPr id="108" name="Google Shape;108;p2"/>
          <p:cNvSpPr txBox="1"/>
          <p:nvPr/>
        </p:nvSpPr>
        <p:spPr>
          <a:xfrm>
            <a:off x="8503920" y="3209544"/>
            <a:ext cx="269748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2A363F"/>
                </a:solidFill>
                <a:latin typeface="Calibri"/>
                <a:ea typeface="Calibri"/>
                <a:cs typeface="Calibri"/>
                <a:sym typeface="Calibri"/>
              </a:rPr>
              <a:t>What do the KPIs show?</a:t>
            </a:r>
            <a:endParaRPr/>
          </a:p>
        </p:txBody>
      </p:sp>
      <p:sp>
        <p:nvSpPr>
          <p:cNvPr id="109" name="Google Shape;109;p2"/>
          <p:cNvSpPr/>
          <p:nvPr/>
        </p:nvSpPr>
        <p:spPr>
          <a:xfrm>
            <a:off x="7360920" y="3995928"/>
            <a:ext cx="4069080" cy="658368"/>
          </a:xfrm>
          <a:prstGeom prst="roundRect">
            <a:avLst>
              <a:gd fmla="val 16667" name="adj"/>
            </a:avLst>
          </a:prstGeom>
          <a:solidFill>
            <a:srgbClr val="F6F9FA"/>
          </a:solidFill>
          <a:ln cap="flat" cmpd="sng" w="9525">
            <a:solidFill>
              <a:srgbClr val="E8F1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0" name="Google Shape;110;p2"/>
          <p:cNvSpPr txBox="1"/>
          <p:nvPr/>
        </p:nvSpPr>
        <p:spPr>
          <a:xfrm>
            <a:off x="7543800" y="4069080"/>
            <a:ext cx="96012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37719E"/>
                </a:solidFill>
                <a:latin typeface="Calibri"/>
                <a:ea typeface="Calibri"/>
                <a:cs typeface="Calibri"/>
                <a:sym typeface="Calibri"/>
              </a:rPr>
              <a:t>ACT</a:t>
            </a:r>
            <a:endParaRPr/>
          </a:p>
        </p:txBody>
      </p:sp>
      <p:sp>
        <p:nvSpPr>
          <p:cNvPr id="111" name="Google Shape;111;p2"/>
          <p:cNvSpPr txBox="1"/>
          <p:nvPr/>
        </p:nvSpPr>
        <p:spPr>
          <a:xfrm>
            <a:off x="8503920" y="4069080"/>
            <a:ext cx="269748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2A363F"/>
                </a:solidFill>
                <a:latin typeface="Calibri"/>
                <a:ea typeface="Calibri"/>
                <a:cs typeface="Calibri"/>
                <a:sym typeface="Calibri"/>
              </a:rPr>
              <a:t>What will we improve?</a:t>
            </a:r>
            <a:endParaRPr/>
          </a:p>
        </p:txBody>
      </p:sp>
      <p:sp>
        <p:nvSpPr>
          <p:cNvPr id="112" name="Google Shape;112;p2"/>
          <p:cNvSpPr/>
          <p:nvPr/>
        </p:nvSpPr>
        <p:spPr>
          <a:xfrm>
            <a:off x="7360920" y="4855464"/>
            <a:ext cx="4069080" cy="658368"/>
          </a:xfrm>
          <a:prstGeom prst="roundRect">
            <a:avLst>
              <a:gd fmla="val 16667" name="adj"/>
            </a:avLst>
          </a:prstGeom>
          <a:solidFill>
            <a:srgbClr val="E8F1F6"/>
          </a:solidFill>
          <a:ln cap="flat" cmpd="sng" w="9525">
            <a:solidFill>
              <a:srgbClr val="E8F1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 name="Google Shape;113;p2"/>
          <p:cNvSpPr txBox="1"/>
          <p:nvPr/>
        </p:nvSpPr>
        <p:spPr>
          <a:xfrm>
            <a:off x="7543800" y="4928616"/>
            <a:ext cx="96012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37719E"/>
                </a:solidFill>
                <a:latin typeface="Calibri"/>
                <a:ea typeface="Calibri"/>
                <a:cs typeface="Calibri"/>
                <a:sym typeface="Calibri"/>
              </a:rPr>
              <a:t>LEARN</a:t>
            </a:r>
            <a:endParaRPr/>
          </a:p>
        </p:txBody>
      </p:sp>
      <p:sp>
        <p:nvSpPr>
          <p:cNvPr id="114" name="Google Shape;114;p2"/>
          <p:cNvSpPr txBox="1"/>
          <p:nvPr/>
        </p:nvSpPr>
        <p:spPr>
          <a:xfrm>
            <a:off x="8503920" y="4928616"/>
            <a:ext cx="269748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2A363F"/>
                </a:solidFill>
                <a:latin typeface="Calibri"/>
                <a:ea typeface="Calibri"/>
                <a:cs typeface="Calibri"/>
                <a:sym typeface="Calibri"/>
              </a:rPr>
              <a:t>What can others use?</a:t>
            </a:r>
            <a:endParaRPr/>
          </a:p>
        </p:txBody>
      </p:sp>
      <p:sp>
        <p:nvSpPr>
          <p:cNvPr id="115" name="Google Shape;115;p2"/>
          <p:cNvSpPr/>
          <p:nvPr/>
        </p:nvSpPr>
        <p:spPr>
          <a:xfrm>
            <a:off x="594360" y="6528816"/>
            <a:ext cx="10972800" cy="9144"/>
          </a:xfrm>
          <a:prstGeom prst="rect">
            <a:avLst/>
          </a:prstGeom>
          <a:solidFill>
            <a:srgbClr val="E8F1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 name="Google Shape;116;p2"/>
          <p:cNvSpPr txBox="1"/>
          <p:nvPr/>
        </p:nvSpPr>
        <p:spPr>
          <a:xfrm>
            <a:off x="621792" y="6574536"/>
            <a:ext cx="98755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rgbClr val="5F6D77"/>
                </a:solidFill>
                <a:latin typeface="Arial"/>
                <a:ea typeface="Arial"/>
                <a:cs typeface="Arial"/>
                <a:sym typeface="Arial"/>
              </a:rPr>
              <a:t>Facility-level integrated service delivery tracking | Orientation</a:t>
            </a:r>
            <a:endParaRPr/>
          </a:p>
        </p:txBody>
      </p:sp>
      <p:sp>
        <p:nvSpPr>
          <p:cNvPr id="117" name="Google Shape;117;p2"/>
          <p:cNvSpPr txBox="1"/>
          <p:nvPr/>
        </p:nvSpPr>
        <p:spPr>
          <a:xfrm>
            <a:off x="10972800" y="6547104"/>
            <a:ext cx="502920" cy="20116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900">
                <a:solidFill>
                  <a:srgbClr val="1F497D"/>
                </a:solidFill>
                <a:latin typeface="Calibri"/>
                <a:ea typeface="Calibri"/>
                <a:cs typeface="Calibri"/>
                <a:sym typeface="Calibri"/>
              </a:rPr>
              <a:t>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3"/>
          <p:cNvSpPr/>
          <p:nvPr/>
        </p:nvSpPr>
        <p:spPr>
          <a:xfrm>
            <a:off x="0" y="0"/>
            <a:ext cx="12191695" cy="118872"/>
          </a:xfrm>
          <a:prstGeom prst="rect">
            <a:avLst/>
          </a:prstGeom>
          <a:solidFill>
            <a:srgbClr val="1F497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 name="Google Shape;123;p3"/>
          <p:cNvSpPr txBox="1"/>
          <p:nvPr/>
        </p:nvSpPr>
        <p:spPr>
          <a:xfrm>
            <a:off x="594360" y="347472"/>
            <a:ext cx="10972800" cy="5943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700">
                <a:solidFill>
                  <a:srgbClr val="1F497D"/>
                </a:solidFill>
                <a:latin typeface="Play"/>
                <a:ea typeface="Play"/>
                <a:cs typeface="Play"/>
                <a:sym typeface="Play"/>
              </a:rPr>
              <a:t>The Tool: Five Sections That Work as One Improvement Cycle</a:t>
            </a:r>
            <a:endParaRPr/>
          </a:p>
        </p:txBody>
      </p:sp>
      <p:sp>
        <p:nvSpPr>
          <p:cNvPr id="124" name="Google Shape;124;p3"/>
          <p:cNvSpPr txBox="1"/>
          <p:nvPr/>
        </p:nvSpPr>
        <p:spPr>
          <a:xfrm>
            <a:off x="621792" y="896112"/>
            <a:ext cx="10789920"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50">
                <a:solidFill>
                  <a:srgbClr val="5F6D77"/>
                </a:solidFill>
                <a:latin typeface="Arial"/>
                <a:ea typeface="Arial"/>
                <a:cs typeface="Arial"/>
                <a:sym typeface="Arial"/>
              </a:rPr>
              <a:t>Each section answers a different question—from “where are we?” to “what will we change?”</a:t>
            </a:r>
            <a:endParaRPr/>
          </a:p>
        </p:txBody>
      </p:sp>
      <p:sp>
        <p:nvSpPr>
          <p:cNvPr id="125" name="Google Shape;125;p3"/>
          <p:cNvSpPr/>
          <p:nvPr/>
        </p:nvSpPr>
        <p:spPr>
          <a:xfrm>
            <a:off x="685800" y="1417320"/>
            <a:ext cx="5074920" cy="1261872"/>
          </a:xfrm>
          <a:prstGeom prst="roundRect">
            <a:avLst>
              <a:gd fmla="val 16667" name="adj"/>
            </a:avLst>
          </a:prstGeom>
          <a:solidFill>
            <a:srgbClr val="F6F9FA"/>
          </a:solidFill>
          <a:ln cap="flat" cmpd="sng" w="9525">
            <a:solidFill>
              <a:srgbClr val="E8F1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 name="Google Shape;126;p3"/>
          <p:cNvSpPr/>
          <p:nvPr/>
        </p:nvSpPr>
        <p:spPr>
          <a:xfrm>
            <a:off x="685800" y="1417320"/>
            <a:ext cx="64008" cy="1261872"/>
          </a:xfrm>
          <a:prstGeom prst="rect">
            <a:avLst/>
          </a:prstGeom>
          <a:solidFill>
            <a:srgbClr val="37719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 name="Google Shape;127;p3"/>
          <p:cNvSpPr txBox="1"/>
          <p:nvPr/>
        </p:nvSpPr>
        <p:spPr>
          <a:xfrm>
            <a:off x="850392" y="1527048"/>
            <a:ext cx="4800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Arial"/>
                <a:ea typeface="Arial"/>
                <a:cs typeface="Arial"/>
                <a:sym typeface="Arial"/>
              </a:rPr>
              <a:t>1  Facility Identification</a:t>
            </a:r>
            <a:endParaRPr/>
          </a:p>
        </p:txBody>
      </p:sp>
      <p:sp>
        <p:nvSpPr>
          <p:cNvPr id="128" name="Google Shape;128;p3"/>
          <p:cNvSpPr txBox="1"/>
          <p:nvPr/>
        </p:nvSpPr>
        <p:spPr>
          <a:xfrm>
            <a:off x="850392" y="1892808"/>
            <a:ext cx="4800600" cy="6949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Arial"/>
                <a:ea typeface="Arial"/>
                <a:cs typeface="Arial"/>
                <a:sym typeface="Arial"/>
              </a:rPr>
              <a:t>Confirm the facility and context before the assessment begins.</a:t>
            </a:r>
            <a:endParaRPr/>
          </a:p>
        </p:txBody>
      </p:sp>
      <p:sp>
        <p:nvSpPr>
          <p:cNvPr id="129" name="Google Shape;129;p3"/>
          <p:cNvSpPr/>
          <p:nvPr/>
        </p:nvSpPr>
        <p:spPr>
          <a:xfrm>
            <a:off x="850392" y="2930434"/>
            <a:ext cx="5074920" cy="1261872"/>
          </a:xfrm>
          <a:prstGeom prst="roundRect">
            <a:avLst>
              <a:gd fmla="val 16667" name="adj"/>
            </a:avLst>
          </a:prstGeom>
          <a:solidFill>
            <a:srgbClr val="F6F9FA"/>
          </a:solidFill>
          <a:ln cap="flat" cmpd="sng" w="9525">
            <a:solidFill>
              <a:srgbClr val="E8F1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 name="Google Shape;130;p3"/>
          <p:cNvSpPr/>
          <p:nvPr/>
        </p:nvSpPr>
        <p:spPr>
          <a:xfrm>
            <a:off x="6309360" y="1417320"/>
            <a:ext cx="64008" cy="1261872"/>
          </a:xfrm>
          <a:prstGeom prst="rect">
            <a:avLst/>
          </a:prstGeom>
          <a:solidFill>
            <a:srgbClr val="46826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 name="Google Shape;131;p3"/>
          <p:cNvSpPr txBox="1"/>
          <p:nvPr/>
        </p:nvSpPr>
        <p:spPr>
          <a:xfrm>
            <a:off x="850392" y="2997272"/>
            <a:ext cx="4800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Arial"/>
                <a:ea typeface="Arial"/>
                <a:cs typeface="Arial"/>
                <a:sym typeface="Arial"/>
              </a:rPr>
              <a:t>2  Staging</a:t>
            </a:r>
            <a:endParaRPr/>
          </a:p>
        </p:txBody>
      </p:sp>
      <p:sp>
        <p:nvSpPr>
          <p:cNvPr id="132" name="Google Shape;132;p3"/>
          <p:cNvSpPr txBox="1"/>
          <p:nvPr/>
        </p:nvSpPr>
        <p:spPr>
          <a:xfrm>
            <a:off x="850392" y="3419856"/>
            <a:ext cx="4800600" cy="6949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Arial"/>
                <a:ea typeface="Arial"/>
                <a:cs typeface="Arial"/>
                <a:sym typeface="Arial"/>
              </a:rPr>
              <a:t>Establish the current level of integrated service delivery.</a:t>
            </a:r>
            <a:endParaRPr/>
          </a:p>
        </p:txBody>
      </p:sp>
      <p:sp>
        <p:nvSpPr>
          <p:cNvPr id="133" name="Google Shape;133;p3"/>
          <p:cNvSpPr/>
          <p:nvPr/>
        </p:nvSpPr>
        <p:spPr>
          <a:xfrm>
            <a:off x="663593" y="2932176"/>
            <a:ext cx="64008" cy="1261872"/>
          </a:xfrm>
          <a:prstGeom prst="rect">
            <a:avLst/>
          </a:prstGeom>
          <a:solidFill>
            <a:srgbClr val="CF843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 name="Google Shape;134;p3"/>
          <p:cNvSpPr txBox="1"/>
          <p:nvPr/>
        </p:nvSpPr>
        <p:spPr>
          <a:xfrm>
            <a:off x="6541008" y="1364416"/>
            <a:ext cx="4800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Arial"/>
                <a:ea typeface="Arial"/>
                <a:cs typeface="Arial"/>
                <a:sym typeface="Arial"/>
              </a:rPr>
              <a:t>3  Key Performance Indicators</a:t>
            </a:r>
            <a:endParaRPr/>
          </a:p>
        </p:txBody>
      </p:sp>
      <p:sp>
        <p:nvSpPr>
          <p:cNvPr id="135" name="Google Shape;135;p3"/>
          <p:cNvSpPr txBox="1"/>
          <p:nvPr/>
        </p:nvSpPr>
        <p:spPr>
          <a:xfrm>
            <a:off x="6541008" y="1793312"/>
            <a:ext cx="4800600" cy="6949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Arial"/>
                <a:ea typeface="Arial"/>
                <a:cs typeface="Arial"/>
                <a:sym typeface="Arial"/>
              </a:rPr>
              <a:t>Review measurable signals of performance and identify gaps.</a:t>
            </a:r>
            <a:endParaRPr/>
          </a:p>
        </p:txBody>
      </p:sp>
      <p:sp>
        <p:nvSpPr>
          <p:cNvPr id="136" name="Google Shape;136;p3"/>
          <p:cNvSpPr/>
          <p:nvPr/>
        </p:nvSpPr>
        <p:spPr>
          <a:xfrm>
            <a:off x="6309360" y="3017520"/>
            <a:ext cx="5074920" cy="1261872"/>
          </a:xfrm>
          <a:prstGeom prst="roundRect">
            <a:avLst>
              <a:gd fmla="val 16667" name="adj"/>
            </a:avLst>
          </a:prstGeom>
          <a:solidFill>
            <a:srgbClr val="F6F9FA"/>
          </a:solidFill>
          <a:ln cap="flat" cmpd="sng" w="9525">
            <a:solidFill>
              <a:srgbClr val="E8F1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3"/>
          <p:cNvSpPr/>
          <p:nvPr/>
        </p:nvSpPr>
        <p:spPr>
          <a:xfrm>
            <a:off x="6309360" y="3017520"/>
            <a:ext cx="64008" cy="1261872"/>
          </a:xfrm>
          <a:prstGeom prst="rect">
            <a:avLst/>
          </a:prstGeom>
          <a:solidFill>
            <a:srgbClr val="37719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3"/>
          <p:cNvSpPr txBox="1"/>
          <p:nvPr/>
        </p:nvSpPr>
        <p:spPr>
          <a:xfrm>
            <a:off x="6473952" y="3127248"/>
            <a:ext cx="4800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Arial"/>
                <a:ea typeface="Arial"/>
                <a:cs typeface="Arial"/>
                <a:sym typeface="Arial"/>
              </a:rPr>
              <a:t>4  Action Tracker</a:t>
            </a:r>
            <a:endParaRPr/>
          </a:p>
        </p:txBody>
      </p:sp>
      <p:sp>
        <p:nvSpPr>
          <p:cNvPr id="139" name="Google Shape;139;p3"/>
          <p:cNvSpPr txBox="1"/>
          <p:nvPr/>
        </p:nvSpPr>
        <p:spPr>
          <a:xfrm>
            <a:off x="6473952" y="3493008"/>
            <a:ext cx="4800600" cy="6949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Arial"/>
                <a:ea typeface="Arial"/>
                <a:cs typeface="Arial"/>
                <a:sym typeface="Arial"/>
              </a:rPr>
              <a:t>Translate gaps into owned, time-bound improvement actions.</a:t>
            </a:r>
            <a:endParaRPr/>
          </a:p>
        </p:txBody>
      </p:sp>
      <p:sp>
        <p:nvSpPr>
          <p:cNvPr id="140" name="Google Shape;140;p3"/>
          <p:cNvSpPr/>
          <p:nvPr/>
        </p:nvSpPr>
        <p:spPr>
          <a:xfrm>
            <a:off x="643033" y="4651466"/>
            <a:ext cx="5074920" cy="1261872"/>
          </a:xfrm>
          <a:prstGeom prst="roundRect">
            <a:avLst>
              <a:gd fmla="val 16667" name="adj"/>
            </a:avLst>
          </a:prstGeom>
          <a:solidFill>
            <a:srgbClr val="F6F9FA"/>
          </a:solidFill>
          <a:ln cap="flat" cmpd="sng" w="9525">
            <a:solidFill>
              <a:srgbClr val="E8F1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 name="Google Shape;141;p3"/>
          <p:cNvSpPr/>
          <p:nvPr/>
        </p:nvSpPr>
        <p:spPr>
          <a:xfrm>
            <a:off x="583256" y="4663222"/>
            <a:ext cx="64008" cy="1261872"/>
          </a:xfrm>
          <a:prstGeom prst="rect">
            <a:avLst/>
          </a:prstGeom>
          <a:solidFill>
            <a:srgbClr val="46826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 name="Google Shape;142;p3"/>
          <p:cNvSpPr txBox="1"/>
          <p:nvPr/>
        </p:nvSpPr>
        <p:spPr>
          <a:xfrm>
            <a:off x="758952" y="4880067"/>
            <a:ext cx="4800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Arial"/>
                <a:ea typeface="Arial"/>
                <a:cs typeface="Arial"/>
                <a:sym typeface="Arial"/>
              </a:rPr>
              <a:t>5  Shared Experiences</a:t>
            </a:r>
            <a:endParaRPr/>
          </a:p>
        </p:txBody>
      </p:sp>
      <p:sp>
        <p:nvSpPr>
          <p:cNvPr id="143" name="Google Shape;143;p3"/>
          <p:cNvSpPr txBox="1"/>
          <p:nvPr/>
        </p:nvSpPr>
        <p:spPr>
          <a:xfrm>
            <a:off x="643033" y="5266945"/>
            <a:ext cx="4800600" cy="6949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Arial"/>
                <a:ea typeface="Arial"/>
                <a:cs typeface="Arial"/>
                <a:sym typeface="Arial"/>
              </a:rPr>
              <a:t>Document lessons, innovations, challenges and solutions.</a:t>
            </a:r>
            <a:endParaRPr/>
          </a:p>
        </p:txBody>
      </p:sp>
      <p:sp>
        <p:nvSpPr>
          <p:cNvPr id="144" name="Google Shape;144;p3"/>
          <p:cNvSpPr/>
          <p:nvPr/>
        </p:nvSpPr>
        <p:spPr>
          <a:xfrm>
            <a:off x="594360" y="6528816"/>
            <a:ext cx="10972800" cy="9144"/>
          </a:xfrm>
          <a:prstGeom prst="rect">
            <a:avLst/>
          </a:prstGeom>
          <a:solidFill>
            <a:srgbClr val="E8F1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 name="Google Shape;145;p3"/>
          <p:cNvSpPr txBox="1"/>
          <p:nvPr/>
        </p:nvSpPr>
        <p:spPr>
          <a:xfrm>
            <a:off x="621792" y="6574536"/>
            <a:ext cx="98755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rgbClr val="5F6D77"/>
                </a:solidFill>
                <a:latin typeface="Arial"/>
                <a:ea typeface="Arial"/>
                <a:cs typeface="Arial"/>
                <a:sym typeface="Arial"/>
              </a:rPr>
              <a:t>Facility-level integrated service delivery tracking | Orientation</a:t>
            </a:r>
            <a:endParaRPr/>
          </a:p>
        </p:txBody>
      </p:sp>
      <p:sp>
        <p:nvSpPr>
          <p:cNvPr id="146" name="Google Shape;146;p3"/>
          <p:cNvSpPr txBox="1"/>
          <p:nvPr/>
        </p:nvSpPr>
        <p:spPr>
          <a:xfrm>
            <a:off x="10972800" y="6547104"/>
            <a:ext cx="502920" cy="20116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900">
                <a:solidFill>
                  <a:srgbClr val="1F497D"/>
                </a:solidFill>
                <a:latin typeface="Calibri"/>
                <a:ea typeface="Calibri"/>
                <a:cs typeface="Calibri"/>
                <a:sym typeface="Calibri"/>
              </a:rPr>
              <a:t>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sp>
        <p:nvSpPr>
          <p:cNvPr id="151" name="Google Shape;151;p4"/>
          <p:cNvSpPr/>
          <p:nvPr/>
        </p:nvSpPr>
        <p:spPr>
          <a:xfrm>
            <a:off x="0" y="0"/>
            <a:ext cx="12191695" cy="118872"/>
          </a:xfrm>
          <a:prstGeom prst="rect">
            <a:avLst/>
          </a:prstGeom>
          <a:solidFill>
            <a:srgbClr val="1F497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 name="Google Shape;152;p4"/>
          <p:cNvSpPr txBox="1"/>
          <p:nvPr/>
        </p:nvSpPr>
        <p:spPr>
          <a:xfrm>
            <a:off x="594332" y="347475"/>
            <a:ext cx="109626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700">
                <a:solidFill>
                  <a:srgbClr val="1F497D"/>
                </a:solidFill>
                <a:latin typeface="Play"/>
                <a:ea typeface="Play"/>
                <a:cs typeface="Play"/>
                <a:sym typeface="Play"/>
              </a:rPr>
              <a:t>1–2. Facility Identification</a:t>
            </a:r>
            <a:endParaRPr/>
          </a:p>
        </p:txBody>
      </p:sp>
      <p:sp>
        <p:nvSpPr>
          <p:cNvPr id="153" name="Google Shape;153;p4"/>
          <p:cNvSpPr txBox="1"/>
          <p:nvPr/>
        </p:nvSpPr>
        <p:spPr>
          <a:xfrm>
            <a:off x="621792" y="896112"/>
            <a:ext cx="10789920"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50">
                <a:solidFill>
                  <a:srgbClr val="5F6D77"/>
                </a:solidFill>
                <a:latin typeface="Arial"/>
                <a:ea typeface="Arial"/>
                <a:cs typeface="Arial"/>
                <a:sym typeface="Arial"/>
              </a:rPr>
              <a:t>Start with the correct facility, then establish a shared baseline for integration</a:t>
            </a:r>
            <a:endParaRPr/>
          </a:p>
        </p:txBody>
      </p:sp>
      <p:sp>
        <p:nvSpPr>
          <p:cNvPr id="154" name="Google Shape;154;p4"/>
          <p:cNvSpPr/>
          <p:nvPr/>
        </p:nvSpPr>
        <p:spPr>
          <a:xfrm>
            <a:off x="5440680" y="1353312"/>
            <a:ext cx="6126480" cy="1524000"/>
          </a:xfrm>
          <a:prstGeom prst="roundRect">
            <a:avLst>
              <a:gd fmla="val 16667" name="adj"/>
            </a:avLst>
          </a:prstGeom>
          <a:solidFill>
            <a:srgbClr val="F6F9FA"/>
          </a:solidFill>
          <a:ln cap="flat" cmpd="sng" w="9525">
            <a:solidFill>
              <a:srgbClr val="E8F1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 name="Google Shape;155;p4"/>
          <p:cNvSpPr/>
          <p:nvPr/>
        </p:nvSpPr>
        <p:spPr>
          <a:xfrm>
            <a:off x="5440680" y="1353312"/>
            <a:ext cx="64008" cy="1524000"/>
          </a:xfrm>
          <a:prstGeom prst="rect">
            <a:avLst/>
          </a:prstGeom>
          <a:solidFill>
            <a:srgbClr val="37719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 name="Google Shape;156;p4"/>
          <p:cNvSpPr txBox="1"/>
          <p:nvPr/>
        </p:nvSpPr>
        <p:spPr>
          <a:xfrm>
            <a:off x="5605272" y="1463040"/>
            <a:ext cx="585216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1F497D"/>
                </a:solidFill>
                <a:latin typeface="Arial"/>
                <a:ea typeface="Arial"/>
                <a:cs typeface="Arial"/>
                <a:sym typeface="Arial"/>
              </a:rPr>
              <a:t>Facility identification — what to enter</a:t>
            </a:r>
            <a:endParaRPr/>
          </a:p>
        </p:txBody>
      </p:sp>
      <p:sp>
        <p:nvSpPr>
          <p:cNvPr id="157" name="Google Shape;157;p4"/>
          <p:cNvSpPr txBox="1"/>
          <p:nvPr/>
        </p:nvSpPr>
        <p:spPr>
          <a:xfrm>
            <a:off x="5605272" y="1828800"/>
            <a:ext cx="5852160" cy="1490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2A363F"/>
                </a:solidFill>
                <a:latin typeface="Arial"/>
                <a:ea typeface="Arial"/>
                <a:cs typeface="Arial"/>
                <a:sym typeface="Arial"/>
              </a:rPr>
              <a:t>Select “Facility Assessment”, then select the correct Region, District and Facility. Confirm the Level of Health Centre and Ownership before proceeding. These fields anchor the assessment to the correct service delivery setting.</a:t>
            </a:r>
            <a:endParaRPr/>
          </a:p>
        </p:txBody>
      </p:sp>
      <p:sp>
        <p:nvSpPr>
          <p:cNvPr id="158" name="Google Shape;158;p4"/>
          <p:cNvSpPr/>
          <p:nvPr/>
        </p:nvSpPr>
        <p:spPr>
          <a:xfrm>
            <a:off x="5440680" y="3048000"/>
            <a:ext cx="6126480" cy="1524000"/>
          </a:xfrm>
          <a:prstGeom prst="roundRect">
            <a:avLst>
              <a:gd fmla="val 16667" name="adj"/>
            </a:avLst>
          </a:prstGeom>
          <a:solidFill>
            <a:srgbClr val="F6F9FA"/>
          </a:solidFill>
          <a:ln cap="flat" cmpd="sng" w="9525">
            <a:solidFill>
              <a:srgbClr val="E8F1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 name="Google Shape;159;p4"/>
          <p:cNvSpPr/>
          <p:nvPr/>
        </p:nvSpPr>
        <p:spPr>
          <a:xfrm>
            <a:off x="5440680" y="3048000"/>
            <a:ext cx="64008" cy="1524000"/>
          </a:xfrm>
          <a:prstGeom prst="rect">
            <a:avLst/>
          </a:prstGeom>
          <a:solidFill>
            <a:srgbClr val="46826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 name="Google Shape;160;p4"/>
          <p:cNvSpPr txBox="1"/>
          <p:nvPr/>
        </p:nvSpPr>
        <p:spPr>
          <a:xfrm>
            <a:off x="5605272" y="3162300"/>
            <a:ext cx="585216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1F497D"/>
                </a:solidFill>
                <a:latin typeface="Arial"/>
                <a:ea typeface="Arial"/>
                <a:cs typeface="Arial"/>
                <a:sym typeface="Arial"/>
              </a:rPr>
              <a:t>Staging — establish the starting point</a:t>
            </a:r>
            <a:endParaRPr/>
          </a:p>
        </p:txBody>
      </p:sp>
      <p:sp>
        <p:nvSpPr>
          <p:cNvPr id="161" name="Google Shape;161;p4"/>
          <p:cNvSpPr txBox="1"/>
          <p:nvPr/>
        </p:nvSpPr>
        <p:spPr>
          <a:xfrm>
            <a:off x="5605272" y="3530600"/>
            <a:ext cx="5852160" cy="95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2A363F"/>
                </a:solidFill>
                <a:latin typeface="Arial"/>
                <a:ea typeface="Arial"/>
                <a:cs typeface="Arial"/>
                <a:sym typeface="Arial"/>
              </a:rPr>
              <a:t>Use the staging component to determine the facility’s current level of integration. Discuss the evidence with the facility team, agree on the most accurate current state, and use it as the baseline for improvement.</a:t>
            </a:r>
            <a:endParaRPr/>
          </a:p>
        </p:txBody>
      </p:sp>
      <p:sp>
        <p:nvSpPr>
          <p:cNvPr id="162" name="Google Shape;162;p4"/>
          <p:cNvSpPr txBox="1"/>
          <p:nvPr/>
        </p:nvSpPr>
        <p:spPr>
          <a:xfrm>
            <a:off x="596900" y="4724400"/>
            <a:ext cx="4610100" cy="431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F497D"/>
                </a:solidFill>
                <a:latin typeface="Calibri"/>
                <a:ea typeface="Calibri"/>
                <a:cs typeface="Calibri"/>
                <a:sym typeface="Calibri"/>
              </a:rPr>
              <a:t>Good practice: </a:t>
            </a:r>
            <a:r>
              <a:rPr lang="en-US" sz="1100">
                <a:solidFill>
                  <a:srgbClr val="2A363F"/>
                </a:solidFill>
                <a:latin typeface="Calibri"/>
                <a:ea typeface="Calibri"/>
                <a:cs typeface="Calibri"/>
                <a:sym typeface="Calibri"/>
              </a:rPr>
              <a:t>verify facility details before starting the assessment.</a:t>
            </a:r>
            <a:endParaRPr/>
          </a:p>
        </p:txBody>
      </p:sp>
      <p:sp>
        <p:nvSpPr>
          <p:cNvPr id="163" name="Google Shape;163;p4"/>
          <p:cNvSpPr/>
          <p:nvPr/>
        </p:nvSpPr>
        <p:spPr>
          <a:xfrm>
            <a:off x="594360" y="6528816"/>
            <a:ext cx="10972800" cy="9144"/>
          </a:xfrm>
          <a:prstGeom prst="rect">
            <a:avLst/>
          </a:prstGeom>
          <a:solidFill>
            <a:srgbClr val="E8F1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 name="Google Shape;164;p4"/>
          <p:cNvSpPr txBox="1"/>
          <p:nvPr/>
        </p:nvSpPr>
        <p:spPr>
          <a:xfrm>
            <a:off x="621792" y="6574536"/>
            <a:ext cx="98755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rgbClr val="5F6D77"/>
                </a:solidFill>
                <a:latin typeface="Arial"/>
                <a:ea typeface="Arial"/>
                <a:cs typeface="Arial"/>
                <a:sym typeface="Arial"/>
              </a:rPr>
              <a:t>Facility-level integrated service delivery tracking | Orientation</a:t>
            </a:r>
            <a:endParaRPr/>
          </a:p>
        </p:txBody>
      </p:sp>
      <p:sp>
        <p:nvSpPr>
          <p:cNvPr id="165" name="Google Shape;165;p4"/>
          <p:cNvSpPr txBox="1"/>
          <p:nvPr/>
        </p:nvSpPr>
        <p:spPr>
          <a:xfrm>
            <a:off x="10972800" y="6547104"/>
            <a:ext cx="502920" cy="20116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900">
                <a:solidFill>
                  <a:srgbClr val="1F497D"/>
                </a:solidFill>
                <a:latin typeface="Calibri"/>
                <a:ea typeface="Calibri"/>
                <a:cs typeface="Calibri"/>
                <a:sym typeface="Calibri"/>
              </a:rPr>
              <a:t>3</a:t>
            </a:r>
            <a:endParaRPr/>
          </a:p>
        </p:txBody>
      </p:sp>
      <p:pic>
        <p:nvPicPr>
          <p:cNvPr id="166" name="Google Shape;166;p4"/>
          <p:cNvPicPr preferRelativeResize="0"/>
          <p:nvPr/>
        </p:nvPicPr>
        <p:blipFill rotWithShape="1">
          <a:blip r:embed="rId3">
            <a:alphaModFix/>
          </a:blip>
          <a:srcRect b="0" l="0" r="0" t="0"/>
          <a:stretch/>
        </p:blipFill>
        <p:spPr>
          <a:xfrm>
            <a:off x="596900" y="1397000"/>
            <a:ext cx="4610100" cy="3136900"/>
          </a:xfrm>
          <a:prstGeom prst="rect">
            <a:avLst/>
          </a:prstGeom>
          <a:noFill/>
          <a:ln>
            <a:noFill/>
          </a:ln>
        </p:spPr>
      </p:pic>
      <p:sp>
        <p:nvSpPr>
          <p:cNvPr id="167" name="Google Shape;167;p4"/>
          <p:cNvSpPr txBox="1"/>
          <p:nvPr/>
        </p:nvSpPr>
        <p:spPr>
          <a:xfrm>
            <a:off x="596900" y="5130800"/>
            <a:ext cx="4610100" cy="44627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2A363F"/>
              </a:buClr>
              <a:buSzPts val="1150"/>
              <a:buFont typeface="Calibri"/>
              <a:buNone/>
            </a:pPr>
            <a:r>
              <a:rPr lang="en-US" sz="1150">
                <a:solidFill>
                  <a:srgbClr val="2A363F"/>
                </a:solidFill>
                <a:latin typeface="Calibri"/>
                <a:ea typeface="Calibri"/>
                <a:cs typeface="Calibri"/>
                <a:sym typeface="Calibri"/>
              </a:rPr>
              <a:t>An incorrect facility or level makes results impossible to compare over time — confirm these entries with the facility team.</a:t>
            </a:r>
            <a:endParaRPr/>
          </a:p>
        </p:txBody>
      </p:sp>
      <p:sp>
        <p:nvSpPr>
          <p:cNvPr id="168" name="Google Shape;168;p4"/>
          <p:cNvSpPr/>
          <p:nvPr/>
        </p:nvSpPr>
        <p:spPr>
          <a:xfrm>
            <a:off x="5435600" y="4724400"/>
            <a:ext cx="6121400" cy="1600200"/>
          </a:xfrm>
          <a:prstGeom prst="roundRect">
            <a:avLst>
              <a:gd fmla="val 16667" name="adj"/>
            </a:avLst>
          </a:prstGeom>
          <a:solidFill>
            <a:srgbClr val="F6F9FA"/>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69" name="Google Shape;169;p4"/>
          <p:cNvSpPr/>
          <p:nvPr/>
        </p:nvSpPr>
        <p:spPr>
          <a:xfrm>
            <a:off x="5435600" y="4724400"/>
            <a:ext cx="63500" cy="1600200"/>
          </a:xfrm>
          <a:prstGeom prst="rect">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70" name="Google Shape;170;p4"/>
          <p:cNvSpPr txBox="1"/>
          <p:nvPr/>
        </p:nvSpPr>
        <p:spPr>
          <a:xfrm>
            <a:off x="5600700" y="4838700"/>
            <a:ext cx="5854700" cy="31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Calibri"/>
                <a:ea typeface="Calibri"/>
                <a:cs typeface="Calibri"/>
                <a:sym typeface="Calibri"/>
              </a:rPr>
              <a:t>Why the baseline matters</a:t>
            </a:r>
            <a:endParaRPr/>
          </a:p>
        </p:txBody>
      </p:sp>
      <p:sp>
        <p:nvSpPr>
          <p:cNvPr id="171" name="Google Shape;171;p4"/>
          <p:cNvSpPr txBox="1"/>
          <p:nvPr/>
        </p:nvSpPr>
        <p:spPr>
          <a:xfrm>
            <a:off x="5600700" y="5207000"/>
            <a:ext cx="5854700" cy="101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The stage agreed today becomes the reference point for the next review. Record the evidence behind it so the facility team and the next supervisor can see why that stage was chosen.</a:t>
            </a:r>
            <a:endParaRPr sz="1150">
              <a:solidFill>
                <a:srgbClr val="2A363F"/>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5"/>
          <p:cNvSpPr/>
          <p:nvPr/>
        </p:nvSpPr>
        <p:spPr>
          <a:xfrm>
            <a:off x="0" y="0"/>
            <a:ext cx="12192000" cy="114300"/>
          </a:xfrm>
          <a:prstGeom prst="rect">
            <a:avLst/>
          </a:prstGeom>
          <a:solidFill>
            <a:srgbClr val="1F497D"/>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77" name="Google Shape;177;p5"/>
          <p:cNvSpPr txBox="1"/>
          <p:nvPr/>
        </p:nvSpPr>
        <p:spPr>
          <a:xfrm>
            <a:off x="596900" y="342900"/>
            <a:ext cx="10972800" cy="5078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700">
                <a:solidFill>
                  <a:srgbClr val="1F497D"/>
                </a:solidFill>
                <a:latin typeface="Play"/>
                <a:ea typeface="Play"/>
                <a:cs typeface="Play"/>
                <a:sym typeface="Play"/>
              </a:rPr>
              <a:t>The Facility Staging: Nine Domains</a:t>
            </a:r>
            <a:endParaRPr sz="2700">
              <a:solidFill>
                <a:srgbClr val="1F497D"/>
              </a:solidFill>
              <a:latin typeface="Play"/>
              <a:ea typeface="Play"/>
              <a:cs typeface="Play"/>
              <a:sym typeface="Play"/>
            </a:endParaRPr>
          </a:p>
        </p:txBody>
      </p:sp>
      <p:sp>
        <p:nvSpPr>
          <p:cNvPr id="178" name="Google Shape;178;p5"/>
          <p:cNvSpPr txBox="1"/>
          <p:nvPr/>
        </p:nvSpPr>
        <p:spPr>
          <a:xfrm>
            <a:off x="622300" y="901700"/>
            <a:ext cx="10795000" cy="38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50">
                <a:solidFill>
                  <a:srgbClr val="5F6D77"/>
                </a:solidFill>
                <a:latin typeface="Calibri"/>
                <a:ea typeface="Calibri"/>
                <a:cs typeface="Calibri"/>
                <a:sym typeface="Calibri"/>
              </a:rPr>
              <a:t>Each domain is assessed with the facility team to build one shared picture of performance</a:t>
            </a:r>
            <a:endParaRPr sz="1250">
              <a:solidFill>
                <a:srgbClr val="5F6D77"/>
              </a:solidFill>
              <a:latin typeface="Calibri"/>
              <a:ea typeface="Calibri"/>
              <a:cs typeface="Calibri"/>
              <a:sym typeface="Calibri"/>
            </a:endParaRPr>
          </a:p>
        </p:txBody>
      </p:sp>
      <p:sp>
        <p:nvSpPr>
          <p:cNvPr id="179" name="Google Shape;179;p5"/>
          <p:cNvSpPr/>
          <p:nvPr/>
        </p:nvSpPr>
        <p:spPr>
          <a:xfrm>
            <a:off x="596900" y="6527800"/>
            <a:ext cx="10972800" cy="12700"/>
          </a:xfrm>
          <a:prstGeom prst="rect">
            <a:avLst/>
          </a:prstGeom>
          <a:solidFill>
            <a:srgbClr val="D6DEE4"/>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80" name="Google Shape;180;p5"/>
          <p:cNvSpPr txBox="1"/>
          <p:nvPr/>
        </p:nvSpPr>
        <p:spPr>
          <a:xfrm>
            <a:off x="622300" y="6578600"/>
            <a:ext cx="9880600" cy="17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50">
                <a:solidFill>
                  <a:srgbClr val="5F6D77"/>
                </a:solidFill>
                <a:latin typeface="Calibri"/>
                <a:ea typeface="Calibri"/>
                <a:cs typeface="Calibri"/>
                <a:sym typeface="Calibri"/>
              </a:rPr>
              <a:t>Facility-level integrated service delivery tracking | Orientation</a:t>
            </a:r>
            <a:endParaRPr sz="850">
              <a:solidFill>
                <a:srgbClr val="5F6D77"/>
              </a:solidFill>
              <a:latin typeface="Calibri"/>
              <a:ea typeface="Calibri"/>
              <a:cs typeface="Calibri"/>
              <a:sym typeface="Calibri"/>
            </a:endParaRPr>
          </a:p>
        </p:txBody>
      </p:sp>
      <p:sp>
        <p:nvSpPr>
          <p:cNvPr id="181" name="Google Shape;181;p5"/>
          <p:cNvSpPr txBox="1"/>
          <p:nvPr/>
        </p:nvSpPr>
        <p:spPr>
          <a:xfrm>
            <a:off x="10972800" y="6553200"/>
            <a:ext cx="508000" cy="20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50">
                <a:solidFill>
                  <a:srgbClr val="5F6D77"/>
                </a:solidFill>
                <a:latin typeface="Calibri"/>
                <a:ea typeface="Calibri"/>
                <a:cs typeface="Calibri"/>
                <a:sym typeface="Calibri"/>
              </a:rPr>
              <a:t>4</a:t>
            </a:r>
            <a:endParaRPr/>
          </a:p>
        </p:txBody>
      </p:sp>
      <p:sp>
        <p:nvSpPr>
          <p:cNvPr id="182" name="Google Shape;182;p5"/>
          <p:cNvSpPr/>
          <p:nvPr/>
        </p:nvSpPr>
        <p:spPr>
          <a:xfrm>
            <a:off x="5435600" y="1358900"/>
            <a:ext cx="6121400" cy="1905000"/>
          </a:xfrm>
          <a:prstGeom prst="roundRect">
            <a:avLst>
              <a:gd fmla="val 16667" name="adj"/>
            </a:avLst>
          </a:prstGeom>
          <a:solidFill>
            <a:srgbClr val="F6F9FA"/>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83" name="Google Shape;183;p5"/>
          <p:cNvSpPr/>
          <p:nvPr/>
        </p:nvSpPr>
        <p:spPr>
          <a:xfrm>
            <a:off x="5435600" y="1358900"/>
            <a:ext cx="63500" cy="1905000"/>
          </a:xfrm>
          <a:prstGeom prst="rect">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84" name="Google Shape;184;p5"/>
          <p:cNvSpPr txBox="1"/>
          <p:nvPr/>
        </p:nvSpPr>
        <p:spPr>
          <a:xfrm>
            <a:off x="5600700" y="1473200"/>
            <a:ext cx="5854700" cy="31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Calibri"/>
                <a:ea typeface="Calibri"/>
                <a:cs typeface="Calibri"/>
                <a:sym typeface="Calibri"/>
              </a:rPr>
              <a:t>Nine domains, one conversation</a:t>
            </a:r>
            <a:endParaRPr/>
          </a:p>
        </p:txBody>
      </p:sp>
      <p:sp>
        <p:nvSpPr>
          <p:cNvPr id="185" name="Google Shape;185;p5"/>
          <p:cNvSpPr txBox="1"/>
          <p:nvPr/>
        </p:nvSpPr>
        <p:spPr>
          <a:xfrm>
            <a:off x="5600700" y="1841500"/>
            <a:ext cx="5854700" cy="1333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The assessment covers leadership and governance, service delivery, supply chain and medicines, HMIS, human resources, laboratory and diagnostics, community systems, health financing and quality improvement.</a:t>
            </a:r>
            <a:endParaRPr sz="1150">
              <a:solidFill>
                <a:srgbClr val="2A363F"/>
              </a:solidFill>
              <a:latin typeface="Calibri"/>
              <a:ea typeface="Calibri"/>
              <a:cs typeface="Calibri"/>
              <a:sym typeface="Calibri"/>
            </a:endParaRPr>
          </a:p>
        </p:txBody>
      </p:sp>
      <p:sp>
        <p:nvSpPr>
          <p:cNvPr id="186" name="Google Shape;186;p5"/>
          <p:cNvSpPr/>
          <p:nvPr/>
        </p:nvSpPr>
        <p:spPr>
          <a:xfrm>
            <a:off x="5435600" y="3454400"/>
            <a:ext cx="6121400" cy="1676400"/>
          </a:xfrm>
          <a:prstGeom prst="roundRect">
            <a:avLst>
              <a:gd fmla="val 16667" name="adj"/>
            </a:avLst>
          </a:prstGeom>
          <a:solidFill>
            <a:srgbClr val="F6F9FA"/>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87" name="Google Shape;187;p5"/>
          <p:cNvSpPr/>
          <p:nvPr/>
        </p:nvSpPr>
        <p:spPr>
          <a:xfrm>
            <a:off x="5435600" y="3454400"/>
            <a:ext cx="63500" cy="1676400"/>
          </a:xfrm>
          <a:prstGeom prst="rect">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88" name="Google Shape;188;p5"/>
          <p:cNvSpPr txBox="1"/>
          <p:nvPr/>
        </p:nvSpPr>
        <p:spPr>
          <a:xfrm>
            <a:off x="5600700" y="3568700"/>
            <a:ext cx="5854700" cy="31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Calibri"/>
                <a:ea typeface="Calibri"/>
                <a:cs typeface="Calibri"/>
                <a:sym typeface="Calibri"/>
              </a:rPr>
              <a:t>How to work through each domain</a:t>
            </a:r>
            <a:endParaRPr b="1" sz="1450">
              <a:solidFill>
                <a:srgbClr val="1F497D"/>
              </a:solidFill>
              <a:latin typeface="Calibri"/>
              <a:ea typeface="Calibri"/>
              <a:cs typeface="Calibri"/>
              <a:sym typeface="Calibri"/>
            </a:endParaRPr>
          </a:p>
        </p:txBody>
      </p:sp>
      <p:sp>
        <p:nvSpPr>
          <p:cNvPr id="189" name="Google Shape;189;p5"/>
          <p:cNvSpPr txBox="1"/>
          <p:nvPr/>
        </p:nvSpPr>
        <p:spPr>
          <a:xfrm>
            <a:off x="5600700" y="3937000"/>
            <a:ext cx="5854700" cy="1422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Open one domain at a time and complete it with the facility team using available evidence. Record the response, note the gap in your own words, and carry every priority gap forward into the Synthesis and Action Plan.</a:t>
            </a:r>
            <a:endParaRPr sz="1150">
              <a:solidFill>
                <a:srgbClr val="2A363F"/>
              </a:solidFill>
              <a:latin typeface="Calibri"/>
              <a:ea typeface="Calibri"/>
              <a:cs typeface="Calibri"/>
              <a:sym typeface="Calibri"/>
            </a:endParaRPr>
          </a:p>
        </p:txBody>
      </p:sp>
      <p:sp>
        <p:nvSpPr>
          <p:cNvPr id="190" name="Google Shape;190;p5"/>
          <p:cNvSpPr txBox="1"/>
          <p:nvPr/>
        </p:nvSpPr>
        <p:spPr>
          <a:xfrm>
            <a:off x="596900" y="4381500"/>
            <a:ext cx="4826000" cy="2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5F6D77"/>
                </a:solidFill>
                <a:latin typeface="Calibri"/>
                <a:ea typeface="Calibri"/>
                <a:cs typeface="Calibri"/>
                <a:sym typeface="Calibri"/>
              </a:rPr>
              <a:t>Expand a domain to reveal its assessment questions.</a:t>
            </a:r>
            <a:endParaRPr sz="1150">
              <a:solidFill>
                <a:srgbClr val="5F6D77"/>
              </a:solidFill>
              <a:latin typeface="Calibri"/>
              <a:ea typeface="Calibri"/>
              <a:cs typeface="Calibri"/>
              <a:sym typeface="Calibri"/>
            </a:endParaRPr>
          </a:p>
        </p:txBody>
      </p:sp>
      <p:pic>
        <p:nvPicPr>
          <p:cNvPr id="191" name="Google Shape;191;p5"/>
          <p:cNvPicPr preferRelativeResize="0"/>
          <p:nvPr/>
        </p:nvPicPr>
        <p:blipFill rotWithShape="1">
          <a:blip r:embed="rId3">
            <a:alphaModFix/>
          </a:blip>
          <a:srcRect b="0" l="0" r="0" t="0"/>
          <a:stretch/>
        </p:blipFill>
        <p:spPr>
          <a:xfrm>
            <a:off x="596900" y="1422400"/>
            <a:ext cx="4610100" cy="2832100"/>
          </a:xfrm>
          <a:prstGeom prst="rect">
            <a:avLst/>
          </a:prstGeom>
          <a:noFill/>
          <a:ln>
            <a:noFill/>
          </a:ln>
        </p:spPr>
      </p:pic>
      <p:sp>
        <p:nvSpPr>
          <p:cNvPr id="192" name="Google Shape;192;p5"/>
          <p:cNvSpPr/>
          <p:nvPr/>
        </p:nvSpPr>
        <p:spPr>
          <a:xfrm>
            <a:off x="5435600" y="5257800"/>
            <a:ext cx="6121400" cy="1066800"/>
          </a:xfrm>
          <a:prstGeom prst="roundRect">
            <a:avLst>
              <a:gd fmla="val 16667" name="adj"/>
            </a:avLst>
          </a:prstGeom>
          <a:solidFill>
            <a:srgbClr val="F6F9FA"/>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93" name="Google Shape;193;p5"/>
          <p:cNvSpPr/>
          <p:nvPr/>
        </p:nvSpPr>
        <p:spPr>
          <a:xfrm>
            <a:off x="5435600" y="5257800"/>
            <a:ext cx="63500" cy="1066800"/>
          </a:xfrm>
          <a:prstGeom prst="rect">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94" name="Google Shape;194;p5"/>
          <p:cNvSpPr txBox="1"/>
          <p:nvPr/>
        </p:nvSpPr>
        <p:spPr>
          <a:xfrm>
            <a:off x="5600700" y="5359400"/>
            <a:ext cx="5854700" cy="31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Calibri"/>
                <a:ea typeface="Calibri"/>
                <a:cs typeface="Calibri"/>
                <a:sym typeface="Calibri"/>
              </a:rPr>
              <a:t>Before you close a domain</a:t>
            </a:r>
            <a:endParaRPr b="1" sz="1450">
              <a:solidFill>
                <a:srgbClr val="1F497D"/>
              </a:solidFill>
              <a:latin typeface="Calibri"/>
              <a:ea typeface="Calibri"/>
              <a:cs typeface="Calibri"/>
              <a:sym typeface="Calibri"/>
            </a:endParaRPr>
          </a:p>
        </p:txBody>
      </p:sp>
      <p:sp>
        <p:nvSpPr>
          <p:cNvPr id="195" name="Google Shape;195;p5"/>
          <p:cNvSpPr txBox="1"/>
          <p:nvPr/>
        </p:nvSpPr>
        <p:spPr>
          <a:xfrm>
            <a:off x="5600700" y="5715000"/>
            <a:ext cx="5854700" cy="55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Confirm the facility team agrees with the response recorded, and that any gap is written clearly enough for someone who was not in the room to act on it.</a:t>
            </a:r>
            <a:endParaRPr sz="1150">
              <a:solidFill>
                <a:srgbClr val="2A363F"/>
              </a:solidFill>
              <a:latin typeface="Calibri"/>
              <a:ea typeface="Calibri"/>
              <a:cs typeface="Calibri"/>
              <a:sym typeface="Calibri"/>
            </a:endParaRPr>
          </a:p>
        </p:txBody>
      </p:sp>
      <p:sp>
        <p:nvSpPr>
          <p:cNvPr id="196" name="Google Shape;196;p5"/>
          <p:cNvSpPr txBox="1"/>
          <p:nvPr/>
        </p:nvSpPr>
        <p:spPr>
          <a:xfrm>
            <a:off x="596900" y="4724400"/>
            <a:ext cx="4826000" cy="1143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The nine domains stay the same across assessment, indicators and action planning — so findings, measures and actions all line up domain by domain.</a:t>
            </a:r>
            <a:endParaRPr sz="1150">
              <a:solidFill>
                <a:srgbClr val="2A363F"/>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sp>
        <p:nvSpPr>
          <p:cNvPr id="201" name="Google Shape;201;p6"/>
          <p:cNvSpPr/>
          <p:nvPr/>
        </p:nvSpPr>
        <p:spPr>
          <a:xfrm>
            <a:off x="0" y="0"/>
            <a:ext cx="12191695" cy="118872"/>
          </a:xfrm>
          <a:prstGeom prst="rect">
            <a:avLst/>
          </a:prstGeom>
          <a:solidFill>
            <a:srgbClr val="1F497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 name="Google Shape;202;p6"/>
          <p:cNvSpPr txBox="1"/>
          <p:nvPr/>
        </p:nvSpPr>
        <p:spPr>
          <a:xfrm>
            <a:off x="594360" y="347472"/>
            <a:ext cx="10972800" cy="5943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1F497D"/>
              </a:buClr>
              <a:buSzPts val="2700"/>
              <a:buFont typeface="Play"/>
              <a:buNone/>
            </a:pPr>
            <a:r>
              <a:rPr lang="en-US" sz="2700">
                <a:solidFill>
                  <a:srgbClr val="1F497D"/>
                </a:solidFill>
                <a:latin typeface="Play"/>
                <a:ea typeface="Play"/>
                <a:cs typeface="Play"/>
                <a:sym typeface="Play"/>
              </a:rPr>
              <a:t>3. Key Performance Indicators</a:t>
            </a:r>
            <a:endParaRPr/>
          </a:p>
        </p:txBody>
      </p:sp>
      <p:sp>
        <p:nvSpPr>
          <p:cNvPr id="203" name="Google Shape;203;p6"/>
          <p:cNvSpPr txBox="1"/>
          <p:nvPr/>
        </p:nvSpPr>
        <p:spPr>
          <a:xfrm>
            <a:off x="621792" y="896112"/>
            <a:ext cx="10789920"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5F6D77"/>
              </a:buClr>
              <a:buSzPts val="1250"/>
              <a:buFont typeface="Calibri"/>
              <a:buNone/>
            </a:pPr>
            <a:r>
              <a:rPr lang="en-US" sz="1250">
                <a:solidFill>
                  <a:srgbClr val="5F6D77"/>
                </a:solidFill>
                <a:latin typeface="Calibri"/>
                <a:ea typeface="Calibri"/>
                <a:cs typeface="Calibri"/>
                <a:sym typeface="Calibri"/>
              </a:rPr>
              <a:t>Review measured performance against the agreed indicators, then decide what the data is telling you</a:t>
            </a:r>
            <a:endParaRPr/>
          </a:p>
        </p:txBody>
      </p:sp>
      <p:sp>
        <p:nvSpPr>
          <p:cNvPr id="204" name="Google Shape;204;p6"/>
          <p:cNvSpPr/>
          <p:nvPr/>
        </p:nvSpPr>
        <p:spPr>
          <a:xfrm>
            <a:off x="596900" y="1371600"/>
            <a:ext cx="10972800" cy="3352800"/>
          </a:xfrm>
          <a:prstGeom prst="roundRect">
            <a:avLst>
              <a:gd fmla="val 16667" name="adj"/>
            </a:avLst>
          </a:prstGeom>
          <a:solidFill>
            <a:srgbClr val="F6F9FA"/>
          </a:solidFill>
          <a:ln cap="flat" cmpd="sng" w="9525">
            <a:solidFill>
              <a:srgbClr val="E8F1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5" name="Google Shape;205;p6"/>
          <p:cNvSpPr/>
          <p:nvPr/>
        </p:nvSpPr>
        <p:spPr>
          <a:xfrm>
            <a:off x="596900" y="1371600"/>
            <a:ext cx="64008" cy="3352800"/>
          </a:xfrm>
          <a:prstGeom prst="rect">
            <a:avLst/>
          </a:prstGeom>
          <a:solidFill>
            <a:srgbClr val="37719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 name="Google Shape;206;p6"/>
          <p:cNvSpPr txBox="1"/>
          <p:nvPr/>
        </p:nvSpPr>
        <p:spPr>
          <a:xfrm>
            <a:off x="762000" y="1481328"/>
            <a:ext cx="10541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1F497D"/>
                </a:solidFill>
                <a:latin typeface="Arial"/>
                <a:ea typeface="Arial"/>
                <a:cs typeface="Arial"/>
                <a:sym typeface="Arial"/>
              </a:rPr>
              <a:t>KEY PERFORMANCE INDICATORS</a:t>
            </a:r>
            <a:endParaRPr/>
          </a:p>
        </p:txBody>
      </p:sp>
      <p:sp>
        <p:nvSpPr>
          <p:cNvPr id="207" name="Google Shape;207;p6"/>
          <p:cNvSpPr txBox="1"/>
          <p:nvPr/>
        </p:nvSpPr>
        <p:spPr>
          <a:xfrm>
            <a:off x="762000" y="1847088"/>
            <a:ext cx="10541000"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rgbClr val="2A363F"/>
                </a:solidFill>
                <a:latin typeface="Arial"/>
                <a:ea typeface="Arial"/>
                <a:cs typeface="Arial"/>
                <a:sym typeface="Arial"/>
              </a:rPr>
              <a:t>Use the KPI section to review the facility’s performance against the agreed measures of integrated service delivery.</a:t>
            </a:r>
            <a:endParaRPr/>
          </a:p>
        </p:txBody>
      </p:sp>
      <p:sp>
        <p:nvSpPr>
          <p:cNvPr id="208" name="Google Shape;208;p6"/>
          <p:cNvSpPr txBox="1"/>
          <p:nvPr/>
        </p:nvSpPr>
        <p:spPr>
          <a:xfrm>
            <a:off x="838200" y="2311400"/>
            <a:ext cx="10287000" cy="1422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2A363F"/>
                </a:solidFill>
                <a:latin typeface="Arial"/>
                <a:ea typeface="Arial"/>
                <a:cs typeface="Arial"/>
                <a:sym typeface="Arial"/>
              </a:rPr>
              <a:t>• Review each indicator using available facility evidence/data.</a:t>
            </a:r>
            <a:endParaRPr/>
          </a:p>
          <a:p>
            <a:pPr indent="0" lvl="0" marL="0" marR="0" rtl="0" algn="l">
              <a:spcBef>
                <a:spcPts val="900"/>
              </a:spcBef>
              <a:spcAft>
                <a:spcPts val="0"/>
              </a:spcAft>
              <a:buNone/>
            </a:pPr>
            <a:r>
              <a:rPr lang="en-US" sz="1400">
                <a:solidFill>
                  <a:srgbClr val="2A363F"/>
                </a:solidFill>
                <a:latin typeface="Arial"/>
                <a:ea typeface="Arial"/>
                <a:cs typeface="Arial"/>
                <a:sym typeface="Arial"/>
              </a:rPr>
              <a:t>• Identify areas where performance is strong and where gaps remain.</a:t>
            </a:r>
            <a:endParaRPr/>
          </a:p>
          <a:p>
            <a:pPr indent="0" lvl="0" marL="0" marR="0" rtl="0" algn="l">
              <a:spcBef>
                <a:spcPts val="900"/>
              </a:spcBef>
              <a:spcAft>
                <a:spcPts val="0"/>
              </a:spcAft>
              <a:buNone/>
            </a:pPr>
            <a:r>
              <a:rPr lang="en-US" sz="1400">
                <a:solidFill>
                  <a:srgbClr val="2A363F"/>
                </a:solidFill>
                <a:latin typeface="Arial"/>
                <a:ea typeface="Arial"/>
                <a:cs typeface="Arial"/>
                <a:sym typeface="Arial"/>
              </a:rPr>
              <a:t>• Discuss the reasons for the gaps rather than treating the score as the end point.</a:t>
            </a:r>
            <a:endParaRPr/>
          </a:p>
          <a:p>
            <a:pPr indent="0" lvl="0" marL="0" marR="0" rtl="0" algn="l">
              <a:spcBef>
                <a:spcPts val="900"/>
              </a:spcBef>
              <a:spcAft>
                <a:spcPts val="0"/>
              </a:spcAft>
              <a:buNone/>
            </a:pPr>
            <a:r>
              <a:rPr lang="en-US" sz="1400">
                <a:solidFill>
                  <a:srgbClr val="2A363F"/>
                </a:solidFill>
                <a:latin typeface="Arial"/>
                <a:ea typeface="Arial"/>
                <a:cs typeface="Arial"/>
                <a:sym typeface="Arial"/>
              </a:rPr>
              <a:t>• Prioritise the indicators that require action.</a:t>
            </a:r>
            <a:endParaRPr/>
          </a:p>
        </p:txBody>
      </p:sp>
      <p:sp>
        <p:nvSpPr>
          <p:cNvPr id="209" name="Google Shape;209;p6"/>
          <p:cNvSpPr/>
          <p:nvPr/>
        </p:nvSpPr>
        <p:spPr>
          <a:xfrm>
            <a:off x="914400" y="3962400"/>
            <a:ext cx="438912" cy="438912"/>
          </a:xfrm>
          <a:prstGeom prst="ellipse">
            <a:avLst/>
          </a:prstGeom>
          <a:solidFill>
            <a:srgbClr val="37719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0" name="Google Shape;210;p6"/>
          <p:cNvSpPr txBox="1"/>
          <p:nvPr/>
        </p:nvSpPr>
        <p:spPr>
          <a:xfrm>
            <a:off x="914400" y="4000500"/>
            <a:ext cx="438912"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300">
                <a:solidFill>
                  <a:srgbClr val="FFFFFF"/>
                </a:solidFill>
                <a:latin typeface="Calibri"/>
                <a:ea typeface="Calibri"/>
                <a:cs typeface="Calibri"/>
                <a:sym typeface="Calibri"/>
              </a:rPr>
              <a:t>1</a:t>
            </a:r>
            <a:endParaRPr/>
          </a:p>
        </p:txBody>
      </p:sp>
      <p:sp>
        <p:nvSpPr>
          <p:cNvPr id="211" name="Google Shape;211;p6"/>
          <p:cNvSpPr txBox="1"/>
          <p:nvPr/>
        </p:nvSpPr>
        <p:spPr>
          <a:xfrm>
            <a:off x="1473200" y="3962400"/>
            <a:ext cx="2794000"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50">
                <a:solidFill>
                  <a:srgbClr val="1F497D"/>
                </a:solidFill>
                <a:latin typeface="Calibri"/>
                <a:ea typeface="Calibri"/>
                <a:cs typeface="Calibri"/>
                <a:sym typeface="Calibri"/>
              </a:rPr>
              <a:t>Review</a:t>
            </a:r>
            <a:endParaRPr/>
          </a:p>
        </p:txBody>
      </p:sp>
      <p:sp>
        <p:nvSpPr>
          <p:cNvPr id="212" name="Google Shape;212;p6"/>
          <p:cNvSpPr txBox="1"/>
          <p:nvPr/>
        </p:nvSpPr>
        <p:spPr>
          <a:xfrm>
            <a:off x="1473200" y="4267200"/>
            <a:ext cx="2794000"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KPI / evidence</a:t>
            </a:r>
            <a:endParaRPr/>
          </a:p>
        </p:txBody>
      </p:sp>
      <p:sp>
        <p:nvSpPr>
          <p:cNvPr id="213" name="Google Shape;213;p6"/>
          <p:cNvSpPr/>
          <p:nvPr/>
        </p:nvSpPr>
        <p:spPr>
          <a:xfrm>
            <a:off x="4470400" y="3962400"/>
            <a:ext cx="438912" cy="438912"/>
          </a:xfrm>
          <a:prstGeom prst="ellipse">
            <a:avLst/>
          </a:prstGeom>
          <a:solidFill>
            <a:srgbClr val="37719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4" name="Google Shape;214;p6"/>
          <p:cNvSpPr txBox="1"/>
          <p:nvPr/>
        </p:nvSpPr>
        <p:spPr>
          <a:xfrm>
            <a:off x="4470400" y="4000500"/>
            <a:ext cx="438912"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300">
                <a:solidFill>
                  <a:srgbClr val="FFFFFF"/>
                </a:solidFill>
                <a:latin typeface="Calibri"/>
                <a:ea typeface="Calibri"/>
                <a:cs typeface="Calibri"/>
                <a:sym typeface="Calibri"/>
              </a:rPr>
              <a:t>2</a:t>
            </a:r>
            <a:endParaRPr/>
          </a:p>
        </p:txBody>
      </p:sp>
      <p:sp>
        <p:nvSpPr>
          <p:cNvPr id="215" name="Google Shape;215;p6"/>
          <p:cNvSpPr txBox="1"/>
          <p:nvPr/>
        </p:nvSpPr>
        <p:spPr>
          <a:xfrm>
            <a:off x="5029200" y="3962400"/>
            <a:ext cx="2794000"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50">
                <a:solidFill>
                  <a:srgbClr val="1F497D"/>
                </a:solidFill>
                <a:latin typeface="Calibri"/>
                <a:ea typeface="Calibri"/>
                <a:cs typeface="Calibri"/>
                <a:sym typeface="Calibri"/>
              </a:rPr>
              <a:t>Interpret</a:t>
            </a:r>
            <a:endParaRPr/>
          </a:p>
        </p:txBody>
      </p:sp>
      <p:sp>
        <p:nvSpPr>
          <p:cNvPr id="216" name="Google Shape;216;p6"/>
          <p:cNvSpPr txBox="1"/>
          <p:nvPr/>
        </p:nvSpPr>
        <p:spPr>
          <a:xfrm>
            <a:off x="5029200" y="4267200"/>
            <a:ext cx="2794000"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Gap &amp; cause</a:t>
            </a:r>
            <a:endParaRPr/>
          </a:p>
        </p:txBody>
      </p:sp>
      <p:sp>
        <p:nvSpPr>
          <p:cNvPr id="217" name="Google Shape;217;p6"/>
          <p:cNvSpPr/>
          <p:nvPr/>
        </p:nvSpPr>
        <p:spPr>
          <a:xfrm>
            <a:off x="8026400" y="3962400"/>
            <a:ext cx="438912" cy="438912"/>
          </a:xfrm>
          <a:prstGeom prst="ellipse">
            <a:avLst/>
          </a:prstGeom>
          <a:solidFill>
            <a:srgbClr val="37719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8" name="Google Shape;218;p6"/>
          <p:cNvSpPr txBox="1"/>
          <p:nvPr/>
        </p:nvSpPr>
        <p:spPr>
          <a:xfrm>
            <a:off x="8026400" y="4000500"/>
            <a:ext cx="438912"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300">
                <a:solidFill>
                  <a:srgbClr val="FFFFFF"/>
                </a:solidFill>
                <a:latin typeface="Calibri"/>
                <a:ea typeface="Calibri"/>
                <a:cs typeface="Calibri"/>
                <a:sym typeface="Calibri"/>
              </a:rPr>
              <a:t>3</a:t>
            </a:r>
            <a:endParaRPr/>
          </a:p>
        </p:txBody>
      </p:sp>
      <p:sp>
        <p:nvSpPr>
          <p:cNvPr id="219" name="Google Shape;219;p6"/>
          <p:cNvSpPr txBox="1"/>
          <p:nvPr/>
        </p:nvSpPr>
        <p:spPr>
          <a:xfrm>
            <a:off x="8585200" y="3962400"/>
            <a:ext cx="2794000"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50">
                <a:solidFill>
                  <a:srgbClr val="1F497D"/>
                </a:solidFill>
                <a:latin typeface="Calibri"/>
                <a:ea typeface="Calibri"/>
                <a:cs typeface="Calibri"/>
                <a:sym typeface="Calibri"/>
              </a:rPr>
              <a:t>Prioritise</a:t>
            </a:r>
            <a:endParaRPr/>
          </a:p>
        </p:txBody>
      </p:sp>
      <p:sp>
        <p:nvSpPr>
          <p:cNvPr id="220" name="Google Shape;220;p6"/>
          <p:cNvSpPr txBox="1"/>
          <p:nvPr/>
        </p:nvSpPr>
        <p:spPr>
          <a:xfrm>
            <a:off x="8585200" y="4267200"/>
            <a:ext cx="2794000"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What matters most?</a:t>
            </a:r>
            <a:endParaRPr/>
          </a:p>
        </p:txBody>
      </p:sp>
      <p:sp>
        <p:nvSpPr>
          <p:cNvPr id="221" name="Google Shape;221;p6"/>
          <p:cNvSpPr/>
          <p:nvPr/>
        </p:nvSpPr>
        <p:spPr>
          <a:xfrm>
            <a:off x="594360" y="6528816"/>
            <a:ext cx="10972800" cy="9144"/>
          </a:xfrm>
          <a:prstGeom prst="rect">
            <a:avLst/>
          </a:prstGeom>
          <a:solidFill>
            <a:srgbClr val="E8F1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 name="Google Shape;222;p6"/>
          <p:cNvSpPr txBox="1"/>
          <p:nvPr/>
        </p:nvSpPr>
        <p:spPr>
          <a:xfrm>
            <a:off x="621792" y="6574536"/>
            <a:ext cx="98755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rgbClr val="5F6D77"/>
                </a:solidFill>
                <a:latin typeface="Arial"/>
                <a:ea typeface="Arial"/>
                <a:cs typeface="Arial"/>
                <a:sym typeface="Arial"/>
              </a:rPr>
              <a:t>Facility-level integrated service delivery tracking | Orientation</a:t>
            </a:r>
            <a:endParaRPr/>
          </a:p>
        </p:txBody>
      </p:sp>
      <p:sp>
        <p:nvSpPr>
          <p:cNvPr id="223" name="Google Shape;223;p6"/>
          <p:cNvSpPr txBox="1"/>
          <p:nvPr/>
        </p:nvSpPr>
        <p:spPr>
          <a:xfrm>
            <a:off x="10972800" y="6553200"/>
            <a:ext cx="508000" cy="203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850">
                <a:solidFill>
                  <a:srgbClr val="5F6D77"/>
                </a:solidFill>
                <a:latin typeface="Calibri"/>
                <a:ea typeface="Calibri"/>
                <a:cs typeface="Calibri"/>
                <a:sym typeface="Calibri"/>
              </a:rPr>
              <a:t>5</a:t>
            </a:r>
            <a:endParaRPr/>
          </a:p>
        </p:txBody>
      </p:sp>
      <p:sp>
        <p:nvSpPr>
          <p:cNvPr id="224" name="Google Shape;224;p6"/>
          <p:cNvSpPr/>
          <p:nvPr/>
        </p:nvSpPr>
        <p:spPr>
          <a:xfrm>
            <a:off x="596900" y="5029200"/>
            <a:ext cx="10972800" cy="1041400"/>
          </a:xfrm>
          <a:prstGeom prst="roundRect">
            <a:avLst>
              <a:gd fmla="val 16667" name="adj"/>
            </a:avLst>
          </a:prstGeom>
          <a:solidFill>
            <a:srgbClr val="F6F9FA"/>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25" name="Google Shape;225;p6"/>
          <p:cNvSpPr/>
          <p:nvPr/>
        </p:nvSpPr>
        <p:spPr>
          <a:xfrm>
            <a:off x="596900" y="5029200"/>
            <a:ext cx="63500" cy="1041400"/>
          </a:xfrm>
          <a:prstGeom prst="rect">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26" name="Google Shape;226;p6"/>
          <p:cNvSpPr txBox="1"/>
          <p:nvPr/>
        </p:nvSpPr>
        <p:spPr>
          <a:xfrm>
            <a:off x="762000" y="5143500"/>
            <a:ext cx="10541000" cy="31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Calibri"/>
                <a:ea typeface="Calibri"/>
                <a:cs typeface="Calibri"/>
                <a:sym typeface="Calibri"/>
              </a:rPr>
              <a:t>Every priority gap goes forward</a:t>
            </a:r>
            <a:endParaRPr b="1" sz="1450">
              <a:solidFill>
                <a:srgbClr val="1F497D"/>
              </a:solidFill>
              <a:latin typeface="Calibri"/>
              <a:ea typeface="Calibri"/>
              <a:cs typeface="Calibri"/>
              <a:sym typeface="Calibri"/>
            </a:endParaRPr>
          </a:p>
        </p:txBody>
      </p:sp>
      <p:sp>
        <p:nvSpPr>
          <p:cNvPr id="227" name="Google Shape;227;p6"/>
          <p:cNvSpPr txBox="1"/>
          <p:nvPr/>
        </p:nvSpPr>
        <p:spPr>
          <a:xfrm>
            <a:off x="762000" y="5499100"/>
            <a:ext cx="10541000" cy="40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Indicators are only the diagnosis. Each gap you prioritise here must be carried into the Synthesis &amp; Action Plan, then into the Action Tracker with an owner and a deadline.</a:t>
            </a:r>
            <a:endParaRPr sz="1150">
              <a:solidFill>
                <a:srgbClr val="2A363F"/>
              </a:solidFill>
              <a:latin typeface="Calibri"/>
              <a:ea typeface="Calibri"/>
              <a:cs typeface="Calibri"/>
              <a:sym typeface="Calibri"/>
            </a:endParaRPr>
          </a:p>
        </p:txBody>
      </p:sp>
      <p:sp>
        <p:nvSpPr>
          <p:cNvPr id="228" name="Google Shape;228;p6"/>
          <p:cNvSpPr/>
          <p:nvPr/>
        </p:nvSpPr>
        <p:spPr>
          <a:xfrm>
            <a:off x="4000500" y="4051300"/>
            <a:ext cx="279400" cy="254000"/>
          </a:xfrm>
          <a:prstGeom prst="chevron">
            <a:avLst>
              <a:gd fmla="val 50000" name="adj"/>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6"/>
          <p:cNvSpPr/>
          <p:nvPr/>
        </p:nvSpPr>
        <p:spPr>
          <a:xfrm>
            <a:off x="7556500" y="4051300"/>
            <a:ext cx="279400" cy="254000"/>
          </a:xfrm>
          <a:prstGeom prst="chevron">
            <a:avLst>
              <a:gd fmla="val 50000" name="adj"/>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9"/>
          <p:cNvSpPr/>
          <p:nvPr/>
        </p:nvSpPr>
        <p:spPr>
          <a:xfrm>
            <a:off x="0" y="0"/>
            <a:ext cx="12192000" cy="114300"/>
          </a:xfrm>
          <a:prstGeom prst="rect">
            <a:avLst/>
          </a:prstGeom>
          <a:solidFill>
            <a:srgbClr val="1F497D"/>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35" name="Google Shape;235;p9"/>
          <p:cNvSpPr txBox="1"/>
          <p:nvPr/>
        </p:nvSpPr>
        <p:spPr>
          <a:xfrm>
            <a:off x="596900" y="342900"/>
            <a:ext cx="10972800" cy="59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700">
                <a:solidFill>
                  <a:srgbClr val="1F497D"/>
                </a:solidFill>
                <a:latin typeface="Play"/>
                <a:ea typeface="Play"/>
                <a:cs typeface="Play"/>
                <a:sym typeface="Play"/>
              </a:rPr>
              <a:t>Key Performance Indicators by Domain</a:t>
            </a:r>
            <a:endParaRPr sz="2700">
              <a:solidFill>
                <a:srgbClr val="1F497D"/>
              </a:solidFill>
              <a:latin typeface="Play"/>
              <a:ea typeface="Play"/>
              <a:cs typeface="Play"/>
              <a:sym typeface="Play"/>
            </a:endParaRPr>
          </a:p>
        </p:txBody>
      </p:sp>
      <p:sp>
        <p:nvSpPr>
          <p:cNvPr id="236" name="Google Shape;236;p9"/>
          <p:cNvSpPr txBox="1"/>
          <p:nvPr/>
        </p:nvSpPr>
        <p:spPr>
          <a:xfrm>
            <a:off x="622300" y="901700"/>
            <a:ext cx="10795000" cy="38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50">
                <a:solidFill>
                  <a:srgbClr val="5F6D77"/>
                </a:solidFill>
                <a:latin typeface="Calibri"/>
                <a:ea typeface="Calibri"/>
                <a:cs typeface="Calibri"/>
                <a:sym typeface="Calibri"/>
              </a:rPr>
              <a:t>The same nine domains, now measured — indicators show whether integration is improving</a:t>
            </a:r>
            <a:endParaRPr sz="1250">
              <a:solidFill>
                <a:srgbClr val="5F6D77"/>
              </a:solidFill>
              <a:latin typeface="Calibri"/>
              <a:ea typeface="Calibri"/>
              <a:cs typeface="Calibri"/>
              <a:sym typeface="Calibri"/>
            </a:endParaRPr>
          </a:p>
        </p:txBody>
      </p:sp>
      <p:sp>
        <p:nvSpPr>
          <p:cNvPr id="237" name="Google Shape;237;p9"/>
          <p:cNvSpPr/>
          <p:nvPr/>
        </p:nvSpPr>
        <p:spPr>
          <a:xfrm>
            <a:off x="5435600" y="1358900"/>
            <a:ext cx="6121400" cy="1905000"/>
          </a:xfrm>
          <a:prstGeom prst="roundRect">
            <a:avLst>
              <a:gd fmla="val 16667" name="adj"/>
            </a:avLst>
          </a:prstGeom>
          <a:solidFill>
            <a:srgbClr val="F6F9FA"/>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38" name="Google Shape;238;p9"/>
          <p:cNvSpPr/>
          <p:nvPr/>
        </p:nvSpPr>
        <p:spPr>
          <a:xfrm>
            <a:off x="5435600" y="1358900"/>
            <a:ext cx="63500" cy="1905000"/>
          </a:xfrm>
          <a:prstGeom prst="rect">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39" name="Google Shape;239;p9"/>
          <p:cNvSpPr txBox="1"/>
          <p:nvPr/>
        </p:nvSpPr>
        <p:spPr>
          <a:xfrm>
            <a:off x="5600700" y="1473200"/>
            <a:ext cx="5854700" cy="31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Calibri"/>
                <a:ea typeface="Calibri"/>
                <a:cs typeface="Calibri"/>
                <a:sym typeface="Calibri"/>
              </a:rPr>
              <a:t>Mirrors the assessment structure</a:t>
            </a:r>
            <a:endParaRPr/>
          </a:p>
        </p:txBody>
      </p:sp>
      <p:sp>
        <p:nvSpPr>
          <p:cNvPr id="240" name="Google Shape;240;p9"/>
          <p:cNvSpPr txBox="1"/>
          <p:nvPr/>
        </p:nvSpPr>
        <p:spPr>
          <a:xfrm>
            <a:off x="5600700" y="1841500"/>
            <a:ext cx="5854700" cy="1333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KPIs are organised under the same nine domains as the assessment, so qualitative findings and measured performance line up directly for each area of the facility.</a:t>
            </a:r>
            <a:endParaRPr sz="1150">
              <a:solidFill>
                <a:srgbClr val="2A363F"/>
              </a:solidFill>
              <a:latin typeface="Calibri"/>
              <a:ea typeface="Calibri"/>
              <a:cs typeface="Calibri"/>
              <a:sym typeface="Calibri"/>
            </a:endParaRPr>
          </a:p>
        </p:txBody>
      </p:sp>
      <p:sp>
        <p:nvSpPr>
          <p:cNvPr id="241" name="Google Shape;241;p9"/>
          <p:cNvSpPr/>
          <p:nvPr/>
        </p:nvSpPr>
        <p:spPr>
          <a:xfrm>
            <a:off x="5435600" y="3454400"/>
            <a:ext cx="6121400" cy="2032000"/>
          </a:xfrm>
          <a:prstGeom prst="roundRect">
            <a:avLst>
              <a:gd fmla="val 16667" name="adj"/>
            </a:avLst>
          </a:prstGeom>
          <a:solidFill>
            <a:srgbClr val="F6F9FA"/>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42" name="Google Shape;242;p9"/>
          <p:cNvSpPr/>
          <p:nvPr/>
        </p:nvSpPr>
        <p:spPr>
          <a:xfrm>
            <a:off x="5435600" y="3454400"/>
            <a:ext cx="63500" cy="2032000"/>
          </a:xfrm>
          <a:prstGeom prst="rect">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43" name="Google Shape;243;p9"/>
          <p:cNvSpPr txBox="1"/>
          <p:nvPr/>
        </p:nvSpPr>
        <p:spPr>
          <a:xfrm>
            <a:off x="5600700" y="3568700"/>
            <a:ext cx="5854700" cy="31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Calibri"/>
                <a:ea typeface="Calibri"/>
                <a:cs typeface="Calibri"/>
                <a:sym typeface="Calibri"/>
              </a:rPr>
              <a:t>Using the indicators well</a:t>
            </a:r>
            <a:endParaRPr/>
          </a:p>
        </p:txBody>
      </p:sp>
      <p:sp>
        <p:nvSpPr>
          <p:cNvPr id="244" name="Google Shape;244;p9"/>
          <p:cNvSpPr txBox="1"/>
          <p:nvPr/>
        </p:nvSpPr>
        <p:spPr>
          <a:xfrm>
            <a:off x="5600700" y="3937000"/>
            <a:ext cx="5854700" cy="1422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Enter the current value for each indicator from facility records rather than recall. Compare it with the previous review to show direction of travel, and discuss the reasons behind any indicator that has not moved.</a:t>
            </a:r>
            <a:endParaRPr sz="1150">
              <a:solidFill>
                <a:srgbClr val="2A363F"/>
              </a:solidFill>
              <a:latin typeface="Calibri"/>
              <a:ea typeface="Calibri"/>
              <a:cs typeface="Calibri"/>
              <a:sym typeface="Calibri"/>
            </a:endParaRPr>
          </a:p>
        </p:txBody>
      </p:sp>
      <p:sp>
        <p:nvSpPr>
          <p:cNvPr id="245" name="Google Shape;245;p9"/>
          <p:cNvSpPr txBox="1"/>
          <p:nvPr/>
        </p:nvSpPr>
        <p:spPr>
          <a:xfrm>
            <a:off x="596900" y="3962400"/>
            <a:ext cx="4610100" cy="2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5F6D77"/>
                </a:solidFill>
                <a:latin typeface="Calibri"/>
                <a:ea typeface="Calibri"/>
                <a:cs typeface="Calibri"/>
                <a:sym typeface="Calibri"/>
              </a:rPr>
              <a:t>Indicators support the improvement discussion — they are not a scorecard.</a:t>
            </a:r>
            <a:endParaRPr sz="1150">
              <a:solidFill>
                <a:srgbClr val="5F6D77"/>
              </a:solidFill>
              <a:latin typeface="Calibri"/>
              <a:ea typeface="Calibri"/>
              <a:cs typeface="Calibri"/>
              <a:sym typeface="Calibri"/>
            </a:endParaRPr>
          </a:p>
        </p:txBody>
      </p:sp>
      <p:sp>
        <p:nvSpPr>
          <p:cNvPr id="246" name="Google Shape;246;p9"/>
          <p:cNvSpPr/>
          <p:nvPr/>
        </p:nvSpPr>
        <p:spPr>
          <a:xfrm>
            <a:off x="596900" y="6527800"/>
            <a:ext cx="10972800" cy="12700"/>
          </a:xfrm>
          <a:prstGeom prst="rect">
            <a:avLst/>
          </a:prstGeom>
          <a:solidFill>
            <a:srgbClr val="D6DEE4"/>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47" name="Google Shape;247;p9"/>
          <p:cNvSpPr txBox="1"/>
          <p:nvPr/>
        </p:nvSpPr>
        <p:spPr>
          <a:xfrm>
            <a:off x="622300" y="6578600"/>
            <a:ext cx="9880600" cy="17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50">
                <a:solidFill>
                  <a:srgbClr val="5F6D77"/>
                </a:solidFill>
                <a:latin typeface="Calibri"/>
                <a:ea typeface="Calibri"/>
                <a:cs typeface="Calibri"/>
                <a:sym typeface="Calibri"/>
              </a:rPr>
              <a:t>Facility-level integrated service delivery tracking | Orientation</a:t>
            </a:r>
            <a:endParaRPr sz="850">
              <a:solidFill>
                <a:srgbClr val="5F6D77"/>
              </a:solidFill>
              <a:latin typeface="Calibri"/>
              <a:ea typeface="Calibri"/>
              <a:cs typeface="Calibri"/>
              <a:sym typeface="Calibri"/>
            </a:endParaRPr>
          </a:p>
        </p:txBody>
      </p:sp>
      <p:sp>
        <p:nvSpPr>
          <p:cNvPr id="248" name="Google Shape;248;p9"/>
          <p:cNvSpPr txBox="1"/>
          <p:nvPr/>
        </p:nvSpPr>
        <p:spPr>
          <a:xfrm>
            <a:off x="10972800" y="6553200"/>
            <a:ext cx="508000" cy="20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850">
                <a:solidFill>
                  <a:srgbClr val="5F6D77"/>
                </a:solidFill>
                <a:latin typeface="Calibri"/>
                <a:ea typeface="Calibri"/>
                <a:cs typeface="Calibri"/>
                <a:sym typeface="Calibri"/>
              </a:rPr>
              <a:t>8</a:t>
            </a:r>
            <a:endParaRPr/>
          </a:p>
        </p:txBody>
      </p:sp>
      <p:pic>
        <p:nvPicPr>
          <p:cNvPr id="249" name="Google Shape;249;p9"/>
          <p:cNvPicPr preferRelativeResize="0"/>
          <p:nvPr/>
        </p:nvPicPr>
        <p:blipFill rotWithShape="1">
          <a:blip r:embed="rId3">
            <a:alphaModFix/>
          </a:blip>
          <a:srcRect b="0" l="0" r="0" t="0"/>
          <a:stretch/>
        </p:blipFill>
        <p:spPr>
          <a:xfrm>
            <a:off x="596900" y="1422400"/>
            <a:ext cx="4610100" cy="2387600"/>
          </a:xfrm>
          <a:prstGeom prst="rect">
            <a:avLst/>
          </a:prstGeom>
          <a:noFill/>
          <a:ln>
            <a:noFill/>
          </a:ln>
        </p:spPr>
      </p:pic>
      <p:sp>
        <p:nvSpPr>
          <p:cNvPr id="250" name="Google Shape;250;p9"/>
          <p:cNvSpPr txBox="1"/>
          <p:nvPr/>
        </p:nvSpPr>
        <p:spPr>
          <a:xfrm>
            <a:off x="596900" y="4318000"/>
            <a:ext cx="4610100" cy="76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Because the indicators sit under the same nine domains as the assessment, a weak KPI points straight to the domain — and the gap — that needs attention.</a:t>
            </a:r>
            <a:endParaRPr sz="1150">
              <a:solidFill>
                <a:srgbClr val="2A363F"/>
              </a:solidFill>
              <a:latin typeface="Calibri"/>
              <a:ea typeface="Calibri"/>
              <a:cs typeface="Calibri"/>
              <a:sym typeface="Calibri"/>
            </a:endParaRPr>
          </a:p>
        </p:txBody>
      </p:sp>
      <p:sp>
        <p:nvSpPr>
          <p:cNvPr id="251" name="Google Shape;251;p9"/>
          <p:cNvSpPr/>
          <p:nvPr/>
        </p:nvSpPr>
        <p:spPr>
          <a:xfrm>
            <a:off x="5435600" y="5676900"/>
            <a:ext cx="6121400" cy="647700"/>
          </a:xfrm>
          <a:prstGeom prst="roundRect">
            <a:avLst>
              <a:gd fmla="val 16667" name="adj"/>
            </a:avLst>
          </a:prstGeom>
          <a:solidFill>
            <a:srgbClr val="F6F9FA"/>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52" name="Google Shape;252;p9"/>
          <p:cNvSpPr/>
          <p:nvPr/>
        </p:nvSpPr>
        <p:spPr>
          <a:xfrm>
            <a:off x="5435600" y="5676900"/>
            <a:ext cx="63500" cy="647700"/>
          </a:xfrm>
          <a:prstGeom prst="rect">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53" name="Google Shape;253;p9"/>
          <p:cNvSpPr txBox="1"/>
          <p:nvPr/>
        </p:nvSpPr>
        <p:spPr>
          <a:xfrm>
            <a:off x="5600700" y="5867400"/>
            <a:ext cx="5854700" cy="31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50">
                <a:solidFill>
                  <a:srgbClr val="1F497D"/>
                </a:solidFill>
                <a:latin typeface="Calibri"/>
                <a:ea typeface="Calibri"/>
                <a:cs typeface="Calibri"/>
                <a:sym typeface="Calibri"/>
              </a:rPr>
              <a:t>Review indicators with the facility team, not about them.</a:t>
            </a:r>
            <a:endParaRPr b="1" sz="1250">
              <a:solidFill>
                <a:srgbClr val="1F497D"/>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sp>
        <p:nvSpPr>
          <p:cNvPr id="258" name="Google Shape;258;p10"/>
          <p:cNvSpPr/>
          <p:nvPr/>
        </p:nvSpPr>
        <p:spPr>
          <a:xfrm>
            <a:off x="0" y="0"/>
            <a:ext cx="12191695" cy="118872"/>
          </a:xfrm>
          <a:prstGeom prst="rect">
            <a:avLst/>
          </a:prstGeom>
          <a:solidFill>
            <a:srgbClr val="1F497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9" name="Google Shape;259;p10"/>
          <p:cNvSpPr txBox="1"/>
          <p:nvPr/>
        </p:nvSpPr>
        <p:spPr>
          <a:xfrm>
            <a:off x="594360" y="347472"/>
            <a:ext cx="109728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700">
                <a:solidFill>
                  <a:srgbClr val="1F497D"/>
                </a:solidFill>
                <a:latin typeface="Play"/>
                <a:ea typeface="Play"/>
                <a:cs typeface="Play"/>
                <a:sym typeface="Play"/>
              </a:rPr>
              <a:t>4</a:t>
            </a:r>
            <a:r>
              <a:rPr b="1" lang="en-US" sz="2700">
                <a:solidFill>
                  <a:srgbClr val="1F497D"/>
                </a:solidFill>
                <a:latin typeface="Play"/>
                <a:ea typeface="Play"/>
                <a:cs typeface="Play"/>
                <a:sym typeface="Play"/>
              </a:rPr>
              <a:t>. Shared Experiences — Turn Facility Learning into System Learning</a:t>
            </a:r>
            <a:endParaRPr/>
          </a:p>
        </p:txBody>
      </p:sp>
      <p:sp>
        <p:nvSpPr>
          <p:cNvPr id="260" name="Google Shape;260;p10"/>
          <p:cNvSpPr/>
          <p:nvPr/>
        </p:nvSpPr>
        <p:spPr>
          <a:xfrm>
            <a:off x="5577840" y="1371600"/>
            <a:ext cx="5669280" cy="1234440"/>
          </a:xfrm>
          <a:prstGeom prst="roundRect">
            <a:avLst>
              <a:gd fmla="val 16667" name="adj"/>
            </a:avLst>
          </a:prstGeom>
          <a:solidFill>
            <a:srgbClr val="F6F9FA"/>
          </a:solidFill>
          <a:ln cap="flat" cmpd="sng" w="9525">
            <a:solidFill>
              <a:srgbClr val="E8F1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1" name="Google Shape;261;p10"/>
          <p:cNvSpPr/>
          <p:nvPr/>
        </p:nvSpPr>
        <p:spPr>
          <a:xfrm>
            <a:off x="5577840" y="1371600"/>
            <a:ext cx="64008" cy="1234440"/>
          </a:xfrm>
          <a:prstGeom prst="rect">
            <a:avLst/>
          </a:prstGeom>
          <a:solidFill>
            <a:srgbClr val="37719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2" name="Google Shape;262;p10"/>
          <p:cNvSpPr txBox="1"/>
          <p:nvPr/>
        </p:nvSpPr>
        <p:spPr>
          <a:xfrm>
            <a:off x="5742431" y="1481328"/>
            <a:ext cx="539496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1F497D"/>
                </a:solidFill>
                <a:latin typeface="Arial"/>
                <a:ea typeface="Arial"/>
                <a:cs typeface="Arial"/>
                <a:sym typeface="Arial"/>
              </a:rPr>
              <a:t>What to capture</a:t>
            </a:r>
            <a:endParaRPr/>
          </a:p>
        </p:txBody>
      </p:sp>
      <p:sp>
        <p:nvSpPr>
          <p:cNvPr id="263" name="Google Shape;263;p10"/>
          <p:cNvSpPr txBox="1"/>
          <p:nvPr/>
        </p:nvSpPr>
        <p:spPr>
          <a:xfrm>
            <a:off x="5742431" y="1847088"/>
            <a:ext cx="5394960" cy="6675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2A363F"/>
                </a:solidFill>
                <a:latin typeface="Arial"/>
                <a:ea typeface="Arial"/>
                <a:cs typeface="Arial"/>
                <a:sym typeface="Arial"/>
              </a:rPr>
              <a:t>Practical experiences from implementation: innovations, successes, challenges, solutions and lessons that could help another facility.</a:t>
            </a:r>
            <a:endParaRPr/>
          </a:p>
        </p:txBody>
      </p:sp>
      <p:sp>
        <p:nvSpPr>
          <p:cNvPr id="264" name="Google Shape;264;p10"/>
          <p:cNvSpPr/>
          <p:nvPr/>
        </p:nvSpPr>
        <p:spPr>
          <a:xfrm>
            <a:off x="5577840" y="2880360"/>
            <a:ext cx="2606040" cy="1051560"/>
          </a:xfrm>
          <a:prstGeom prst="roundRect">
            <a:avLst>
              <a:gd fmla="val 16667" name="adj"/>
            </a:avLst>
          </a:prstGeom>
          <a:solidFill>
            <a:srgbClr val="F6F9FA"/>
          </a:solidFill>
          <a:ln cap="flat" cmpd="sng" w="9525">
            <a:solidFill>
              <a:srgbClr val="E8F1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5" name="Google Shape;265;p10"/>
          <p:cNvSpPr/>
          <p:nvPr/>
        </p:nvSpPr>
        <p:spPr>
          <a:xfrm>
            <a:off x="5577840" y="2880360"/>
            <a:ext cx="64008" cy="1051560"/>
          </a:xfrm>
          <a:prstGeom prst="rect">
            <a:avLst/>
          </a:prstGeom>
          <a:solidFill>
            <a:srgbClr val="46826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 name="Google Shape;266;p10"/>
          <p:cNvSpPr txBox="1"/>
          <p:nvPr/>
        </p:nvSpPr>
        <p:spPr>
          <a:xfrm>
            <a:off x="5742431" y="2990088"/>
            <a:ext cx="233172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50">
                <a:solidFill>
                  <a:srgbClr val="1F497D"/>
                </a:solidFill>
                <a:latin typeface="Arial"/>
                <a:ea typeface="Arial"/>
                <a:cs typeface="Arial"/>
                <a:sym typeface="Arial"/>
              </a:rPr>
              <a:t>SUCCESS</a:t>
            </a:r>
            <a:endParaRPr/>
          </a:p>
        </p:txBody>
      </p:sp>
      <p:sp>
        <p:nvSpPr>
          <p:cNvPr id="267" name="Google Shape;267;p10"/>
          <p:cNvSpPr txBox="1"/>
          <p:nvPr/>
        </p:nvSpPr>
        <p:spPr>
          <a:xfrm>
            <a:off x="5742431" y="3355848"/>
            <a:ext cx="2331720" cy="4846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19">
                <a:solidFill>
                  <a:srgbClr val="2A363F"/>
                </a:solidFill>
                <a:latin typeface="Arial"/>
                <a:ea typeface="Arial"/>
                <a:cs typeface="Arial"/>
                <a:sym typeface="Arial"/>
              </a:rPr>
              <a:t>What improved and why?</a:t>
            </a:r>
            <a:endParaRPr/>
          </a:p>
        </p:txBody>
      </p:sp>
      <p:sp>
        <p:nvSpPr>
          <p:cNvPr id="268" name="Google Shape;268;p10"/>
          <p:cNvSpPr/>
          <p:nvPr/>
        </p:nvSpPr>
        <p:spPr>
          <a:xfrm>
            <a:off x="8412480" y="2880360"/>
            <a:ext cx="2606040" cy="1051560"/>
          </a:xfrm>
          <a:prstGeom prst="roundRect">
            <a:avLst>
              <a:gd fmla="val 16667" name="adj"/>
            </a:avLst>
          </a:prstGeom>
          <a:solidFill>
            <a:srgbClr val="F6F9FA"/>
          </a:solidFill>
          <a:ln cap="flat" cmpd="sng" w="9525">
            <a:solidFill>
              <a:srgbClr val="E8F1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 name="Google Shape;269;p10"/>
          <p:cNvSpPr/>
          <p:nvPr/>
        </p:nvSpPr>
        <p:spPr>
          <a:xfrm>
            <a:off x="8412480" y="2880360"/>
            <a:ext cx="64008" cy="1051560"/>
          </a:xfrm>
          <a:prstGeom prst="rect">
            <a:avLst/>
          </a:prstGeom>
          <a:solidFill>
            <a:srgbClr val="CF843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0" name="Google Shape;270;p10"/>
          <p:cNvSpPr txBox="1"/>
          <p:nvPr/>
        </p:nvSpPr>
        <p:spPr>
          <a:xfrm>
            <a:off x="8577072" y="2990088"/>
            <a:ext cx="233172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50">
                <a:solidFill>
                  <a:srgbClr val="1F497D"/>
                </a:solidFill>
                <a:latin typeface="Arial"/>
                <a:ea typeface="Arial"/>
                <a:cs typeface="Arial"/>
                <a:sym typeface="Arial"/>
              </a:rPr>
              <a:t>CHALLENGE</a:t>
            </a:r>
            <a:endParaRPr/>
          </a:p>
        </p:txBody>
      </p:sp>
      <p:sp>
        <p:nvSpPr>
          <p:cNvPr id="271" name="Google Shape;271;p10"/>
          <p:cNvSpPr txBox="1"/>
          <p:nvPr/>
        </p:nvSpPr>
        <p:spPr>
          <a:xfrm>
            <a:off x="8577072" y="3355848"/>
            <a:ext cx="2331720" cy="4846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19">
                <a:solidFill>
                  <a:srgbClr val="2A363F"/>
                </a:solidFill>
                <a:latin typeface="Arial"/>
                <a:ea typeface="Arial"/>
                <a:cs typeface="Arial"/>
                <a:sym typeface="Arial"/>
              </a:rPr>
              <a:t>What did not work as expected?</a:t>
            </a:r>
            <a:endParaRPr/>
          </a:p>
        </p:txBody>
      </p:sp>
      <p:sp>
        <p:nvSpPr>
          <p:cNvPr id="272" name="Google Shape;272;p10"/>
          <p:cNvSpPr/>
          <p:nvPr/>
        </p:nvSpPr>
        <p:spPr>
          <a:xfrm>
            <a:off x="5577840" y="4142231"/>
            <a:ext cx="2606040" cy="1051560"/>
          </a:xfrm>
          <a:prstGeom prst="roundRect">
            <a:avLst>
              <a:gd fmla="val 16667" name="adj"/>
            </a:avLst>
          </a:prstGeom>
          <a:solidFill>
            <a:srgbClr val="F6F9FA"/>
          </a:solidFill>
          <a:ln cap="flat" cmpd="sng" w="9525">
            <a:solidFill>
              <a:srgbClr val="E8F1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3" name="Google Shape;273;p10"/>
          <p:cNvSpPr/>
          <p:nvPr/>
        </p:nvSpPr>
        <p:spPr>
          <a:xfrm>
            <a:off x="5577840" y="4142231"/>
            <a:ext cx="64008" cy="1051560"/>
          </a:xfrm>
          <a:prstGeom prst="rect">
            <a:avLst/>
          </a:prstGeom>
          <a:solidFill>
            <a:srgbClr val="37719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4" name="Google Shape;274;p10"/>
          <p:cNvSpPr txBox="1"/>
          <p:nvPr/>
        </p:nvSpPr>
        <p:spPr>
          <a:xfrm>
            <a:off x="5742431" y="4251959"/>
            <a:ext cx="233172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50">
                <a:solidFill>
                  <a:srgbClr val="1F497D"/>
                </a:solidFill>
                <a:latin typeface="Arial"/>
                <a:ea typeface="Arial"/>
                <a:cs typeface="Arial"/>
                <a:sym typeface="Arial"/>
              </a:rPr>
              <a:t>SOLUTION</a:t>
            </a:r>
            <a:endParaRPr/>
          </a:p>
        </p:txBody>
      </p:sp>
      <p:sp>
        <p:nvSpPr>
          <p:cNvPr id="275" name="Google Shape;275;p10"/>
          <p:cNvSpPr txBox="1"/>
          <p:nvPr/>
        </p:nvSpPr>
        <p:spPr>
          <a:xfrm>
            <a:off x="5742431" y="4617719"/>
            <a:ext cx="2331720" cy="4846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19">
                <a:solidFill>
                  <a:srgbClr val="2A363F"/>
                </a:solidFill>
                <a:latin typeface="Arial"/>
                <a:ea typeface="Arial"/>
                <a:cs typeface="Arial"/>
                <a:sym typeface="Arial"/>
              </a:rPr>
              <a:t>What did the team change?</a:t>
            </a:r>
            <a:endParaRPr/>
          </a:p>
        </p:txBody>
      </p:sp>
      <p:sp>
        <p:nvSpPr>
          <p:cNvPr id="276" name="Google Shape;276;p10"/>
          <p:cNvSpPr/>
          <p:nvPr/>
        </p:nvSpPr>
        <p:spPr>
          <a:xfrm>
            <a:off x="8412480" y="4142231"/>
            <a:ext cx="2606040" cy="1051560"/>
          </a:xfrm>
          <a:prstGeom prst="roundRect">
            <a:avLst>
              <a:gd fmla="val 16667" name="adj"/>
            </a:avLst>
          </a:prstGeom>
          <a:solidFill>
            <a:srgbClr val="F6F9FA"/>
          </a:solidFill>
          <a:ln cap="flat" cmpd="sng" w="9525">
            <a:solidFill>
              <a:srgbClr val="E8F1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 name="Google Shape;277;p10"/>
          <p:cNvSpPr/>
          <p:nvPr/>
        </p:nvSpPr>
        <p:spPr>
          <a:xfrm>
            <a:off x="8412480" y="4142231"/>
            <a:ext cx="64008" cy="1051560"/>
          </a:xfrm>
          <a:prstGeom prst="rect">
            <a:avLst/>
          </a:prstGeom>
          <a:solidFill>
            <a:srgbClr val="46826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8" name="Google Shape;278;p10"/>
          <p:cNvSpPr txBox="1"/>
          <p:nvPr/>
        </p:nvSpPr>
        <p:spPr>
          <a:xfrm>
            <a:off x="8577072" y="4251959"/>
            <a:ext cx="233172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50">
                <a:solidFill>
                  <a:srgbClr val="1F497D"/>
                </a:solidFill>
                <a:latin typeface="Arial"/>
                <a:ea typeface="Arial"/>
                <a:cs typeface="Arial"/>
                <a:sym typeface="Arial"/>
              </a:rPr>
              <a:t>LESSON</a:t>
            </a:r>
            <a:endParaRPr/>
          </a:p>
        </p:txBody>
      </p:sp>
      <p:sp>
        <p:nvSpPr>
          <p:cNvPr id="279" name="Google Shape;279;p10"/>
          <p:cNvSpPr txBox="1"/>
          <p:nvPr/>
        </p:nvSpPr>
        <p:spPr>
          <a:xfrm>
            <a:off x="8577072" y="4617719"/>
            <a:ext cx="2331720" cy="4846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19">
                <a:solidFill>
                  <a:srgbClr val="2A363F"/>
                </a:solidFill>
                <a:latin typeface="Arial"/>
                <a:ea typeface="Arial"/>
                <a:cs typeface="Arial"/>
                <a:sym typeface="Arial"/>
              </a:rPr>
              <a:t>What should others know or try?</a:t>
            </a:r>
            <a:endParaRPr/>
          </a:p>
        </p:txBody>
      </p:sp>
      <p:sp>
        <p:nvSpPr>
          <p:cNvPr id="280" name="Google Shape;280;p10"/>
          <p:cNvSpPr/>
          <p:nvPr/>
        </p:nvSpPr>
        <p:spPr>
          <a:xfrm>
            <a:off x="5577840" y="5486400"/>
            <a:ext cx="5669280" cy="658368"/>
          </a:xfrm>
          <a:prstGeom prst="roundRect">
            <a:avLst>
              <a:gd fmla="val 16667" name="adj"/>
            </a:avLst>
          </a:prstGeom>
          <a:solidFill>
            <a:srgbClr val="1F497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1" name="Google Shape;281;p10"/>
          <p:cNvSpPr txBox="1"/>
          <p:nvPr/>
        </p:nvSpPr>
        <p:spPr>
          <a:xfrm>
            <a:off x="5806440" y="5623560"/>
            <a:ext cx="521208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300">
                <a:solidFill>
                  <a:srgbClr val="FFFFFF"/>
                </a:solidFill>
                <a:latin typeface="Calibri"/>
                <a:ea typeface="Calibri"/>
                <a:cs typeface="Calibri"/>
                <a:sym typeface="Calibri"/>
              </a:rPr>
              <a:t>ASSESS  →  STAGE  →  MEASURE  →  ACT  →  LEARN  →  IMPROVE</a:t>
            </a:r>
            <a:endParaRPr/>
          </a:p>
        </p:txBody>
      </p:sp>
      <p:sp>
        <p:nvSpPr>
          <p:cNvPr id="282" name="Google Shape;282;p10"/>
          <p:cNvSpPr/>
          <p:nvPr/>
        </p:nvSpPr>
        <p:spPr>
          <a:xfrm>
            <a:off x="594360" y="6528816"/>
            <a:ext cx="10972800" cy="9144"/>
          </a:xfrm>
          <a:prstGeom prst="rect">
            <a:avLst/>
          </a:prstGeom>
          <a:solidFill>
            <a:srgbClr val="E8F1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 name="Google Shape;283;p10"/>
          <p:cNvSpPr txBox="1"/>
          <p:nvPr/>
        </p:nvSpPr>
        <p:spPr>
          <a:xfrm>
            <a:off x="621792" y="6574536"/>
            <a:ext cx="98755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rgbClr val="5F6D77"/>
                </a:solidFill>
                <a:latin typeface="Arial"/>
                <a:ea typeface="Arial"/>
                <a:cs typeface="Arial"/>
                <a:sym typeface="Arial"/>
              </a:rPr>
              <a:t>Facility-level integrated service delivery tracking | Orientation</a:t>
            </a:r>
            <a:endParaRPr/>
          </a:p>
        </p:txBody>
      </p:sp>
      <p:sp>
        <p:nvSpPr>
          <p:cNvPr id="284" name="Google Shape;284;p10"/>
          <p:cNvSpPr txBox="1"/>
          <p:nvPr/>
        </p:nvSpPr>
        <p:spPr>
          <a:xfrm>
            <a:off x="10972800" y="6553200"/>
            <a:ext cx="508000" cy="203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850">
                <a:solidFill>
                  <a:srgbClr val="5F6D77"/>
                </a:solidFill>
                <a:latin typeface="Calibri"/>
                <a:ea typeface="Calibri"/>
                <a:cs typeface="Calibri"/>
                <a:sym typeface="Calibri"/>
              </a:rPr>
              <a:t>9</a:t>
            </a:r>
            <a:endParaRPr sz="850">
              <a:solidFill>
                <a:srgbClr val="5F6D77"/>
              </a:solidFill>
              <a:latin typeface="Calibri"/>
              <a:ea typeface="Calibri"/>
              <a:cs typeface="Calibri"/>
              <a:sym typeface="Calibri"/>
            </a:endParaRPr>
          </a:p>
        </p:txBody>
      </p:sp>
      <p:pic>
        <p:nvPicPr>
          <p:cNvPr id="285" name="Google Shape;285;p10"/>
          <p:cNvPicPr preferRelativeResize="0"/>
          <p:nvPr/>
        </p:nvPicPr>
        <p:blipFill rotWithShape="1">
          <a:blip r:embed="rId3">
            <a:alphaModFix/>
          </a:blip>
          <a:srcRect b="0" l="0" r="0" t="0"/>
          <a:stretch/>
        </p:blipFill>
        <p:spPr>
          <a:xfrm>
            <a:off x="596900" y="1422400"/>
            <a:ext cx="4610100" cy="3598127"/>
          </a:xfrm>
          <a:prstGeom prst="rect">
            <a:avLst/>
          </a:prstGeom>
          <a:noFill/>
          <a:ln>
            <a:noFill/>
          </a:ln>
        </p:spPr>
      </p:pic>
      <p:sp>
        <p:nvSpPr>
          <p:cNvPr id="286" name="Google Shape;286;p10"/>
          <p:cNvSpPr txBox="1"/>
          <p:nvPr/>
        </p:nvSpPr>
        <p:spPr>
          <a:xfrm>
            <a:off x="596900" y="5143500"/>
            <a:ext cx="4610100" cy="2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5F6D77"/>
                </a:solidFill>
                <a:latin typeface="Calibri"/>
                <a:ea typeface="Calibri"/>
                <a:cs typeface="Calibri"/>
                <a:sym typeface="Calibri"/>
              </a:rPr>
              <a:t>Section E is completed once per intervention worth sharing.</a:t>
            </a:r>
            <a:endParaRPr sz="1150">
              <a:solidFill>
                <a:srgbClr val="5F6D77"/>
              </a:solidFill>
              <a:latin typeface="Calibri"/>
              <a:ea typeface="Calibri"/>
              <a:cs typeface="Calibri"/>
              <a:sym typeface="Calibri"/>
            </a:endParaRPr>
          </a:p>
        </p:txBody>
      </p:sp>
      <p:sp>
        <p:nvSpPr>
          <p:cNvPr id="287" name="Google Shape;287;p10"/>
          <p:cNvSpPr txBox="1"/>
          <p:nvPr/>
        </p:nvSpPr>
        <p:spPr>
          <a:xfrm>
            <a:off x="596900" y="5499100"/>
            <a:ext cx="4610100" cy="889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Record what was tried, what changed, and the measured effect — then say plainly whether another facility could repeat it. This is what feeds the quarterly learning briefs.</a:t>
            </a:r>
            <a:endParaRPr sz="1150">
              <a:solidFill>
                <a:srgbClr val="2A363F"/>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7"/>
          <p:cNvSpPr/>
          <p:nvPr/>
        </p:nvSpPr>
        <p:spPr>
          <a:xfrm>
            <a:off x="0" y="0"/>
            <a:ext cx="12192000" cy="114300"/>
          </a:xfrm>
          <a:prstGeom prst="rect">
            <a:avLst/>
          </a:prstGeom>
          <a:solidFill>
            <a:srgbClr val="1F497D"/>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93" name="Google Shape;293;p7"/>
          <p:cNvSpPr txBox="1"/>
          <p:nvPr/>
        </p:nvSpPr>
        <p:spPr>
          <a:xfrm>
            <a:off x="596900" y="342900"/>
            <a:ext cx="109728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700">
                <a:solidFill>
                  <a:srgbClr val="1F497D"/>
                </a:solidFill>
                <a:latin typeface="Play"/>
                <a:ea typeface="Play"/>
                <a:cs typeface="Play"/>
                <a:sym typeface="Play"/>
              </a:rPr>
              <a:t>5. </a:t>
            </a:r>
            <a:r>
              <a:rPr lang="en-US" sz="2700">
                <a:solidFill>
                  <a:srgbClr val="1F497D"/>
                </a:solidFill>
                <a:latin typeface="Play"/>
                <a:ea typeface="Play"/>
                <a:cs typeface="Play"/>
                <a:sym typeface="Play"/>
              </a:rPr>
              <a:t>Synthesis &amp; Action Plan: From Gap to Owned Action</a:t>
            </a:r>
            <a:endParaRPr sz="2700">
              <a:solidFill>
                <a:srgbClr val="1F497D"/>
              </a:solidFill>
              <a:latin typeface="Play"/>
              <a:ea typeface="Play"/>
              <a:cs typeface="Play"/>
              <a:sym typeface="Play"/>
            </a:endParaRPr>
          </a:p>
        </p:txBody>
      </p:sp>
      <p:sp>
        <p:nvSpPr>
          <p:cNvPr id="294" name="Google Shape;294;p7"/>
          <p:cNvSpPr txBox="1"/>
          <p:nvPr/>
        </p:nvSpPr>
        <p:spPr>
          <a:xfrm>
            <a:off x="622300" y="901700"/>
            <a:ext cx="10795000" cy="38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50">
                <a:solidFill>
                  <a:srgbClr val="5F6D77"/>
                </a:solidFill>
                <a:latin typeface="Calibri"/>
                <a:ea typeface="Calibri"/>
                <a:cs typeface="Calibri"/>
                <a:sym typeface="Calibri"/>
              </a:rPr>
              <a:t>Section C converts every prioritised gap into a specific action with a named owner and a timeline</a:t>
            </a:r>
            <a:endParaRPr sz="1250">
              <a:solidFill>
                <a:srgbClr val="5F6D77"/>
              </a:solidFill>
              <a:latin typeface="Calibri"/>
              <a:ea typeface="Calibri"/>
              <a:cs typeface="Calibri"/>
              <a:sym typeface="Calibri"/>
            </a:endParaRPr>
          </a:p>
        </p:txBody>
      </p:sp>
      <p:sp>
        <p:nvSpPr>
          <p:cNvPr id="295" name="Google Shape;295;p7"/>
          <p:cNvSpPr/>
          <p:nvPr/>
        </p:nvSpPr>
        <p:spPr>
          <a:xfrm>
            <a:off x="5435600" y="1422400"/>
            <a:ext cx="6121400" cy="1346200"/>
          </a:xfrm>
          <a:prstGeom prst="roundRect">
            <a:avLst>
              <a:gd fmla="val 16667" name="adj"/>
            </a:avLst>
          </a:prstGeom>
          <a:solidFill>
            <a:srgbClr val="F6F9FA"/>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96" name="Google Shape;296;p7"/>
          <p:cNvSpPr/>
          <p:nvPr/>
        </p:nvSpPr>
        <p:spPr>
          <a:xfrm>
            <a:off x="5435600" y="1422400"/>
            <a:ext cx="63500" cy="1346200"/>
          </a:xfrm>
          <a:prstGeom prst="rect">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97" name="Google Shape;297;p7"/>
          <p:cNvSpPr txBox="1"/>
          <p:nvPr/>
        </p:nvSpPr>
        <p:spPr>
          <a:xfrm>
            <a:off x="5600700" y="1536700"/>
            <a:ext cx="5854700" cy="31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Calibri"/>
                <a:ea typeface="Calibri"/>
                <a:cs typeface="Calibri"/>
                <a:sym typeface="Calibri"/>
              </a:rPr>
              <a:t>What to record for each gap</a:t>
            </a:r>
            <a:endParaRPr b="1" sz="1450">
              <a:solidFill>
                <a:srgbClr val="1F497D"/>
              </a:solidFill>
              <a:latin typeface="Calibri"/>
              <a:ea typeface="Calibri"/>
              <a:cs typeface="Calibri"/>
              <a:sym typeface="Calibri"/>
            </a:endParaRPr>
          </a:p>
        </p:txBody>
      </p:sp>
      <p:sp>
        <p:nvSpPr>
          <p:cNvPr id="298" name="Google Shape;298;p7"/>
          <p:cNvSpPr txBox="1"/>
          <p:nvPr/>
        </p:nvSpPr>
        <p:spPr>
          <a:xfrm>
            <a:off x="5600700" y="1892300"/>
            <a:ext cx="5854700" cy="76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Select the domain, state the gap in plain language, then define the action. Choose the Intervention Type from the dropdown, name the Responsible Officer, and set a realistic timeline.</a:t>
            </a:r>
            <a:endParaRPr sz="1150">
              <a:solidFill>
                <a:srgbClr val="2A363F"/>
              </a:solidFill>
              <a:latin typeface="Calibri"/>
              <a:ea typeface="Calibri"/>
              <a:cs typeface="Calibri"/>
              <a:sym typeface="Calibri"/>
            </a:endParaRPr>
          </a:p>
        </p:txBody>
      </p:sp>
      <p:sp>
        <p:nvSpPr>
          <p:cNvPr id="299" name="Google Shape;299;p7"/>
          <p:cNvSpPr/>
          <p:nvPr/>
        </p:nvSpPr>
        <p:spPr>
          <a:xfrm>
            <a:off x="5435600" y="2946400"/>
            <a:ext cx="6121400" cy="1244600"/>
          </a:xfrm>
          <a:prstGeom prst="roundRect">
            <a:avLst>
              <a:gd fmla="val 16667" name="adj"/>
            </a:avLst>
          </a:prstGeom>
          <a:solidFill>
            <a:srgbClr val="F6F9FA"/>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00" name="Google Shape;300;p7"/>
          <p:cNvSpPr/>
          <p:nvPr/>
        </p:nvSpPr>
        <p:spPr>
          <a:xfrm>
            <a:off x="5435600" y="2946400"/>
            <a:ext cx="63500" cy="1244600"/>
          </a:xfrm>
          <a:prstGeom prst="rect">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01" name="Google Shape;301;p7"/>
          <p:cNvSpPr txBox="1"/>
          <p:nvPr/>
        </p:nvSpPr>
        <p:spPr>
          <a:xfrm>
            <a:off x="5600700" y="3060700"/>
            <a:ext cx="5854700" cy="31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Calibri"/>
                <a:ea typeface="Calibri"/>
                <a:cs typeface="Calibri"/>
                <a:sym typeface="Calibri"/>
              </a:rPr>
              <a:t>One rule before you leave the facility</a:t>
            </a:r>
            <a:endParaRPr b="1" sz="1450">
              <a:solidFill>
                <a:srgbClr val="1F497D"/>
              </a:solidFill>
              <a:latin typeface="Calibri"/>
              <a:ea typeface="Calibri"/>
              <a:cs typeface="Calibri"/>
              <a:sym typeface="Calibri"/>
            </a:endParaRPr>
          </a:p>
        </p:txBody>
      </p:sp>
      <p:sp>
        <p:nvSpPr>
          <p:cNvPr id="302" name="Google Shape;302;p7"/>
          <p:cNvSpPr txBox="1"/>
          <p:nvPr/>
        </p:nvSpPr>
        <p:spPr>
          <a:xfrm>
            <a:off x="5600700" y="3416300"/>
            <a:ext cx="5854700" cy="660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Every action recorded here must be transferred to the Action Tracker tab before the visit ends. An action that stays in the synthesis section has no owner and no follow-up.</a:t>
            </a:r>
            <a:endParaRPr sz="1150">
              <a:solidFill>
                <a:srgbClr val="2A363F"/>
              </a:solidFill>
              <a:latin typeface="Calibri"/>
              <a:ea typeface="Calibri"/>
              <a:cs typeface="Calibri"/>
              <a:sym typeface="Calibri"/>
            </a:endParaRPr>
          </a:p>
        </p:txBody>
      </p:sp>
      <p:sp>
        <p:nvSpPr>
          <p:cNvPr id="303" name="Google Shape;303;p7"/>
          <p:cNvSpPr/>
          <p:nvPr/>
        </p:nvSpPr>
        <p:spPr>
          <a:xfrm>
            <a:off x="596900" y="6527800"/>
            <a:ext cx="10972800" cy="12700"/>
          </a:xfrm>
          <a:prstGeom prst="rect">
            <a:avLst/>
          </a:prstGeom>
          <a:solidFill>
            <a:srgbClr val="D6DEE4"/>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04" name="Google Shape;304;p7"/>
          <p:cNvSpPr txBox="1"/>
          <p:nvPr/>
        </p:nvSpPr>
        <p:spPr>
          <a:xfrm>
            <a:off x="622300" y="6578600"/>
            <a:ext cx="9880600" cy="17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50">
                <a:solidFill>
                  <a:srgbClr val="5F6D77"/>
                </a:solidFill>
                <a:latin typeface="Calibri"/>
                <a:ea typeface="Calibri"/>
                <a:cs typeface="Calibri"/>
                <a:sym typeface="Calibri"/>
              </a:rPr>
              <a:t>Facility-level integrated service delivery tracking | Orientation</a:t>
            </a:r>
            <a:endParaRPr sz="850">
              <a:solidFill>
                <a:srgbClr val="5F6D77"/>
              </a:solidFill>
              <a:latin typeface="Calibri"/>
              <a:ea typeface="Calibri"/>
              <a:cs typeface="Calibri"/>
              <a:sym typeface="Calibri"/>
            </a:endParaRPr>
          </a:p>
        </p:txBody>
      </p:sp>
      <p:sp>
        <p:nvSpPr>
          <p:cNvPr id="305" name="Google Shape;305;p7"/>
          <p:cNvSpPr txBox="1"/>
          <p:nvPr/>
        </p:nvSpPr>
        <p:spPr>
          <a:xfrm>
            <a:off x="10972800" y="6553200"/>
            <a:ext cx="508000" cy="20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50">
                <a:solidFill>
                  <a:srgbClr val="5F6D77"/>
                </a:solidFill>
                <a:latin typeface="Calibri"/>
                <a:ea typeface="Calibri"/>
                <a:cs typeface="Calibri"/>
                <a:sym typeface="Calibri"/>
              </a:rPr>
              <a:t>6</a:t>
            </a:r>
            <a:endParaRPr/>
          </a:p>
        </p:txBody>
      </p:sp>
      <p:pic>
        <p:nvPicPr>
          <p:cNvPr id="306" name="Google Shape;306;p7"/>
          <p:cNvPicPr preferRelativeResize="0"/>
          <p:nvPr/>
        </p:nvPicPr>
        <p:blipFill rotWithShape="1">
          <a:blip r:embed="rId3">
            <a:alphaModFix/>
          </a:blip>
          <a:srcRect b="0" l="0" r="0" t="0"/>
          <a:stretch/>
        </p:blipFill>
        <p:spPr>
          <a:xfrm>
            <a:off x="596900" y="1422400"/>
            <a:ext cx="4610100" cy="3512457"/>
          </a:xfrm>
          <a:prstGeom prst="rect">
            <a:avLst/>
          </a:prstGeom>
          <a:noFill/>
          <a:ln>
            <a:noFill/>
          </a:ln>
        </p:spPr>
      </p:pic>
      <p:sp>
        <p:nvSpPr>
          <p:cNvPr id="307" name="Google Shape;307;p7"/>
          <p:cNvSpPr txBox="1"/>
          <p:nvPr/>
        </p:nvSpPr>
        <p:spPr>
          <a:xfrm>
            <a:off x="596900" y="5080000"/>
            <a:ext cx="4610100" cy="2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5F6D77"/>
                </a:solidFill>
                <a:latin typeface="Calibri"/>
                <a:ea typeface="Calibri"/>
                <a:cs typeface="Calibri"/>
                <a:sym typeface="Calibri"/>
              </a:rPr>
              <a:t>Repeat section C once for every gap identified.</a:t>
            </a:r>
            <a:endParaRPr sz="1150">
              <a:solidFill>
                <a:srgbClr val="5F6D77"/>
              </a:solidFill>
              <a:latin typeface="Calibri"/>
              <a:ea typeface="Calibri"/>
              <a:cs typeface="Calibri"/>
              <a:sym typeface="Calibri"/>
            </a:endParaRPr>
          </a:p>
        </p:txBody>
      </p:sp>
      <p:sp>
        <p:nvSpPr>
          <p:cNvPr id="308" name="Google Shape;308;p7"/>
          <p:cNvSpPr txBox="1"/>
          <p:nvPr/>
        </p:nvSpPr>
        <p:spPr>
          <a:xfrm>
            <a:off x="596900" y="5384800"/>
            <a:ext cx="4610100"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Use the facility team's own words for the gap — an action written to satisfy the form rarely gets done.</a:t>
            </a:r>
            <a:endParaRPr sz="1150">
              <a:solidFill>
                <a:srgbClr val="2A363F"/>
              </a:solidFill>
              <a:latin typeface="Calibri"/>
              <a:ea typeface="Calibri"/>
              <a:cs typeface="Calibri"/>
              <a:sym typeface="Calibri"/>
            </a:endParaRPr>
          </a:p>
        </p:txBody>
      </p:sp>
      <p:sp>
        <p:nvSpPr>
          <p:cNvPr id="309" name="Google Shape;309;p7"/>
          <p:cNvSpPr/>
          <p:nvPr/>
        </p:nvSpPr>
        <p:spPr>
          <a:xfrm>
            <a:off x="5435600" y="4368800"/>
            <a:ext cx="6121400" cy="1244600"/>
          </a:xfrm>
          <a:prstGeom prst="roundRect">
            <a:avLst>
              <a:gd fmla="val 16667" name="adj"/>
            </a:avLst>
          </a:prstGeom>
          <a:solidFill>
            <a:srgbClr val="F6F9FA"/>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10" name="Google Shape;310;p7"/>
          <p:cNvSpPr/>
          <p:nvPr/>
        </p:nvSpPr>
        <p:spPr>
          <a:xfrm>
            <a:off x="5435600" y="4368800"/>
            <a:ext cx="63500" cy="1244600"/>
          </a:xfrm>
          <a:prstGeom prst="rect">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11" name="Google Shape;311;p7"/>
          <p:cNvSpPr txBox="1"/>
          <p:nvPr/>
        </p:nvSpPr>
        <p:spPr>
          <a:xfrm>
            <a:off x="5600700" y="4483100"/>
            <a:ext cx="5854700" cy="31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Calibri"/>
                <a:ea typeface="Calibri"/>
                <a:cs typeface="Calibri"/>
                <a:sym typeface="Calibri"/>
              </a:rPr>
              <a:t>Intervention Type matters</a:t>
            </a:r>
            <a:endParaRPr/>
          </a:p>
        </p:txBody>
      </p:sp>
      <p:sp>
        <p:nvSpPr>
          <p:cNvPr id="312" name="Google Shape;312;p7"/>
          <p:cNvSpPr txBox="1"/>
          <p:nvPr/>
        </p:nvSpPr>
        <p:spPr>
          <a:xfrm>
            <a:off x="5600700" y="4851400"/>
            <a:ext cx="5854700" cy="660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The dropdown groups actions into comparable categories, so the district can see which kinds of intervention facilities are relying on — and which gaps keep recurring across the network.</a:t>
            </a:r>
            <a:endParaRPr sz="1150">
              <a:solidFill>
                <a:srgbClr val="2A363F"/>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8"/>
          <p:cNvSpPr/>
          <p:nvPr/>
        </p:nvSpPr>
        <p:spPr>
          <a:xfrm>
            <a:off x="0" y="0"/>
            <a:ext cx="12192000" cy="114300"/>
          </a:xfrm>
          <a:prstGeom prst="rect">
            <a:avLst/>
          </a:prstGeom>
          <a:solidFill>
            <a:srgbClr val="1F497D"/>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18" name="Google Shape;318;p8"/>
          <p:cNvSpPr txBox="1"/>
          <p:nvPr/>
        </p:nvSpPr>
        <p:spPr>
          <a:xfrm>
            <a:off x="596900" y="342900"/>
            <a:ext cx="109728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700">
                <a:solidFill>
                  <a:srgbClr val="1F497D"/>
                </a:solidFill>
                <a:latin typeface="Play"/>
                <a:ea typeface="Play"/>
                <a:cs typeface="Play"/>
                <a:sym typeface="Play"/>
              </a:rPr>
              <a:t>5</a:t>
            </a:r>
            <a:r>
              <a:rPr lang="en-US" sz="2700">
                <a:solidFill>
                  <a:srgbClr val="1F497D"/>
                </a:solidFill>
                <a:latin typeface="Play"/>
                <a:ea typeface="Play"/>
                <a:cs typeface="Play"/>
                <a:sym typeface="Play"/>
              </a:rPr>
              <a:t>. Action Tracker: Where Actions Get Owned and Closed</a:t>
            </a:r>
            <a:endParaRPr sz="2700">
              <a:solidFill>
                <a:srgbClr val="1F497D"/>
              </a:solidFill>
              <a:latin typeface="Play"/>
              <a:ea typeface="Play"/>
              <a:cs typeface="Play"/>
              <a:sym typeface="Play"/>
            </a:endParaRPr>
          </a:p>
        </p:txBody>
      </p:sp>
      <p:sp>
        <p:nvSpPr>
          <p:cNvPr id="319" name="Google Shape;319;p8"/>
          <p:cNvSpPr txBox="1"/>
          <p:nvPr/>
        </p:nvSpPr>
        <p:spPr>
          <a:xfrm>
            <a:off x="622300" y="901700"/>
            <a:ext cx="10795000" cy="38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50">
                <a:solidFill>
                  <a:srgbClr val="5F6D77"/>
                </a:solidFill>
                <a:latin typeface="Calibri"/>
                <a:ea typeface="Calibri"/>
                <a:cs typeface="Calibri"/>
                <a:sym typeface="Calibri"/>
              </a:rPr>
              <a:t>The tracker is the accountability record between visits — every action has one owner and one deadline</a:t>
            </a:r>
            <a:endParaRPr sz="1250">
              <a:solidFill>
                <a:srgbClr val="5F6D77"/>
              </a:solidFill>
              <a:latin typeface="Calibri"/>
              <a:ea typeface="Calibri"/>
              <a:cs typeface="Calibri"/>
              <a:sym typeface="Calibri"/>
            </a:endParaRPr>
          </a:p>
        </p:txBody>
      </p:sp>
      <p:sp>
        <p:nvSpPr>
          <p:cNvPr id="320" name="Google Shape;320;p8"/>
          <p:cNvSpPr/>
          <p:nvPr/>
        </p:nvSpPr>
        <p:spPr>
          <a:xfrm>
            <a:off x="596900" y="1524000"/>
            <a:ext cx="1905000" cy="1320800"/>
          </a:xfrm>
          <a:prstGeom prst="roundRect">
            <a:avLst>
              <a:gd fmla="val 16667" name="adj"/>
            </a:avLst>
          </a:prstGeom>
          <a:solidFill>
            <a:srgbClr val="F6F9FA"/>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21" name="Google Shape;321;p8"/>
          <p:cNvSpPr/>
          <p:nvPr/>
        </p:nvSpPr>
        <p:spPr>
          <a:xfrm>
            <a:off x="596900" y="1524000"/>
            <a:ext cx="1905000" cy="50800"/>
          </a:xfrm>
          <a:prstGeom prst="rect">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22" name="Google Shape;322;p8"/>
          <p:cNvSpPr txBox="1"/>
          <p:nvPr/>
        </p:nvSpPr>
        <p:spPr>
          <a:xfrm>
            <a:off x="596900" y="1752600"/>
            <a:ext cx="1905000" cy="279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Calibri"/>
                <a:ea typeface="Calibri"/>
                <a:cs typeface="Calibri"/>
                <a:sym typeface="Calibri"/>
              </a:rPr>
              <a:t>GAP</a:t>
            </a:r>
            <a:endParaRPr/>
          </a:p>
        </p:txBody>
      </p:sp>
      <p:sp>
        <p:nvSpPr>
          <p:cNvPr id="323" name="Google Shape;323;p8"/>
          <p:cNvSpPr txBox="1"/>
          <p:nvPr/>
        </p:nvSpPr>
        <p:spPr>
          <a:xfrm>
            <a:off x="749300" y="2108200"/>
            <a:ext cx="1600200" cy="63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The prioritised</a:t>
            </a:r>
            <a:br>
              <a:rPr lang="en-US" sz="1150">
                <a:solidFill>
                  <a:srgbClr val="2A363F"/>
                </a:solidFill>
                <a:latin typeface="Calibri"/>
                <a:ea typeface="Calibri"/>
                <a:cs typeface="Calibri"/>
                <a:sym typeface="Calibri"/>
              </a:rPr>
            </a:br>
            <a:r>
              <a:rPr lang="en-US" sz="1150">
                <a:solidFill>
                  <a:srgbClr val="2A363F"/>
                </a:solidFill>
                <a:latin typeface="Calibri"/>
                <a:ea typeface="Calibri"/>
                <a:cs typeface="Calibri"/>
                <a:sym typeface="Calibri"/>
              </a:rPr>
              <a:t>finding</a:t>
            </a:r>
            <a:endParaRPr/>
          </a:p>
        </p:txBody>
      </p:sp>
      <p:sp>
        <p:nvSpPr>
          <p:cNvPr id="324" name="Google Shape;324;p8"/>
          <p:cNvSpPr/>
          <p:nvPr/>
        </p:nvSpPr>
        <p:spPr>
          <a:xfrm>
            <a:off x="2540000" y="2044700"/>
            <a:ext cx="279400" cy="254000"/>
          </a:xfrm>
          <a:prstGeom prst="chevron">
            <a:avLst>
              <a:gd fmla="val 50000" name="adj"/>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8"/>
          <p:cNvSpPr/>
          <p:nvPr/>
        </p:nvSpPr>
        <p:spPr>
          <a:xfrm>
            <a:off x="2857500" y="1524000"/>
            <a:ext cx="1905000" cy="1320800"/>
          </a:xfrm>
          <a:prstGeom prst="roundRect">
            <a:avLst>
              <a:gd fmla="val 16667" name="adj"/>
            </a:avLst>
          </a:prstGeom>
          <a:solidFill>
            <a:srgbClr val="F6F9FA"/>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26" name="Google Shape;326;p8"/>
          <p:cNvSpPr/>
          <p:nvPr/>
        </p:nvSpPr>
        <p:spPr>
          <a:xfrm>
            <a:off x="2857500" y="1524000"/>
            <a:ext cx="1905000" cy="50800"/>
          </a:xfrm>
          <a:prstGeom prst="rect">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27" name="Google Shape;327;p8"/>
          <p:cNvSpPr txBox="1"/>
          <p:nvPr/>
        </p:nvSpPr>
        <p:spPr>
          <a:xfrm>
            <a:off x="2857500" y="1752600"/>
            <a:ext cx="1905000" cy="279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Calibri"/>
                <a:ea typeface="Calibri"/>
                <a:cs typeface="Calibri"/>
                <a:sym typeface="Calibri"/>
              </a:rPr>
              <a:t>ACTION</a:t>
            </a:r>
            <a:endParaRPr/>
          </a:p>
        </p:txBody>
      </p:sp>
      <p:sp>
        <p:nvSpPr>
          <p:cNvPr id="328" name="Google Shape;328;p8"/>
          <p:cNvSpPr txBox="1"/>
          <p:nvPr/>
        </p:nvSpPr>
        <p:spPr>
          <a:xfrm>
            <a:off x="3009900" y="2108200"/>
            <a:ext cx="1600200" cy="63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What will</a:t>
            </a:r>
            <a:br>
              <a:rPr lang="en-US" sz="1150">
                <a:solidFill>
                  <a:srgbClr val="2A363F"/>
                </a:solidFill>
                <a:latin typeface="Calibri"/>
                <a:ea typeface="Calibri"/>
                <a:cs typeface="Calibri"/>
                <a:sym typeface="Calibri"/>
              </a:rPr>
            </a:br>
            <a:r>
              <a:rPr lang="en-US" sz="1150">
                <a:solidFill>
                  <a:srgbClr val="2A363F"/>
                </a:solidFill>
                <a:latin typeface="Calibri"/>
                <a:ea typeface="Calibri"/>
                <a:cs typeface="Calibri"/>
                <a:sym typeface="Calibri"/>
              </a:rPr>
              <a:t>change</a:t>
            </a:r>
            <a:endParaRPr/>
          </a:p>
        </p:txBody>
      </p:sp>
      <p:sp>
        <p:nvSpPr>
          <p:cNvPr id="329" name="Google Shape;329;p8"/>
          <p:cNvSpPr/>
          <p:nvPr/>
        </p:nvSpPr>
        <p:spPr>
          <a:xfrm>
            <a:off x="4800600" y="2044700"/>
            <a:ext cx="279400" cy="254000"/>
          </a:xfrm>
          <a:prstGeom prst="chevron">
            <a:avLst>
              <a:gd fmla="val 50000" name="adj"/>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p8"/>
          <p:cNvSpPr/>
          <p:nvPr/>
        </p:nvSpPr>
        <p:spPr>
          <a:xfrm>
            <a:off x="5118100" y="1524000"/>
            <a:ext cx="1905000" cy="1320800"/>
          </a:xfrm>
          <a:prstGeom prst="roundRect">
            <a:avLst>
              <a:gd fmla="val 16667" name="adj"/>
            </a:avLst>
          </a:prstGeom>
          <a:solidFill>
            <a:srgbClr val="F6F9FA"/>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31" name="Google Shape;331;p8"/>
          <p:cNvSpPr/>
          <p:nvPr/>
        </p:nvSpPr>
        <p:spPr>
          <a:xfrm>
            <a:off x="5118100" y="1524000"/>
            <a:ext cx="1905000" cy="50800"/>
          </a:xfrm>
          <a:prstGeom prst="rect">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32" name="Google Shape;332;p8"/>
          <p:cNvSpPr txBox="1"/>
          <p:nvPr/>
        </p:nvSpPr>
        <p:spPr>
          <a:xfrm>
            <a:off x="5118100" y="1752600"/>
            <a:ext cx="1905000" cy="279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Calibri"/>
                <a:ea typeface="Calibri"/>
                <a:cs typeface="Calibri"/>
                <a:sym typeface="Calibri"/>
              </a:rPr>
              <a:t>OWNER</a:t>
            </a:r>
            <a:endParaRPr/>
          </a:p>
        </p:txBody>
      </p:sp>
      <p:sp>
        <p:nvSpPr>
          <p:cNvPr id="333" name="Google Shape;333;p8"/>
          <p:cNvSpPr txBox="1"/>
          <p:nvPr/>
        </p:nvSpPr>
        <p:spPr>
          <a:xfrm>
            <a:off x="5270500" y="2108200"/>
            <a:ext cx="1600200" cy="63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One named</a:t>
            </a:r>
            <a:br>
              <a:rPr lang="en-US" sz="1150">
                <a:solidFill>
                  <a:srgbClr val="2A363F"/>
                </a:solidFill>
                <a:latin typeface="Calibri"/>
                <a:ea typeface="Calibri"/>
                <a:cs typeface="Calibri"/>
                <a:sym typeface="Calibri"/>
              </a:rPr>
            </a:br>
            <a:r>
              <a:rPr lang="en-US" sz="1150">
                <a:solidFill>
                  <a:srgbClr val="2A363F"/>
                </a:solidFill>
                <a:latin typeface="Calibri"/>
                <a:ea typeface="Calibri"/>
                <a:cs typeface="Calibri"/>
                <a:sym typeface="Calibri"/>
              </a:rPr>
              <a:t>person</a:t>
            </a:r>
            <a:endParaRPr/>
          </a:p>
        </p:txBody>
      </p:sp>
      <p:sp>
        <p:nvSpPr>
          <p:cNvPr id="334" name="Google Shape;334;p8"/>
          <p:cNvSpPr/>
          <p:nvPr/>
        </p:nvSpPr>
        <p:spPr>
          <a:xfrm>
            <a:off x="7061200" y="2044700"/>
            <a:ext cx="279400" cy="254000"/>
          </a:xfrm>
          <a:prstGeom prst="chevron">
            <a:avLst>
              <a:gd fmla="val 50000" name="adj"/>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8"/>
          <p:cNvSpPr/>
          <p:nvPr/>
        </p:nvSpPr>
        <p:spPr>
          <a:xfrm>
            <a:off x="7378700" y="1524000"/>
            <a:ext cx="1905000" cy="1320800"/>
          </a:xfrm>
          <a:prstGeom prst="roundRect">
            <a:avLst>
              <a:gd fmla="val 16667" name="adj"/>
            </a:avLst>
          </a:prstGeom>
          <a:solidFill>
            <a:srgbClr val="F6F9FA"/>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36" name="Google Shape;336;p8"/>
          <p:cNvSpPr/>
          <p:nvPr/>
        </p:nvSpPr>
        <p:spPr>
          <a:xfrm>
            <a:off x="7378700" y="1524000"/>
            <a:ext cx="1905000" cy="50800"/>
          </a:xfrm>
          <a:prstGeom prst="rect">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37" name="Google Shape;337;p8"/>
          <p:cNvSpPr txBox="1"/>
          <p:nvPr/>
        </p:nvSpPr>
        <p:spPr>
          <a:xfrm>
            <a:off x="7378700" y="1752600"/>
            <a:ext cx="1905000" cy="279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Calibri"/>
                <a:ea typeface="Calibri"/>
                <a:cs typeface="Calibri"/>
                <a:sym typeface="Calibri"/>
              </a:rPr>
              <a:t>DEADLINE</a:t>
            </a:r>
            <a:endParaRPr/>
          </a:p>
        </p:txBody>
      </p:sp>
      <p:sp>
        <p:nvSpPr>
          <p:cNvPr id="338" name="Google Shape;338;p8"/>
          <p:cNvSpPr txBox="1"/>
          <p:nvPr/>
        </p:nvSpPr>
        <p:spPr>
          <a:xfrm>
            <a:off x="7531100" y="2108200"/>
            <a:ext cx="1600200" cy="63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A realistic</a:t>
            </a:r>
            <a:br>
              <a:rPr lang="en-US" sz="1150">
                <a:solidFill>
                  <a:srgbClr val="2A363F"/>
                </a:solidFill>
                <a:latin typeface="Calibri"/>
                <a:ea typeface="Calibri"/>
                <a:cs typeface="Calibri"/>
                <a:sym typeface="Calibri"/>
              </a:rPr>
            </a:br>
            <a:r>
              <a:rPr lang="en-US" sz="1150">
                <a:solidFill>
                  <a:srgbClr val="2A363F"/>
                </a:solidFill>
                <a:latin typeface="Calibri"/>
                <a:ea typeface="Calibri"/>
                <a:cs typeface="Calibri"/>
                <a:sym typeface="Calibri"/>
              </a:rPr>
              <a:t>date</a:t>
            </a:r>
            <a:endParaRPr/>
          </a:p>
        </p:txBody>
      </p:sp>
      <p:sp>
        <p:nvSpPr>
          <p:cNvPr id="339" name="Google Shape;339;p8"/>
          <p:cNvSpPr/>
          <p:nvPr/>
        </p:nvSpPr>
        <p:spPr>
          <a:xfrm>
            <a:off x="9321800" y="2044700"/>
            <a:ext cx="279400" cy="254000"/>
          </a:xfrm>
          <a:prstGeom prst="chevron">
            <a:avLst>
              <a:gd fmla="val 50000" name="adj"/>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8"/>
          <p:cNvSpPr/>
          <p:nvPr/>
        </p:nvSpPr>
        <p:spPr>
          <a:xfrm>
            <a:off x="9639300" y="1524000"/>
            <a:ext cx="1905000" cy="1320800"/>
          </a:xfrm>
          <a:prstGeom prst="roundRect">
            <a:avLst>
              <a:gd fmla="val 16667" name="adj"/>
            </a:avLst>
          </a:prstGeom>
          <a:solidFill>
            <a:srgbClr val="F6F9FA"/>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41" name="Google Shape;341;p8"/>
          <p:cNvSpPr/>
          <p:nvPr/>
        </p:nvSpPr>
        <p:spPr>
          <a:xfrm>
            <a:off x="9639300" y="1524000"/>
            <a:ext cx="1905000" cy="50800"/>
          </a:xfrm>
          <a:prstGeom prst="rect">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42" name="Google Shape;342;p8"/>
          <p:cNvSpPr txBox="1"/>
          <p:nvPr/>
        </p:nvSpPr>
        <p:spPr>
          <a:xfrm>
            <a:off x="9639300" y="1752600"/>
            <a:ext cx="1905000" cy="279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Calibri"/>
                <a:ea typeface="Calibri"/>
                <a:cs typeface="Calibri"/>
                <a:sym typeface="Calibri"/>
              </a:rPr>
              <a:t>STATUS</a:t>
            </a:r>
            <a:endParaRPr/>
          </a:p>
        </p:txBody>
      </p:sp>
      <p:sp>
        <p:nvSpPr>
          <p:cNvPr id="343" name="Google Shape;343;p8"/>
          <p:cNvSpPr txBox="1"/>
          <p:nvPr/>
        </p:nvSpPr>
        <p:spPr>
          <a:xfrm>
            <a:off x="9791700" y="2108200"/>
            <a:ext cx="1600200" cy="63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Open / in progress</a:t>
            </a:r>
            <a:br>
              <a:rPr lang="en-US" sz="1150">
                <a:solidFill>
                  <a:srgbClr val="2A363F"/>
                </a:solidFill>
                <a:latin typeface="Calibri"/>
                <a:ea typeface="Calibri"/>
                <a:cs typeface="Calibri"/>
                <a:sym typeface="Calibri"/>
              </a:rPr>
            </a:br>
            <a:r>
              <a:rPr lang="en-US" sz="1150">
                <a:solidFill>
                  <a:srgbClr val="2A363F"/>
                </a:solidFill>
                <a:latin typeface="Calibri"/>
                <a:ea typeface="Calibri"/>
                <a:cs typeface="Calibri"/>
                <a:sym typeface="Calibri"/>
              </a:rPr>
              <a:t>/ closed</a:t>
            </a:r>
            <a:endParaRPr/>
          </a:p>
        </p:txBody>
      </p:sp>
      <p:sp>
        <p:nvSpPr>
          <p:cNvPr id="344" name="Google Shape;344;p8"/>
          <p:cNvSpPr/>
          <p:nvPr/>
        </p:nvSpPr>
        <p:spPr>
          <a:xfrm>
            <a:off x="596900" y="6527800"/>
            <a:ext cx="10972800" cy="12700"/>
          </a:xfrm>
          <a:prstGeom prst="rect">
            <a:avLst/>
          </a:prstGeom>
          <a:solidFill>
            <a:srgbClr val="D6DEE4"/>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45" name="Google Shape;345;p8"/>
          <p:cNvSpPr txBox="1"/>
          <p:nvPr/>
        </p:nvSpPr>
        <p:spPr>
          <a:xfrm>
            <a:off x="622300" y="6578600"/>
            <a:ext cx="9880600" cy="17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50">
                <a:solidFill>
                  <a:srgbClr val="5F6D77"/>
                </a:solidFill>
                <a:latin typeface="Calibri"/>
                <a:ea typeface="Calibri"/>
                <a:cs typeface="Calibri"/>
                <a:sym typeface="Calibri"/>
              </a:rPr>
              <a:t>Facility-level integrated service delivery tracking | Orientation</a:t>
            </a:r>
            <a:endParaRPr sz="850">
              <a:solidFill>
                <a:srgbClr val="5F6D77"/>
              </a:solidFill>
              <a:latin typeface="Calibri"/>
              <a:ea typeface="Calibri"/>
              <a:cs typeface="Calibri"/>
              <a:sym typeface="Calibri"/>
            </a:endParaRPr>
          </a:p>
        </p:txBody>
      </p:sp>
      <p:sp>
        <p:nvSpPr>
          <p:cNvPr id="346" name="Google Shape;346;p8"/>
          <p:cNvSpPr txBox="1"/>
          <p:nvPr/>
        </p:nvSpPr>
        <p:spPr>
          <a:xfrm>
            <a:off x="10972800" y="6553200"/>
            <a:ext cx="508000" cy="20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50">
                <a:solidFill>
                  <a:srgbClr val="5F6D77"/>
                </a:solidFill>
                <a:latin typeface="Calibri"/>
                <a:ea typeface="Calibri"/>
                <a:cs typeface="Calibri"/>
                <a:sym typeface="Calibri"/>
              </a:rPr>
              <a:t>7</a:t>
            </a:r>
            <a:endParaRPr/>
          </a:p>
        </p:txBody>
      </p:sp>
      <p:sp>
        <p:nvSpPr>
          <p:cNvPr id="347" name="Google Shape;347;p8"/>
          <p:cNvSpPr/>
          <p:nvPr/>
        </p:nvSpPr>
        <p:spPr>
          <a:xfrm>
            <a:off x="596900" y="3200400"/>
            <a:ext cx="5308600" cy="1219200"/>
          </a:xfrm>
          <a:prstGeom prst="roundRect">
            <a:avLst>
              <a:gd fmla="val 16667" name="adj"/>
            </a:avLst>
          </a:prstGeom>
          <a:solidFill>
            <a:srgbClr val="F6F9FA"/>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48" name="Google Shape;348;p8"/>
          <p:cNvSpPr/>
          <p:nvPr/>
        </p:nvSpPr>
        <p:spPr>
          <a:xfrm>
            <a:off x="596900" y="3200400"/>
            <a:ext cx="63500" cy="1219200"/>
          </a:xfrm>
          <a:prstGeom prst="rect">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49" name="Google Shape;349;p8"/>
          <p:cNvSpPr txBox="1"/>
          <p:nvPr/>
        </p:nvSpPr>
        <p:spPr>
          <a:xfrm>
            <a:off x="762000" y="3314700"/>
            <a:ext cx="4978400" cy="31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Calibri"/>
                <a:ea typeface="Calibri"/>
                <a:cs typeface="Calibri"/>
                <a:sym typeface="Calibri"/>
              </a:rPr>
              <a:t>Filling the tracker</a:t>
            </a:r>
            <a:endParaRPr/>
          </a:p>
        </p:txBody>
      </p:sp>
      <p:sp>
        <p:nvSpPr>
          <p:cNvPr id="350" name="Google Shape;350;p8"/>
          <p:cNvSpPr txBox="1"/>
          <p:nvPr/>
        </p:nvSpPr>
        <p:spPr>
          <a:xfrm>
            <a:off x="762000" y="3683000"/>
            <a:ext cx="49784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Transfer every action from the Synthesis &amp; Action Plan before leaving the facility. Write the action so someone who was not in the room could carry it out.</a:t>
            </a:r>
            <a:endParaRPr sz="1150">
              <a:solidFill>
                <a:srgbClr val="2A363F"/>
              </a:solidFill>
              <a:latin typeface="Calibri"/>
              <a:ea typeface="Calibri"/>
              <a:cs typeface="Calibri"/>
              <a:sym typeface="Calibri"/>
            </a:endParaRPr>
          </a:p>
        </p:txBody>
      </p:sp>
      <p:sp>
        <p:nvSpPr>
          <p:cNvPr id="351" name="Google Shape;351;p8"/>
          <p:cNvSpPr/>
          <p:nvPr/>
        </p:nvSpPr>
        <p:spPr>
          <a:xfrm>
            <a:off x="6261100" y="3200400"/>
            <a:ext cx="5308600" cy="1219200"/>
          </a:xfrm>
          <a:prstGeom prst="roundRect">
            <a:avLst>
              <a:gd fmla="val 16667" name="adj"/>
            </a:avLst>
          </a:prstGeom>
          <a:solidFill>
            <a:srgbClr val="F6F9FA"/>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52" name="Google Shape;352;p8"/>
          <p:cNvSpPr/>
          <p:nvPr/>
        </p:nvSpPr>
        <p:spPr>
          <a:xfrm>
            <a:off x="6261100" y="3200400"/>
            <a:ext cx="63500" cy="1219200"/>
          </a:xfrm>
          <a:prstGeom prst="rect">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53" name="Google Shape;353;p8"/>
          <p:cNvSpPr txBox="1"/>
          <p:nvPr/>
        </p:nvSpPr>
        <p:spPr>
          <a:xfrm>
            <a:off x="6426200" y="3314700"/>
            <a:ext cx="4978400" cy="31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Calibri"/>
                <a:ea typeface="Calibri"/>
                <a:cs typeface="Calibri"/>
                <a:sym typeface="Calibri"/>
              </a:rPr>
              <a:t>Using it at the next visit</a:t>
            </a:r>
            <a:endParaRPr b="1" sz="1450">
              <a:solidFill>
                <a:srgbClr val="1F497D"/>
              </a:solidFill>
              <a:latin typeface="Calibri"/>
              <a:ea typeface="Calibri"/>
              <a:cs typeface="Calibri"/>
              <a:sym typeface="Calibri"/>
            </a:endParaRPr>
          </a:p>
        </p:txBody>
      </p:sp>
      <p:sp>
        <p:nvSpPr>
          <p:cNvPr id="354" name="Google Shape;354;p8"/>
          <p:cNvSpPr txBox="1"/>
          <p:nvPr/>
        </p:nvSpPr>
        <p:spPr>
          <a:xfrm>
            <a:off x="6426200" y="3683000"/>
            <a:ext cx="49784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Open the tracker first. Review what was closed, what slipped and why — this becomes the starting point of the next assessment conversation.</a:t>
            </a:r>
            <a:endParaRPr sz="1150">
              <a:solidFill>
                <a:srgbClr val="2A363F"/>
              </a:solidFill>
              <a:latin typeface="Calibri"/>
              <a:ea typeface="Calibri"/>
              <a:cs typeface="Calibri"/>
              <a:sym typeface="Calibri"/>
            </a:endParaRPr>
          </a:p>
        </p:txBody>
      </p:sp>
      <p:sp>
        <p:nvSpPr>
          <p:cNvPr id="355" name="Google Shape;355;p8"/>
          <p:cNvSpPr/>
          <p:nvPr/>
        </p:nvSpPr>
        <p:spPr>
          <a:xfrm>
            <a:off x="596900" y="4648200"/>
            <a:ext cx="10972800" cy="1219200"/>
          </a:xfrm>
          <a:prstGeom prst="roundRect">
            <a:avLst>
              <a:gd fmla="val 16667" name="adj"/>
            </a:avLst>
          </a:prstGeom>
          <a:solidFill>
            <a:srgbClr val="F6F9FA"/>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56" name="Google Shape;356;p8"/>
          <p:cNvSpPr/>
          <p:nvPr/>
        </p:nvSpPr>
        <p:spPr>
          <a:xfrm>
            <a:off x="596900" y="4648200"/>
            <a:ext cx="63500" cy="1219200"/>
          </a:xfrm>
          <a:prstGeom prst="rect">
            <a:avLst/>
          </a:prstGeom>
          <a:solidFill>
            <a:srgbClr val="37719E"/>
          </a:solidFill>
          <a:ln>
            <a:noFill/>
          </a:ln>
          <a:effectLst>
            <a:outerShdw blurRad="40000" rotWithShape="0" dir="5400000" dist="230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57" name="Google Shape;357;p8"/>
          <p:cNvSpPr txBox="1"/>
          <p:nvPr/>
        </p:nvSpPr>
        <p:spPr>
          <a:xfrm>
            <a:off x="762000" y="4762500"/>
            <a:ext cx="10642600" cy="31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50">
                <a:solidFill>
                  <a:srgbClr val="1F497D"/>
                </a:solidFill>
                <a:latin typeface="Calibri"/>
                <a:ea typeface="Calibri"/>
                <a:cs typeface="Calibri"/>
                <a:sym typeface="Calibri"/>
              </a:rPr>
              <a:t>One owner, one date, one status</a:t>
            </a:r>
            <a:endParaRPr b="1" sz="1450">
              <a:solidFill>
                <a:srgbClr val="1F497D"/>
              </a:solidFill>
              <a:latin typeface="Calibri"/>
              <a:ea typeface="Calibri"/>
              <a:cs typeface="Calibri"/>
              <a:sym typeface="Calibri"/>
            </a:endParaRPr>
          </a:p>
        </p:txBody>
      </p:sp>
      <p:sp>
        <p:nvSpPr>
          <p:cNvPr id="358" name="Google Shape;358;p8"/>
          <p:cNvSpPr txBox="1"/>
          <p:nvPr/>
        </p:nvSpPr>
        <p:spPr>
          <a:xfrm>
            <a:off x="762000" y="5130800"/>
            <a:ext cx="10642600" cy="609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2A363F"/>
                </a:solidFill>
                <a:latin typeface="Calibri"/>
                <a:ea typeface="Calibri"/>
                <a:cs typeface="Calibri"/>
                <a:sym typeface="Calibri"/>
              </a:rPr>
              <a:t>Actions shared between several people tend to stay open. A single named owner with a specific date is what makes the tracker a follow-up tool rather than a list of good intentions.</a:t>
            </a:r>
            <a:endParaRPr sz="1150">
              <a:solidFill>
                <a:srgbClr val="2A363F"/>
              </a:solidFill>
              <a:latin typeface="Calibri"/>
              <a:ea typeface="Calibri"/>
              <a:cs typeface="Calibri"/>
              <a:sym typeface="Calibri"/>
            </a:endParaRPr>
          </a:p>
        </p:txBody>
      </p:sp>
      <p:sp>
        <p:nvSpPr>
          <p:cNvPr id="359" name="Google Shape;359;p8"/>
          <p:cNvSpPr txBox="1"/>
          <p:nvPr/>
        </p:nvSpPr>
        <p:spPr>
          <a:xfrm>
            <a:off x="596900" y="6096000"/>
            <a:ext cx="10972800"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50">
                <a:solidFill>
                  <a:srgbClr val="1F497D"/>
                </a:solidFill>
                <a:latin typeface="Calibri"/>
                <a:ea typeface="Calibri"/>
                <a:cs typeface="Calibri"/>
                <a:sym typeface="Calibri"/>
              </a:rPr>
              <a:t>ASSESS  →  MEASURE  →  SYNTHESISE  →  TRACK  →  CLOSE</a:t>
            </a:r>
            <a:endParaRPr b="1" sz="1250">
              <a:solidFill>
                <a:srgbClr val="1F497D"/>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Solomon Kamurari</dc:creator>
</cp:coreProperties>
</file>