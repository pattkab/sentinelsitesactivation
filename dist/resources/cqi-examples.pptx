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lJXVnM+nvaQf8Se6fdOqZdWRM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5a881ce0_0_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5a881ce0_0_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274320" y="548640"/>
            <a:ext cx="11384280" cy="2057400"/>
          </a:xfrm>
          <a:prstGeom prst="roundRect">
            <a:avLst>
              <a:gd fmla="val 8000" name="adj"/>
            </a:avLst>
          </a:prstGeom>
          <a:solidFill>
            <a:srgbClr val="07375D"/>
          </a:solidFill>
          <a:ln cap="flat" cmpd="sng" w="12700">
            <a:solidFill>
              <a:srgbClr val="0737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74320" y="548640"/>
            <a:ext cx="182880" cy="2057400"/>
          </a:xfrm>
          <a:prstGeom prst="rect">
            <a:avLst/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68680" y="9601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Examples of CQI projects on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Utilization and Adherence to the SOPs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68680" y="2926080"/>
            <a:ext cx="976821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Examples of CQI projects using integrated service delivery SOPs at Sentinel Sites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68680" y="3870897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Four practical examples: problem → aim → objectives → measurement → tested changes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68680" y="4709160"/>
            <a:ext cx="658368" cy="658368"/>
          </a:xfrm>
          <a:prstGeom prst="ellipse">
            <a:avLst/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51560" y="4855464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691640" y="4727448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Tracking &amp; return to care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0" y="4709160"/>
            <a:ext cx="658368" cy="658368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840480" y="4855464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480560" y="4727448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Integrated triage &amp; registration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46520" y="4709160"/>
            <a:ext cx="658368" cy="658368"/>
          </a:xfrm>
          <a:prstGeom prst="ellipse">
            <a:avLst/>
          </a:prstGeom>
          <a:solidFill>
            <a:srgbClr val="8E2F45"/>
          </a:solidFill>
          <a:ln cap="flat" cmpd="sng" w="12700">
            <a:solidFill>
              <a:srgbClr val="8E2F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29400" y="4855464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269480" y="4727448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Privacy at dispensing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235440" y="4709160"/>
            <a:ext cx="658368" cy="658368"/>
          </a:xfrm>
          <a:prstGeom prst="ellipse">
            <a:avLst/>
          </a:prstGeom>
          <a:solidFill>
            <a:srgbClr val="D99A08"/>
          </a:solidFill>
          <a:ln cap="flat" cmpd="sng" w="1270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9418320" y="4855464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0058400" y="4727448"/>
            <a:ext cx="17556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Client feedback participation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502920" y="6492240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CE7E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7375D"/>
          </a:solidFill>
          <a:ln cap="flat" cmpd="sng" w="12700">
            <a:solidFill>
              <a:srgbClr val="0737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" y="146304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Improving patient tracking and return to care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422294" y="228600"/>
            <a:ext cx="14649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 1 / 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0" y="768096"/>
            <a:ext cx="12191695" cy="50292"/>
          </a:xfrm>
          <a:prstGeom prst="rect">
            <a:avLst/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30352" y="894803"/>
            <a:ext cx="8100464" cy="283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A9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9A9A"/>
                </a:solidFill>
                <a:latin typeface="Arial"/>
                <a:ea typeface="Arial"/>
                <a:cs typeface="Arial"/>
                <a:sym typeface="Arial"/>
              </a:rPr>
              <a:t>Related SOPs; SOP 13 Patient Tracking &amp; Follow-Up and SOP 02 Appointment Scheduling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2920" y="1325880"/>
            <a:ext cx="3703320" cy="4956048"/>
          </a:xfrm>
          <a:prstGeom prst="roundRect">
            <a:avLst>
              <a:gd fmla="val 2963" name="adj"/>
            </a:avLst>
          </a:prstGeom>
          <a:solidFill>
            <a:srgbClr val="FBECEF"/>
          </a:solidFill>
          <a:ln cap="flat" cmpd="sng" w="20300">
            <a:solidFill>
              <a:srgbClr val="B04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7240" y="15544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A5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04A5A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77240" y="2057400"/>
            <a:ext cx="3090672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Missed appointments are not consistently identified, documented or handed over for follow-up.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1732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Some clients return late or are lost because tracking starts too late.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77240" y="5138182"/>
            <a:ext cx="3063240" cy="97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Arial"/>
              <a:buNone/>
            </a:pPr>
            <a:r>
              <a:rPr i="1" lang="en-US" sz="160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Common gap: appointment register not reconciled at the end of every clinic day.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370832" y="1325880"/>
            <a:ext cx="7287768" cy="868680"/>
          </a:xfrm>
          <a:prstGeom prst="roundRect">
            <a:avLst>
              <a:gd fmla="val 8421" name="adj"/>
            </a:avLst>
          </a:prstGeom>
          <a:solidFill>
            <a:srgbClr val="E8F7F7"/>
          </a:solidFill>
          <a:ln cap="flat" cmpd="sng" w="1905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617720" y="144475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90872" y="149047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332686" y="1474331"/>
            <a:ext cx="5124746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same-day identification and follow-up initiation for missed appointments from 50% to 90% within 8 weeks.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370832" y="2331720"/>
            <a:ext cx="3630168" cy="2024936"/>
          </a:xfrm>
          <a:prstGeom prst="roundRect">
            <a:avLst>
              <a:gd fmla="val 3941" name="adj"/>
            </a:avLst>
          </a:prstGeom>
          <a:solidFill>
            <a:srgbClr val="EEF5FB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449767" y="2394611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22919" y="2440331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61711" y="2703448"/>
            <a:ext cx="3511296" cy="1664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proportion of reconciled records of expected vs actual visits daily from X-&gt;Y.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Improve % of days with missed-appointment line lists generated before close of day.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Improve % missed visits traced within 48 hours and document outcomes.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65592" y="2331720"/>
            <a:ext cx="3493008" cy="2024936"/>
          </a:xfrm>
          <a:prstGeom prst="roundRect">
            <a:avLst>
              <a:gd fmla="val 3941" name="adj"/>
            </a:avLst>
          </a:prstGeom>
          <a:solidFill>
            <a:srgbClr val="EEF7EA"/>
          </a:solidFill>
          <a:ln cap="flat" cmpd="sng" w="1905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302752" y="245059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5E9E3F"/>
          </a:solidFill>
          <a:ln cap="flat" cmpd="sng" w="1270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375904" y="249631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Measurement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366760" y="2843784"/>
            <a:ext cx="309067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missed clients listed same 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of days with reconciliations done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traced within 48 hours.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returned to care within 14 days.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370832" y="4464328"/>
            <a:ext cx="7287768" cy="1920240"/>
          </a:xfrm>
          <a:prstGeom prst="roundRect">
            <a:avLst>
              <a:gd fmla="val 3810" name="adj"/>
            </a:avLst>
          </a:prstGeom>
          <a:solidFill>
            <a:srgbClr val="FFF7E8"/>
          </a:solidFill>
          <a:ln cap="flat" cmpd="sng" w="1905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617720" y="4583200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D99A08"/>
          </a:solidFill>
          <a:ln cap="flat" cmpd="sng" w="1270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690872" y="462892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Tested changes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681728" y="4976392"/>
            <a:ext cx="67757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Assign staff members for end-of-day reconciliation.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Handover missed-visit line lists for follow-up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Track weekly progress on reducing line lists and in what time.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Send neutral SMS/phone reminders for consenting clients.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Review return-to-care progress every Friday.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2"/>
          <p:cNvCxnSpPr/>
          <p:nvPr/>
        </p:nvCxnSpPr>
        <p:spPr>
          <a:xfrm>
            <a:off x="502920" y="6492240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CE7E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7375D"/>
          </a:solidFill>
          <a:ln cap="flat" cmpd="sng" w="12700">
            <a:solidFill>
              <a:srgbClr val="0737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0040" y="146304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Improving integrated triage and patient registration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692882" y="228600"/>
            <a:ext cx="1194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 2 / 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0" y="768096"/>
            <a:ext cx="12191695" cy="50292"/>
          </a:xfrm>
          <a:prstGeom prst="rect">
            <a:avLst/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30352" y="960119"/>
            <a:ext cx="9472064" cy="274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A9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9A9A"/>
                </a:solidFill>
                <a:latin typeface="Arial"/>
                <a:ea typeface="Arial"/>
                <a:cs typeface="Arial"/>
                <a:sym typeface="Arial"/>
              </a:rPr>
              <a:t>Related SOPs: SOP 01 Patient Identification &amp; Registration; SOP 04 Clinical Assessment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2920" y="1325880"/>
            <a:ext cx="3703320" cy="4956048"/>
          </a:xfrm>
          <a:prstGeom prst="roundRect">
            <a:avLst>
              <a:gd fmla="val 2963" name="adj"/>
            </a:avLst>
          </a:prstGeom>
          <a:solidFill>
            <a:srgbClr val="FBECEF"/>
          </a:solidFill>
          <a:ln cap="flat" cmpd="sng" w="20300">
            <a:solidFill>
              <a:srgbClr val="B04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77240" y="15544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A5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04A5A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77240" y="1730829"/>
            <a:ext cx="3090672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Clients are registered but not always screened for priority chronic conditions, outbreak risk, emergency or support needs, causing missed opportunities for integrated care.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77240" y="5065776"/>
            <a:ext cx="30632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Common gap: registration focuses on file retrieval but does not trigger integrated screening.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480560" y="1325880"/>
            <a:ext cx="7178040" cy="868680"/>
          </a:xfrm>
          <a:prstGeom prst="roundRect">
            <a:avLst>
              <a:gd fmla="val 8421" name="adj"/>
            </a:avLst>
          </a:prstGeom>
          <a:solidFill>
            <a:srgbClr val="E8F7F7"/>
          </a:solidFill>
          <a:ln cap="flat" cmpd="sng" w="1905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617720" y="144475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690872" y="149047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26480" y="1444752"/>
            <a:ext cx="53309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Improve complete integrated registration and documented triage from 60% to 95% within 6 weeks.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480560" y="2331720"/>
            <a:ext cx="3520440" cy="1856232"/>
          </a:xfrm>
          <a:prstGeom prst="roundRect">
            <a:avLst>
              <a:gd fmla="val 3941" name="adj"/>
            </a:avLst>
          </a:prstGeom>
          <a:solidFill>
            <a:srgbClr val="EEF5FB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80398" y="2254647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53550" y="2300367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63978" y="2612573"/>
            <a:ext cx="3493007" cy="1564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% of clients with updated locator/contact details on each encounter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% of clients screened for priority chronic conditions and danger signs.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Improve documentation of recorded vital signs from X% to Y%</a:t>
            </a:r>
            <a:br>
              <a:rPr lang="en-US" sz="14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Improve % of clients guided to the correct service point.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165592" y="2331720"/>
            <a:ext cx="3493008" cy="1856232"/>
          </a:xfrm>
          <a:prstGeom prst="roundRect">
            <a:avLst>
              <a:gd fmla="val 3941" name="adj"/>
            </a:avLst>
          </a:prstGeom>
          <a:solidFill>
            <a:srgbClr val="EEF7EA"/>
          </a:solidFill>
          <a:ln cap="flat" cmpd="sng" w="1905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302752" y="245059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5E9E3F"/>
          </a:solidFill>
          <a:ln cap="flat" cmpd="sng" w="1270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375904" y="249631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Measurement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366760" y="2843784"/>
            <a:ext cx="309067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clients with complete updated locator details.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screened for priority conditions.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Median time from arrival to first care point.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480560" y="4361688"/>
            <a:ext cx="7178040" cy="1920240"/>
          </a:xfrm>
          <a:prstGeom prst="roundRect">
            <a:avLst>
              <a:gd fmla="val 3810" name="adj"/>
            </a:avLst>
          </a:prstGeom>
          <a:solidFill>
            <a:srgbClr val="FFF7E8"/>
          </a:solidFill>
          <a:ln cap="flat" cmpd="sng" w="1905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617720" y="4480560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D99A08"/>
          </a:solidFill>
          <a:ln cap="flat" cmpd="sng" w="1270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690872" y="452628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Tested changes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681728" y="4873752"/>
            <a:ext cx="6931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Place SOP 01 at the registration desk and triage point.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Check completeness of records using a one-page registration/triage checklist.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Start morning sessions to clarify roles and patient flow.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Fast-track emergency or suspected infectious clients.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502920" y="6492240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CE7E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7375D"/>
          </a:solidFill>
          <a:ln cap="flat" cmpd="sng" w="12700">
            <a:solidFill>
              <a:srgbClr val="0737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20040" y="146304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Improving privacy at the drug dispensing point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862457" y="228600"/>
            <a:ext cx="20247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 3 / 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0" y="768096"/>
            <a:ext cx="12191695" cy="50292"/>
          </a:xfrm>
          <a:prstGeom prst="rect">
            <a:avLst/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30352" y="922795"/>
            <a:ext cx="7549958" cy="283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A9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9A9A"/>
                </a:solidFill>
                <a:latin typeface="Arial"/>
                <a:ea typeface="Arial"/>
                <a:cs typeface="Arial"/>
                <a:sym typeface="Arial"/>
              </a:rPr>
              <a:t>Related SOPs: SOP 09 Dispensing Medication; SOP 15 Client Satisfaction Feedback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" y="1325880"/>
            <a:ext cx="3703320" cy="4956048"/>
          </a:xfrm>
          <a:prstGeom prst="roundRect">
            <a:avLst>
              <a:gd fmla="val 2963" name="adj"/>
            </a:avLst>
          </a:prstGeom>
          <a:solidFill>
            <a:srgbClr val="FBECEF"/>
          </a:solidFill>
          <a:ln cap="flat" cmpd="sng" w="20300">
            <a:solidFill>
              <a:srgbClr val="B04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77240" y="15544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A5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04A5A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77240" y="1814802"/>
            <a:ext cx="3090672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Clients may receive medicines and counselling where other patients can hear sensitive information, reducing confidentiality, trust and adherence.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77240" y="4910889"/>
            <a:ext cx="30906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Common gap: high workload and limited space make private counselling and dispensing inconsistent.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480560" y="1325880"/>
            <a:ext cx="7178040" cy="868680"/>
          </a:xfrm>
          <a:prstGeom prst="roundRect">
            <a:avLst>
              <a:gd fmla="val 8421" name="adj"/>
            </a:avLst>
          </a:prstGeom>
          <a:solidFill>
            <a:srgbClr val="E8F7F7"/>
          </a:solidFill>
          <a:ln cap="flat" cmpd="sng" w="1905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617720" y="144475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90872" y="149047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00025" y="1476756"/>
            <a:ext cx="5212855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private or discreet dispensing counselling from 40% to 85% within 8 weeks.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480560" y="2331720"/>
            <a:ext cx="3520440" cy="1856232"/>
          </a:xfrm>
          <a:prstGeom prst="roundRect">
            <a:avLst>
              <a:gd fmla="val 3941" name="adj"/>
            </a:avLst>
          </a:prstGeom>
          <a:solidFill>
            <a:srgbClr val="EEF5FB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17720" y="2422599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690872" y="2468319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36794" y="2888943"/>
            <a:ext cx="3464206" cy="1253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Reduce number of privacy complaints among clients in the RCSFI and other client feedback systems</a:t>
            </a:r>
            <a:b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165592" y="2331720"/>
            <a:ext cx="3493008" cy="1856232"/>
          </a:xfrm>
          <a:prstGeom prst="roundRect">
            <a:avLst>
              <a:gd fmla="val 3941" name="adj"/>
            </a:avLst>
          </a:prstGeom>
          <a:solidFill>
            <a:srgbClr val="EEF7EA"/>
          </a:solidFill>
          <a:ln cap="flat" cmpd="sng" w="1905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302752" y="245059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5E9E3F"/>
          </a:solidFill>
          <a:ln cap="flat" cmpd="sng" w="1270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375904" y="249631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Measurement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302752" y="2901261"/>
            <a:ext cx="32918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observed dispensing encounters with privacy maintained.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clients reporting privacy was respected.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Number of privacy-related complaints per month.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480560" y="4361688"/>
            <a:ext cx="7178040" cy="1920240"/>
          </a:xfrm>
          <a:prstGeom prst="roundRect">
            <a:avLst>
              <a:gd fmla="val 3810" name="adj"/>
            </a:avLst>
          </a:prstGeom>
          <a:solidFill>
            <a:srgbClr val="FFF7E8"/>
          </a:solidFill>
          <a:ln cap="flat" cmpd="sng" w="1905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617720" y="4480560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D99A08"/>
          </a:solidFill>
          <a:ln cap="flat" cmpd="sng" w="1270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690872" y="452628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Tested changes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681728" y="4873752"/>
            <a:ext cx="6775704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Rearrange queue flow to keep distance from dispensing window.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Use lower voice and neutral medicine counselling language.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Allow clients to enter dispensing room one by one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Track RCSFI dashboard for number of privacy complaints</a:t>
            </a:r>
            <a:b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Create a private option for drug delivery to high profile clients who are always represented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 providers and patients</a:t>
            </a:r>
            <a:endParaRPr/>
          </a:p>
        </p:txBody>
      </p:sp>
      <p:cxnSp>
        <p:nvCxnSpPr>
          <p:cNvPr id="122" name="Google Shape;122;p4"/>
          <p:cNvCxnSpPr/>
          <p:nvPr/>
        </p:nvCxnSpPr>
        <p:spPr>
          <a:xfrm>
            <a:off x="502920" y="6492240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CE7E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7375D"/>
          </a:solidFill>
          <a:ln cap="flat" cmpd="sng" w="12700">
            <a:solidFill>
              <a:srgbClr val="0737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20040" y="146304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Improving client participation in providing client feedback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170367" y="228600"/>
            <a:ext cx="171683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 4 / 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0" y="768096"/>
            <a:ext cx="12191695" cy="50292"/>
          </a:xfrm>
          <a:prstGeom prst="rect">
            <a:avLst/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30351" y="885472"/>
            <a:ext cx="7382007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A9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9A9A"/>
                </a:solidFill>
                <a:latin typeface="Arial"/>
                <a:ea typeface="Arial"/>
                <a:cs typeface="Arial"/>
                <a:sym typeface="Arial"/>
              </a:rPr>
              <a:t>Related SOP: SOP 15 Routine Client Satisfaction Feedback; SOP 17 Continuous QI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02920" y="1325880"/>
            <a:ext cx="3703320" cy="4956048"/>
          </a:xfrm>
          <a:prstGeom prst="roundRect">
            <a:avLst>
              <a:gd fmla="val 2963" name="adj"/>
            </a:avLst>
          </a:prstGeom>
          <a:solidFill>
            <a:srgbClr val="FBECEF"/>
          </a:solidFill>
          <a:ln cap="flat" cmpd="sng" w="20300">
            <a:solidFill>
              <a:srgbClr val="B04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77240" y="15544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4A5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04A5A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77240" y="1572208"/>
            <a:ext cx="3090672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Client feedback is collected irregularly, few clients know about it and how to give feedback, and issues raised are not always discussed by the QI team.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7240" y="4480561"/>
            <a:ext cx="3063240" cy="1801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Common gap: feedback systems exist but are not visible, simple or linked to action.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480560" y="1325880"/>
            <a:ext cx="7178040" cy="868680"/>
          </a:xfrm>
          <a:prstGeom prst="roundRect">
            <a:avLst>
              <a:gd fmla="val 8421" name="adj"/>
            </a:avLst>
          </a:prstGeom>
          <a:solidFill>
            <a:srgbClr val="E8F7F7"/>
          </a:solidFill>
          <a:ln cap="flat" cmpd="sng" w="1905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617720" y="144475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079A9A"/>
          </a:solidFill>
          <a:ln cap="flat" cmpd="sng" w="12700">
            <a:solidFill>
              <a:srgbClr val="07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690872" y="149047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126480" y="1367818"/>
            <a:ext cx="5361432" cy="861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routine client feedback participation from 20 responses to 80 responses per month within 3 months, with monthly action review.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480560" y="2331720"/>
            <a:ext cx="3520440" cy="1856232"/>
          </a:xfrm>
          <a:prstGeom prst="roundRect">
            <a:avLst>
              <a:gd fmla="val 3941" name="adj"/>
            </a:avLst>
          </a:prstGeom>
          <a:solidFill>
            <a:srgbClr val="EEF5FB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617720" y="245059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690872" y="249631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581144" y="2863562"/>
            <a:ext cx="3483864" cy="1378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access to feedback channels- make visible and easy to use.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Increase # of clients giving feedback from different service points.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Improve proportion of client complaints discussed with feedback monthly and document improvement actions.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165592" y="2331720"/>
            <a:ext cx="3493008" cy="1856232"/>
          </a:xfrm>
          <a:prstGeom prst="roundRect">
            <a:avLst>
              <a:gd fmla="val 3941" name="adj"/>
            </a:avLst>
          </a:prstGeom>
          <a:solidFill>
            <a:srgbClr val="EEF7EA"/>
          </a:solidFill>
          <a:ln cap="flat" cmpd="sng" w="1905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302752" y="2450592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5E9E3F"/>
          </a:solidFill>
          <a:ln cap="flat" cmpd="sng" w="12700">
            <a:solidFill>
              <a:srgbClr val="5E9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375904" y="249631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Measurement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232648" y="2880360"/>
            <a:ext cx="345643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Number of feedback responses per month.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service points submitting feedback.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% feedback issues with documented action taken.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480560" y="4361688"/>
            <a:ext cx="7178040" cy="1920240"/>
          </a:xfrm>
          <a:prstGeom prst="roundRect">
            <a:avLst>
              <a:gd fmla="val 3810" name="adj"/>
            </a:avLst>
          </a:prstGeom>
          <a:solidFill>
            <a:srgbClr val="FFF7E8"/>
          </a:solidFill>
          <a:ln cap="flat" cmpd="sng" w="1905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617720" y="4480560"/>
            <a:ext cx="1371600" cy="292608"/>
          </a:xfrm>
          <a:prstGeom prst="roundRect">
            <a:avLst>
              <a:gd fmla="val 21875" name="adj"/>
            </a:avLst>
          </a:prstGeom>
          <a:solidFill>
            <a:srgbClr val="D99A08"/>
          </a:solidFill>
          <a:ln cap="flat" cmpd="sng" w="12700">
            <a:solidFill>
              <a:srgbClr val="D99A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690872" y="4526280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Tested changes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681728" y="4873752"/>
            <a:ext cx="67757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Place feedback QR code, suggestion box and simple forms near exit points.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Assign a staff member to explain feedback during health education.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Summarize feedback during monthly QI meeting.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Display “You said — We did” actions on a notice board.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502920" y="6492240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CE7E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2026-09-08T03:13:51Z</dcterms:created>
  <dc:creator>OpenAI</dc:creator>
</cp:coreProperties>
</file>