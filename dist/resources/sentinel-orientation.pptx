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embeddedFontLst>
    <p:embeddedFont>
      <p:font typeface="Play"/>
      <p:regular r:id="rId19"/>
      <p:bold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4v8eEo63+YJQrJZSqa9U+OLPK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Play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 domain should end with priority gaps translated into actions, owners and timelines—not scores alone.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7C86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C7C86"/>
                </a:solidFill>
                <a:latin typeface="Arial"/>
                <a:ea typeface="Arial"/>
                <a:cs typeface="Arial"/>
                <a:sym typeface="Arial"/>
              </a:rPr>
              <a:t>MATURITY SCALE—NOT A PASS/FAIL SCORE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4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7F9FB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4A84F"/>
          </a:solidFill>
          <a:ln cap="flat" cmpd="sng" w="12700">
            <a:solidFill>
              <a:srgbClr val="D4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7"/>
          <p:cNvSpPr/>
          <p:nvPr/>
        </p:nvSpPr>
        <p:spPr>
          <a:xfrm>
            <a:off x="0" y="91440"/>
            <a:ext cx="12191695" cy="347472"/>
          </a:xfrm>
          <a:prstGeom prst="rect">
            <a:avLst/>
          </a:prstGeom>
          <a:solidFill>
            <a:srgbClr val="0C3B4B"/>
          </a:solidFill>
          <a:ln cap="flat" cmpd="sng" w="12700">
            <a:solidFill>
              <a:srgbClr val="0C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7"/>
          <p:cNvSpPr/>
          <p:nvPr/>
        </p:nvSpPr>
        <p:spPr>
          <a:xfrm>
            <a:off x="502920" y="16459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UGANDA MINISTRY OF HEALTH  •  HEALTH SERVICE INTEGRATION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7"/>
          <p:cNvSpPr/>
          <p:nvPr/>
        </p:nvSpPr>
        <p:spPr>
          <a:xfrm>
            <a:off x="502920" y="6547104"/>
            <a:ext cx="6583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Sentinel Learning &amp; Adaptation Sites  •  September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7"/>
          <p:cNvSpPr/>
          <p:nvPr/>
        </p:nvSpPr>
        <p:spPr>
          <a:xfrm>
            <a:off x="502920" y="6419088"/>
            <a:ext cx="11155680" cy="10973"/>
          </a:xfrm>
          <a:prstGeom prst="rect">
            <a:avLst/>
          </a:prstGeom>
          <a:solidFill>
            <a:srgbClr val="D6DEE3"/>
          </a:solidFill>
          <a:ln cap="flat" cmpd="sng" w="12700">
            <a:solidFill>
              <a:srgbClr val="D6DE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H_MASTER">
  <p:cSld name="MOH_MASTER">
    <p:bg>
      <p:bgPr>
        <a:solidFill>
          <a:srgbClr val="F4F7F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4AA52"/>
          </a:solidFill>
          <a:ln cap="flat" cmpd="sng" w="12700">
            <a:solidFill>
              <a:srgbClr val="D4A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8"/>
          <p:cNvSpPr/>
          <p:nvPr/>
        </p:nvSpPr>
        <p:spPr>
          <a:xfrm>
            <a:off x="0" y="100584"/>
            <a:ext cx="12191695" cy="356616"/>
          </a:xfrm>
          <a:prstGeom prst="rect">
            <a:avLst/>
          </a:prstGeom>
          <a:solidFill>
            <a:srgbClr val="0B4148"/>
          </a:solidFill>
          <a:ln cap="flat" cmpd="sng" w="12700">
            <a:solidFill>
              <a:srgbClr val="0B41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8"/>
          <p:cNvSpPr/>
          <p:nvPr/>
        </p:nvSpPr>
        <p:spPr>
          <a:xfrm>
            <a:off x="502920" y="173736"/>
            <a:ext cx="5760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Lato"/>
              <a:buNone/>
            </a:pPr>
            <a:r>
              <a:rPr b="1" lang="en-US" sz="8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UGANDA MINISTRY OF HEALTH  •  HEALTH SERVICE INTEGRATION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Google Shape;19;p18"/>
          <p:cNvCxnSpPr/>
          <p:nvPr/>
        </p:nvCxnSpPr>
        <p:spPr>
          <a:xfrm>
            <a:off x="502920" y="6455664"/>
            <a:ext cx="11201400" cy="0"/>
          </a:xfrm>
          <a:prstGeom prst="straightConnector1">
            <a:avLst/>
          </a:prstGeom>
          <a:noFill/>
          <a:ln cap="flat" cmpd="sng" w="15225">
            <a:solidFill>
              <a:srgbClr val="C9D5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8"/>
          <p:cNvSpPr/>
          <p:nvPr/>
        </p:nvSpPr>
        <p:spPr>
          <a:xfrm>
            <a:off x="502920" y="6537960"/>
            <a:ext cx="4206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F78"/>
              </a:buClr>
              <a:buSzPts val="750"/>
              <a:buFont typeface="Lato"/>
              <a:buNone/>
            </a:pPr>
            <a:r>
              <a:rPr lang="en-US" sz="750">
                <a:solidFill>
                  <a:srgbClr val="5E6F78"/>
                </a:solidFill>
                <a:latin typeface="Lato"/>
                <a:ea typeface="Lato"/>
                <a:cs typeface="Lato"/>
                <a:sym typeface="Lato"/>
              </a:rPr>
              <a:t>Sentinel Learning &amp; Adaptation Sites  •  September 2026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sz="750">
                <a:solidFill>
                  <a:srgbClr val="809199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l">
              <a:spcBef>
                <a:spcPts val="0"/>
              </a:spcBef>
              <a:buNone/>
              <a:defRPr b="0" sz="750">
                <a:solidFill>
                  <a:srgbClr val="809199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l">
              <a:spcBef>
                <a:spcPts val="0"/>
              </a:spcBef>
              <a:buNone/>
              <a:defRPr b="0" sz="750">
                <a:solidFill>
                  <a:srgbClr val="809199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l">
              <a:spcBef>
                <a:spcPts val="0"/>
              </a:spcBef>
              <a:buNone/>
              <a:defRPr b="0" sz="750">
                <a:solidFill>
                  <a:srgbClr val="809199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l">
              <a:spcBef>
                <a:spcPts val="0"/>
              </a:spcBef>
              <a:buNone/>
              <a:defRPr b="0" sz="750">
                <a:solidFill>
                  <a:srgbClr val="809199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l">
              <a:spcBef>
                <a:spcPts val="0"/>
              </a:spcBef>
              <a:buNone/>
              <a:defRPr b="0" sz="750">
                <a:solidFill>
                  <a:srgbClr val="809199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l">
              <a:spcBef>
                <a:spcPts val="0"/>
              </a:spcBef>
              <a:buNone/>
              <a:defRPr b="0" sz="750">
                <a:solidFill>
                  <a:srgbClr val="809199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l">
              <a:spcBef>
                <a:spcPts val="0"/>
              </a:spcBef>
              <a:buNone/>
              <a:defRPr b="0" sz="750">
                <a:solidFill>
                  <a:srgbClr val="809199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l">
              <a:spcBef>
                <a:spcPts val="0"/>
              </a:spcBef>
              <a:buNone/>
              <a:defRPr b="0" sz="750">
                <a:solidFill>
                  <a:srgbClr val="809199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9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idx="12" type="sldNum"/>
          </p:nvPr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2C3B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media/ppt/media/image1.png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658368" y="5029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E5E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FE5E7"/>
                </a:solidFill>
                <a:latin typeface="Arial"/>
                <a:ea typeface="Arial"/>
                <a:cs typeface="Arial"/>
                <a:sym typeface="Arial"/>
              </a:rPr>
              <a:t>UGANDA MINISTRY OF HEALTH  •  HEALTH SERVICE INTEGRATION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media/ppt/media/image2.png" id="33" name="Google Shape;3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2680" y="384048"/>
            <a:ext cx="65836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_media/ppt/media/image3.png" id="34" name="Google Shape;3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3072" y="301752"/>
            <a:ext cx="7132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"/>
          <p:cNvSpPr/>
          <p:nvPr/>
        </p:nvSpPr>
        <p:spPr>
          <a:xfrm>
            <a:off x="639064" y="1009904"/>
            <a:ext cx="722579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Sentinel Learning &amp;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Adaptation Sites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713232" y="2747264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9ED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6E9ED"/>
                </a:solidFill>
                <a:latin typeface="Arial"/>
                <a:ea typeface="Arial"/>
                <a:cs typeface="Arial"/>
                <a:sym typeface="Arial"/>
              </a:rPr>
              <a:t>for Integrated Service Delivery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13232" y="387908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9D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A9D9DB"/>
                </a:solidFill>
                <a:latin typeface="Arial"/>
                <a:ea typeface="Arial"/>
                <a:cs typeface="Arial"/>
                <a:sym typeface="Arial"/>
              </a:rPr>
              <a:t>Activation • Assessment • CQI • Learning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713232" y="502920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A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A6A6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576072" y="53858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8D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9D8DD"/>
                </a:solidFill>
                <a:latin typeface="Arial"/>
                <a:ea typeface="Arial"/>
                <a:cs typeface="Arial"/>
                <a:sym typeface="Arial"/>
              </a:rPr>
              <a:t>sentinel sites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1"/>
          <p:cNvCxnSpPr/>
          <p:nvPr/>
        </p:nvCxnSpPr>
        <p:spPr>
          <a:xfrm>
            <a:off x="1691640" y="5120640"/>
            <a:ext cx="0" cy="502920"/>
          </a:xfrm>
          <a:prstGeom prst="straightConnector1">
            <a:avLst/>
          </a:prstGeom>
          <a:noFill/>
          <a:ln cap="flat" cmpd="sng" w="12700">
            <a:solidFill>
              <a:srgbClr val="5271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1"/>
          <p:cNvSpPr/>
          <p:nvPr/>
        </p:nvSpPr>
        <p:spPr>
          <a:xfrm>
            <a:off x="1938528" y="502920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A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A6A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1801368" y="53858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8D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9D8DD"/>
                </a:solidFill>
                <a:latin typeface="Arial"/>
                <a:ea typeface="Arial"/>
                <a:cs typeface="Arial"/>
                <a:sym typeface="Arial"/>
              </a:rPr>
              <a:t>health zones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1"/>
          <p:cNvCxnSpPr/>
          <p:nvPr/>
        </p:nvCxnSpPr>
        <p:spPr>
          <a:xfrm>
            <a:off x="2916936" y="5120640"/>
            <a:ext cx="0" cy="502920"/>
          </a:xfrm>
          <a:prstGeom prst="straightConnector1">
            <a:avLst/>
          </a:prstGeom>
          <a:noFill/>
          <a:ln cap="flat" cmpd="sng" w="12700">
            <a:solidFill>
              <a:srgbClr val="5271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"/>
          <p:cNvSpPr/>
          <p:nvPr/>
        </p:nvSpPr>
        <p:spPr>
          <a:xfrm>
            <a:off x="3163824" y="502920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A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A6A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3026664" y="53858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8D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9D8DD"/>
                </a:solidFill>
                <a:latin typeface="Arial"/>
                <a:ea typeface="Arial"/>
                <a:cs typeface="Arial"/>
                <a:sym typeface="Arial"/>
              </a:rPr>
              <a:t>sites per zone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p1"/>
          <p:cNvCxnSpPr/>
          <p:nvPr/>
        </p:nvCxnSpPr>
        <p:spPr>
          <a:xfrm>
            <a:off x="4142232" y="5120640"/>
            <a:ext cx="0" cy="502920"/>
          </a:xfrm>
          <a:prstGeom prst="straightConnector1">
            <a:avLst/>
          </a:prstGeom>
          <a:noFill/>
          <a:ln cap="flat" cmpd="sng" w="12700">
            <a:solidFill>
              <a:srgbClr val="5271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1"/>
          <p:cNvSpPr/>
          <p:nvPr/>
        </p:nvSpPr>
        <p:spPr>
          <a:xfrm>
            <a:off x="4389120" y="502920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A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A6A6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4251960" y="53858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8D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9D8DD"/>
                </a:solidFill>
                <a:latin typeface="Arial"/>
                <a:ea typeface="Arial"/>
                <a:cs typeface="Arial"/>
                <a:sym typeface="Arial"/>
              </a:rPr>
              <a:t>months of learning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676656" y="615391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BD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8CBD2"/>
                </a:solidFill>
                <a:latin typeface="Arial"/>
                <a:ea typeface="Arial"/>
                <a:cs typeface="Arial"/>
                <a:sym typeface="Arial"/>
              </a:rPr>
              <a:t>Regional / District / Facility Orientation  •  September 2026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media/ppt/media/image2.png" id="55" name="Google Shape;5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0" y="109728"/>
            <a:ext cx="438912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_media/ppt/media/image3.png" id="56" name="Google Shape;5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100584"/>
            <a:ext cx="384048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566928" y="62179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7C86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C7C86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90243" y="1065276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4000"/>
              <a:buFont typeface="Play"/>
              <a:buNone/>
            </a:pPr>
            <a:r>
              <a:rPr b="1" lang="en-US" sz="4000">
                <a:solidFill>
                  <a:srgbClr val="082C3B"/>
                </a:solidFill>
                <a:latin typeface="Play"/>
                <a:ea typeface="Play"/>
                <a:cs typeface="Play"/>
                <a:sym typeface="Play"/>
              </a:rPr>
              <a:t>Why Sentinel Learning Sites?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16966" y="1883664"/>
            <a:ext cx="3429000" cy="3429000"/>
          </a:xfrm>
          <a:prstGeom prst="roundRect">
            <a:avLst>
              <a:gd fmla="val 2133" name="adj"/>
            </a:avLst>
          </a:prstGeom>
          <a:solidFill>
            <a:srgbClr val="E8F4ED"/>
          </a:solidFill>
          <a:ln cap="flat" cmpd="sng" w="12700">
            <a:solidFill>
              <a:srgbClr val="CDE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16280" y="2140632"/>
            <a:ext cx="384048" cy="384048"/>
          </a:xfrm>
          <a:prstGeom prst="ellipse">
            <a:avLst/>
          </a:prstGeom>
          <a:solidFill>
            <a:srgbClr val="2F855A"/>
          </a:solidFill>
          <a:ln cap="flat" cmpd="sng" w="1270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90243" y="2302360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306703" y="2551727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Policy direction is clear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44296" y="2366368"/>
            <a:ext cx="3026664" cy="271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The National Integration Framework and related guidance provide the direction for integrated service delivery.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389120" y="1904951"/>
            <a:ext cx="3429000" cy="3429000"/>
          </a:xfrm>
          <a:prstGeom prst="roundRect">
            <a:avLst>
              <a:gd fmla="val 2133" name="adj"/>
            </a:avLst>
          </a:prstGeom>
          <a:solidFill>
            <a:srgbClr val="FFF4D8"/>
          </a:solidFill>
          <a:ln cap="flat" cmpd="sng" w="12700">
            <a:solidFill>
              <a:srgbClr val="F0D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53712" y="2139696"/>
            <a:ext cx="384048" cy="384048"/>
          </a:xfrm>
          <a:prstGeom prst="ellipse">
            <a:avLst/>
          </a:prstGeom>
          <a:solidFill>
            <a:srgbClr val="D99B2B"/>
          </a:solidFill>
          <a:ln cap="flat" cmpd="sng" w="12700">
            <a:solidFill>
              <a:srgbClr val="D99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562856" y="2277407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111496" y="2277407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Implementation is uneven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590288" y="2130552"/>
            <a:ext cx="3026664" cy="271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Facilities and districts are at different stages. Patient flow, referrals, documentation, commodities and data use are not yet consistent.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8174736" y="1883664"/>
            <a:ext cx="3429000" cy="3429000"/>
          </a:xfrm>
          <a:prstGeom prst="roundRect">
            <a:avLst>
              <a:gd fmla="val 2133" name="adj"/>
            </a:avLst>
          </a:prstGeom>
          <a:solidFill>
            <a:srgbClr val="FBE9E7"/>
          </a:solidFill>
          <a:ln cap="flat" cmpd="sng" w="12700">
            <a:solidFill>
              <a:srgbClr val="F0C9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299998" y="2139696"/>
            <a:ext cx="384048" cy="384048"/>
          </a:xfrm>
          <a:prstGeom prst="ellipse">
            <a:avLst/>
          </a:prstGeom>
          <a:solidFill>
            <a:srgbClr val="D65345"/>
          </a:solidFill>
          <a:ln cap="flat" cmpd="sng" w="12700">
            <a:solidFill>
              <a:srgbClr val="D653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266176" y="2267712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8823960" y="2277407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We need to know what works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321040" y="2130552"/>
            <a:ext cx="3026664" cy="271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We need a systematic way to learn what drives integration at different levels of care—and how effective practices can be adapted and spread.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fmla="val 16667" name="adj"/>
            </a:avLst>
          </a:prstGeom>
          <a:solidFill>
            <a:srgbClr val="0C3B4B"/>
          </a:solidFill>
          <a:ln cap="flat" cmpd="sng" w="12700">
            <a:solidFill>
              <a:srgbClr val="0C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804672" y="5943600"/>
            <a:ext cx="105796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Sentinel Learning Sites provide a structured mechanism to learn, improve and spread what works.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 txBox="1"/>
          <p:nvPr>
            <p:ph idx="4294967295" type="sldNum"/>
          </p:nvPr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1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>
              <a:solidFill>
                <a:srgbClr val="5C6B7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media/ppt/media/image2.png" id="82" name="Google Shape;8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0" y="109728"/>
            <a:ext cx="438912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_media/ppt/media/image3.png" id="83" name="Google Shape;8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100584"/>
            <a:ext cx="384048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566928" y="62179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7C86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C7C86"/>
                </a:solidFill>
                <a:latin typeface="Arial"/>
                <a:ea typeface="Arial"/>
                <a:cs typeface="Arial"/>
                <a:sym typeface="Arial"/>
              </a:rPr>
              <a:t>A PRACTICAL LEARNING HUB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4000"/>
              <a:buFont typeface="Play"/>
              <a:buNone/>
            </a:pPr>
            <a:r>
              <a:rPr b="1" lang="en-US" sz="4000">
                <a:solidFill>
                  <a:srgbClr val="082C3B"/>
                </a:solidFill>
                <a:latin typeface="Play"/>
                <a:ea typeface="Play"/>
                <a:cs typeface="Play"/>
                <a:sym typeface="Play"/>
              </a:rPr>
              <a:t>What is a Sentinel Learning Site?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58368" y="1417320"/>
            <a:ext cx="352044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22960" y="1581912"/>
            <a:ext cx="310896" cy="310896"/>
          </a:xfrm>
          <a:prstGeom prst="ellipse">
            <a:avLst/>
          </a:prstGeom>
          <a:solidFill>
            <a:srgbClr val="0C7C86"/>
          </a:solidFill>
          <a:ln cap="flat" cmpd="sng" w="12700">
            <a:solidFill>
              <a:srgbClr val="0C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22960" y="1641348"/>
            <a:ext cx="31089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271016" y="15819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CQI engine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59536" y="1993392"/>
            <a:ext cx="3118104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Teams identify priority gaps, test small changes through PDSA cycles, review data and document what improves care.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343400" y="1417320"/>
            <a:ext cx="352044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507992" y="1581912"/>
            <a:ext cx="310896" cy="310896"/>
          </a:xfrm>
          <a:prstGeom prst="ellipse">
            <a:avLst/>
          </a:prstGeom>
          <a:solidFill>
            <a:srgbClr val="2C6E9B"/>
          </a:solidFill>
          <a:ln cap="flat" cmpd="sng" w="12700">
            <a:solidFill>
              <a:srgbClr val="2C6E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507992" y="1641348"/>
            <a:ext cx="31089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956048" y="15819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Demonstration hub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544568" y="1993392"/>
            <a:ext cx="3118104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Sites show nearby facilities at the same level of care what integrated service delivery can look like in routine practice.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028432" y="1417320"/>
            <a:ext cx="352044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8193024" y="1581912"/>
            <a:ext cx="310896" cy="310896"/>
          </a:xfrm>
          <a:prstGeom prst="ellipse">
            <a:avLst/>
          </a:prstGeom>
          <a:solidFill>
            <a:srgbClr val="6954A3"/>
          </a:solidFill>
          <a:ln cap="flat" cmpd="sng" w="12700">
            <a:solidFill>
              <a:srgbClr val="6954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8193024" y="1641348"/>
            <a:ext cx="31089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8641080" y="15819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Learning generator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8229600" y="1993392"/>
            <a:ext cx="3118104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Sites produce practical lessons, learning briefs and change packages that can be shared through district, RRH and national structures.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713232" y="3767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How learning spreads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713232" y="4297680"/>
            <a:ext cx="1600200" cy="841248"/>
          </a:xfrm>
          <a:prstGeom prst="roundRect">
            <a:avLst>
              <a:gd fmla="val 8696" name="adj"/>
            </a:avLst>
          </a:prstGeom>
          <a:solidFill>
            <a:srgbClr val="DDF3F2"/>
          </a:solidFill>
          <a:ln cap="flat" cmpd="sng" w="12700">
            <a:solidFill>
              <a:srgbClr val="00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22960" y="4480560"/>
            <a:ext cx="13807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Sentinel site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822960" y="4736592"/>
            <a:ext cx="13807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CQI cycle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432304" y="4581144"/>
            <a:ext cx="256032" cy="256032"/>
          </a:xfrm>
          <a:prstGeom prst="chevron">
            <a:avLst>
              <a:gd fmla="val 50000" name="adj"/>
            </a:avLst>
          </a:prstGeom>
          <a:solidFill>
            <a:srgbClr val="D4A84F"/>
          </a:solidFill>
          <a:ln cap="flat" cmpd="sng" w="12700">
            <a:solidFill>
              <a:srgbClr val="D4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2880360" y="4297680"/>
            <a:ext cx="1600200" cy="841248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990088" y="4480560"/>
            <a:ext cx="13807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Change package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962656" y="4892040"/>
            <a:ext cx="13807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documented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599432" y="4581144"/>
            <a:ext cx="256032" cy="256032"/>
          </a:xfrm>
          <a:prstGeom prst="chevron">
            <a:avLst>
              <a:gd fmla="val 50000" name="adj"/>
            </a:avLst>
          </a:prstGeom>
          <a:solidFill>
            <a:srgbClr val="D4A84F"/>
          </a:solidFill>
          <a:ln cap="flat" cmpd="sng" w="12700">
            <a:solidFill>
              <a:srgbClr val="D4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047488" y="4297680"/>
            <a:ext cx="1600200" cy="841248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157216" y="4480560"/>
            <a:ext cx="13807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DHMT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157216" y="4736592"/>
            <a:ext cx="13807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supervision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766560" y="4581144"/>
            <a:ext cx="256032" cy="256032"/>
          </a:xfrm>
          <a:prstGeom prst="chevron">
            <a:avLst>
              <a:gd fmla="val 50000" name="adj"/>
            </a:avLst>
          </a:prstGeom>
          <a:solidFill>
            <a:srgbClr val="D4A84F"/>
          </a:solidFill>
          <a:ln cap="flat" cmpd="sng" w="12700">
            <a:solidFill>
              <a:srgbClr val="D4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214616" y="4297680"/>
            <a:ext cx="1600200" cy="841248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324344" y="4480560"/>
            <a:ext cx="13807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RRH / regional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7316724" y="4892040"/>
            <a:ext cx="13807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peer learning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8933688" y="4581144"/>
            <a:ext cx="256032" cy="256032"/>
          </a:xfrm>
          <a:prstGeom prst="chevron">
            <a:avLst>
              <a:gd fmla="val 50000" name="adj"/>
            </a:avLst>
          </a:prstGeom>
          <a:solidFill>
            <a:srgbClr val="D4A84F"/>
          </a:solidFill>
          <a:ln cap="flat" cmpd="sng" w="12700">
            <a:solidFill>
              <a:srgbClr val="D4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9381744" y="4297680"/>
            <a:ext cx="1600200" cy="841248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9491472" y="4480560"/>
            <a:ext cx="13807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MoH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9491472" y="4736592"/>
            <a:ext cx="13807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guidance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fmla="val 16667" name="adj"/>
            </a:avLst>
          </a:prstGeom>
          <a:solidFill>
            <a:srgbClr val="0C3B4B"/>
          </a:solidFill>
          <a:ln cap="flat" cmpd="sng" w="12700">
            <a:solidFill>
              <a:srgbClr val="0C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804672" y="5943600"/>
            <a:ext cx="105796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 a research site. Not a survey. Not a performance award. A structured learning and improvement site.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>
            <p:ph idx="4294967295" type="sldNum"/>
          </p:nvPr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1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>
              <a:solidFill>
                <a:srgbClr val="5C6B7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512064" y="512064"/>
            <a:ext cx="1682496" cy="844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2"/>
              </a:buClr>
              <a:buSzPts val="1600"/>
              <a:buFont typeface="Lato"/>
              <a:buNone/>
            </a:pPr>
            <a:r>
              <a:rPr b="1" lang="en-US" sz="1600">
                <a:solidFill>
                  <a:srgbClr val="C89222"/>
                </a:solidFill>
                <a:latin typeface="Lato"/>
                <a:ea typeface="Lato"/>
                <a:cs typeface="Lato"/>
                <a:sym typeface="Lato"/>
              </a:rPr>
              <a:t>METHODOLOGY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472436" y="740112"/>
            <a:ext cx="7178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6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6356F"/>
                </a:solidFill>
                <a:latin typeface="Arial"/>
                <a:ea typeface="Arial"/>
                <a:cs typeface="Arial"/>
                <a:sym typeface="Arial"/>
              </a:rPr>
              <a:t>The Network: Stratified Random Selection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890772" y="1317751"/>
            <a:ext cx="7319771" cy="629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873"/>
              </a:buClr>
              <a:buSzPts val="2000"/>
              <a:buFont typeface="Lato"/>
              <a:buNone/>
            </a:pPr>
            <a:r>
              <a:rPr lang="en-US" sz="2000">
                <a:solidFill>
                  <a:srgbClr val="566873"/>
                </a:solidFill>
                <a:latin typeface="Lato"/>
                <a:ea typeface="Lato"/>
                <a:cs typeface="Lato"/>
                <a:sym typeface="Lato"/>
              </a:rPr>
              <a:t>District-level randomisation is complete. Facility selection now proceeds through verified stratified random selection.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56438" y="2077211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A4C"/>
              </a:buClr>
              <a:buSzPts val="4400"/>
              <a:buFont typeface="Lato"/>
              <a:buNone/>
            </a:pPr>
            <a:r>
              <a:rPr b="1" lang="en-US" sz="4400">
                <a:solidFill>
                  <a:srgbClr val="0B4A4C"/>
                </a:solidFill>
                <a:latin typeface="Lato"/>
                <a:ea typeface="Lato"/>
                <a:cs typeface="Lato"/>
                <a:sym typeface="Lato"/>
              </a:rPr>
              <a:t>80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95732" y="2557779"/>
            <a:ext cx="10515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873"/>
              </a:buClr>
              <a:buSzPts val="1100"/>
              <a:buFont typeface="Lato"/>
              <a:buNone/>
            </a:pPr>
            <a:r>
              <a:rPr lang="en-US" sz="1100">
                <a:solidFill>
                  <a:srgbClr val="566873"/>
                </a:solidFill>
                <a:latin typeface="Lato"/>
                <a:ea typeface="Lato"/>
                <a:cs typeface="Lato"/>
                <a:sym typeface="Lato"/>
              </a:rPr>
              <a:t>total sites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4"/>
          <p:cNvCxnSpPr/>
          <p:nvPr/>
        </p:nvCxnSpPr>
        <p:spPr>
          <a:xfrm>
            <a:off x="1572768" y="1435608"/>
            <a:ext cx="0" cy="576072"/>
          </a:xfrm>
          <a:prstGeom prst="straightConnector1">
            <a:avLst/>
          </a:prstGeom>
          <a:noFill/>
          <a:ln cap="flat" cmpd="sng" w="12700">
            <a:solidFill>
              <a:srgbClr val="CEDA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4"/>
          <p:cNvSpPr/>
          <p:nvPr/>
        </p:nvSpPr>
        <p:spPr>
          <a:xfrm>
            <a:off x="2085848" y="2191005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A4C"/>
              </a:buClr>
              <a:buSzPts val="4400"/>
              <a:buFont typeface="Lato"/>
              <a:buNone/>
            </a:pPr>
            <a:r>
              <a:rPr b="1" lang="en-US" sz="4400">
                <a:solidFill>
                  <a:srgbClr val="0B4A4C"/>
                </a:solidFill>
                <a:latin typeface="Lato"/>
                <a:ea typeface="Lato"/>
                <a:cs typeface="Lato"/>
                <a:sym typeface="Lato"/>
              </a:rPr>
              <a:t>16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2057400" y="2607816"/>
            <a:ext cx="10515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873"/>
              </a:buClr>
              <a:buSzPts val="1100"/>
              <a:buFont typeface="Lato"/>
              <a:buNone/>
            </a:pPr>
            <a:r>
              <a:rPr lang="en-US" sz="1100">
                <a:solidFill>
                  <a:srgbClr val="566873"/>
                </a:solidFill>
                <a:latin typeface="Lato"/>
                <a:ea typeface="Lato"/>
                <a:cs typeface="Lato"/>
                <a:sym typeface="Lato"/>
              </a:rPr>
              <a:t>health zones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4"/>
          <p:cNvCxnSpPr/>
          <p:nvPr/>
        </p:nvCxnSpPr>
        <p:spPr>
          <a:xfrm>
            <a:off x="2944368" y="1435608"/>
            <a:ext cx="0" cy="576072"/>
          </a:xfrm>
          <a:prstGeom prst="straightConnector1">
            <a:avLst/>
          </a:prstGeom>
          <a:noFill/>
          <a:ln cap="flat" cmpd="sng" w="12700">
            <a:solidFill>
              <a:srgbClr val="CEDA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4"/>
          <p:cNvSpPr/>
          <p:nvPr/>
        </p:nvSpPr>
        <p:spPr>
          <a:xfrm>
            <a:off x="3890772" y="2149855"/>
            <a:ext cx="868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A4C"/>
              </a:buClr>
              <a:buSzPts val="4400"/>
              <a:buFont typeface="Lato"/>
              <a:buNone/>
            </a:pPr>
            <a:r>
              <a:rPr b="1" lang="en-US" sz="4400">
                <a:solidFill>
                  <a:srgbClr val="0B4A4C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835908" y="2662936"/>
            <a:ext cx="10515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873"/>
              </a:buClr>
              <a:buSzPts val="1100"/>
              <a:buFont typeface="Lato"/>
              <a:buNone/>
            </a:pPr>
            <a:r>
              <a:rPr lang="en-US" sz="1100">
                <a:solidFill>
                  <a:srgbClr val="566873"/>
                </a:solidFill>
                <a:latin typeface="Lato"/>
                <a:ea typeface="Lato"/>
                <a:cs typeface="Lato"/>
                <a:sym typeface="Lato"/>
              </a:rPr>
              <a:t>sites per zone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4"/>
          <p:cNvCxnSpPr/>
          <p:nvPr/>
        </p:nvCxnSpPr>
        <p:spPr>
          <a:xfrm>
            <a:off x="4315968" y="1435608"/>
            <a:ext cx="0" cy="576072"/>
          </a:xfrm>
          <a:prstGeom prst="straightConnector1">
            <a:avLst/>
          </a:prstGeom>
          <a:noFill/>
          <a:ln cap="flat" cmpd="sng" w="12700">
            <a:solidFill>
              <a:srgbClr val="CEDA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4"/>
          <p:cNvSpPr/>
          <p:nvPr/>
        </p:nvSpPr>
        <p:spPr>
          <a:xfrm>
            <a:off x="5891022" y="2260344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A4C"/>
              </a:buClr>
              <a:buSzPts val="4400"/>
              <a:buFont typeface="Lato"/>
              <a:buNone/>
            </a:pPr>
            <a:r>
              <a:rPr b="1" lang="en-US" sz="4400">
                <a:solidFill>
                  <a:srgbClr val="0B4A4C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954522" y="2635754"/>
            <a:ext cx="10515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873"/>
              </a:buClr>
              <a:buSzPts val="1100"/>
              <a:buFont typeface="Lato"/>
              <a:buNone/>
            </a:pPr>
            <a:r>
              <a:rPr lang="en-US" sz="1100">
                <a:solidFill>
                  <a:srgbClr val="566873"/>
                </a:solidFill>
                <a:latin typeface="Lato"/>
                <a:ea typeface="Lato"/>
                <a:cs typeface="Lato"/>
                <a:sym typeface="Lato"/>
              </a:rPr>
              <a:t>eligibility screens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4"/>
          <p:cNvCxnSpPr/>
          <p:nvPr/>
        </p:nvCxnSpPr>
        <p:spPr>
          <a:xfrm>
            <a:off x="2560320" y="3779520"/>
            <a:ext cx="182880" cy="0"/>
          </a:xfrm>
          <a:prstGeom prst="straightConnector1">
            <a:avLst/>
          </a:prstGeom>
          <a:noFill/>
          <a:ln cap="flat" cmpd="sng" w="20300">
            <a:solidFill>
              <a:srgbClr val="C892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" name="Google Shape;144;p4"/>
          <p:cNvCxnSpPr/>
          <p:nvPr/>
        </p:nvCxnSpPr>
        <p:spPr>
          <a:xfrm>
            <a:off x="4882896" y="3726686"/>
            <a:ext cx="182880" cy="0"/>
          </a:xfrm>
          <a:prstGeom prst="straightConnector1">
            <a:avLst/>
          </a:prstGeom>
          <a:noFill/>
          <a:ln cap="flat" cmpd="sng" w="20300">
            <a:solidFill>
              <a:srgbClr val="C892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" name="Google Shape;145;p4"/>
          <p:cNvCxnSpPr/>
          <p:nvPr/>
        </p:nvCxnSpPr>
        <p:spPr>
          <a:xfrm>
            <a:off x="7250684" y="3726686"/>
            <a:ext cx="182880" cy="0"/>
          </a:xfrm>
          <a:prstGeom prst="straightConnector1">
            <a:avLst/>
          </a:prstGeom>
          <a:noFill/>
          <a:ln cap="flat" cmpd="sng" w="20300">
            <a:solidFill>
              <a:srgbClr val="C892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" name="Google Shape;146;p4"/>
          <p:cNvCxnSpPr/>
          <p:nvPr/>
        </p:nvCxnSpPr>
        <p:spPr>
          <a:xfrm>
            <a:off x="9637776" y="3638294"/>
            <a:ext cx="182880" cy="0"/>
          </a:xfrm>
          <a:prstGeom prst="straightConnector1">
            <a:avLst/>
          </a:prstGeom>
          <a:noFill/>
          <a:ln cap="flat" cmpd="sng" w="20300">
            <a:solidFill>
              <a:srgbClr val="C8922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p4"/>
          <p:cNvSpPr/>
          <p:nvPr/>
        </p:nvSpPr>
        <p:spPr>
          <a:xfrm>
            <a:off x="521208" y="3264407"/>
            <a:ext cx="2066544" cy="1815083"/>
          </a:xfrm>
          <a:prstGeom prst="roundRect">
            <a:avLst>
              <a:gd fmla="val 2752" name="adj"/>
            </a:avLst>
          </a:prstGeom>
          <a:solidFill>
            <a:srgbClr val="FFFFFF"/>
          </a:solidFill>
          <a:ln cap="flat" cmpd="sng" w="10150">
            <a:solidFill>
              <a:srgbClr val="DDE6E9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9AAAB1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01472" y="2917444"/>
            <a:ext cx="320040" cy="237744"/>
          </a:xfrm>
          <a:prstGeom prst="rect">
            <a:avLst/>
          </a:prstGeom>
          <a:solidFill>
            <a:srgbClr val="0B4A4C"/>
          </a:solidFill>
          <a:ln cap="flat" cmpd="sng" w="12700">
            <a:solidFill>
              <a:srgbClr val="0B4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70738" y="3003041"/>
            <a:ext cx="3200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b="1"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1158240" y="3046222"/>
            <a:ext cx="75895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2"/>
              </a:buClr>
              <a:buSzPts val="1100"/>
              <a:buFont typeface="Lato"/>
              <a:buNone/>
            </a:pPr>
            <a:r>
              <a:rPr b="1" lang="en-US" sz="1100">
                <a:solidFill>
                  <a:srgbClr val="C89222"/>
                </a:solidFill>
                <a:latin typeface="Lato"/>
                <a:ea typeface="Lato"/>
                <a:cs typeface="Lato"/>
                <a:sym typeface="Lato"/>
              </a:rPr>
              <a:t>20 JULY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58368" y="35509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A4C"/>
              </a:buClr>
              <a:buSzPts val="2400"/>
              <a:buFont typeface="Lato"/>
              <a:buNone/>
            </a:pPr>
            <a:r>
              <a:rPr b="1" lang="en-US" sz="2400">
                <a:solidFill>
                  <a:srgbClr val="0B4A4C"/>
                </a:solidFill>
                <a:latin typeface="Lato"/>
                <a:ea typeface="Lato"/>
                <a:cs typeface="Lato"/>
                <a:sym typeface="Lato"/>
              </a:rPr>
              <a:t>Districts randomised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705104" y="4128515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3A"/>
              </a:buClr>
              <a:buSzPts val="1200"/>
              <a:buFont typeface="Lato"/>
              <a:buNone/>
            </a:pPr>
            <a:r>
              <a:rPr lang="en-US" sz="1200">
                <a:solidFill>
                  <a:srgbClr val="20303A"/>
                </a:solidFill>
                <a:latin typeface="Lato"/>
                <a:ea typeface="Lato"/>
                <a:cs typeface="Lato"/>
                <a:sym typeface="Lato"/>
              </a:rPr>
              <a:t>Districts completed a preliminary randomisation exercise, establishing the pathway for facility selection.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2802636" y="3322319"/>
            <a:ext cx="2066544" cy="1774952"/>
          </a:xfrm>
          <a:prstGeom prst="roundRect">
            <a:avLst>
              <a:gd fmla="val 2752" name="adj"/>
            </a:avLst>
          </a:prstGeom>
          <a:solidFill>
            <a:srgbClr val="F8FAFB"/>
          </a:solidFill>
          <a:ln cap="flat" cmpd="sng" w="10150">
            <a:solidFill>
              <a:srgbClr val="E4EB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9AAAB1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2831846" y="2987038"/>
            <a:ext cx="320040" cy="237744"/>
          </a:xfrm>
          <a:prstGeom prst="rect">
            <a:avLst/>
          </a:prstGeom>
          <a:solidFill>
            <a:srgbClr val="0B4A4C"/>
          </a:solidFill>
          <a:ln cap="flat" cmpd="sng" w="12700">
            <a:solidFill>
              <a:srgbClr val="0B4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2842006" y="3056889"/>
            <a:ext cx="3200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b="1"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2846705" y="3550920"/>
            <a:ext cx="18686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A4C"/>
              </a:buClr>
              <a:buSzPts val="2400"/>
              <a:buFont typeface="Lato"/>
              <a:buNone/>
            </a:pPr>
            <a:r>
              <a:rPr b="1" lang="en-US" sz="2400">
                <a:solidFill>
                  <a:srgbClr val="0B4A4C"/>
                </a:solidFill>
                <a:latin typeface="Lato"/>
                <a:ea typeface="Lato"/>
                <a:cs typeface="Lato"/>
                <a:sym typeface="Lato"/>
              </a:rPr>
              <a:t>Compiled facility frame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2867406" y="4351019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3A"/>
              </a:buClr>
              <a:buSzPts val="1200"/>
              <a:buFont typeface="Lato"/>
              <a:buNone/>
            </a:pPr>
            <a:r>
              <a:rPr lang="en-US" sz="1200">
                <a:solidFill>
                  <a:srgbClr val="20303A"/>
                </a:solidFill>
                <a:latin typeface="Lato"/>
                <a:ea typeface="Lato"/>
                <a:cs typeface="Lato"/>
                <a:sym typeface="Lato"/>
              </a:rPr>
              <a:t>Verified facility lists by district/zone, level of care and ownership.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5184140" y="3312160"/>
            <a:ext cx="2066544" cy="1661160"/>
          </a:xfrm>
          <a:prstGeom prst="roundRect">
            <a:avLst>
              <a:gd fmla="val 2752" name="adj"/>
            </a:avLst>
          </a:prstGeom>
          <a:solidFill>
            <a:srgbClr val="F8FAFB"/>
          </a:solidFill>
          <a:ln cap="flat" cmpd="sng" w="10150">
            <a:solidFill>
              <a:srgbClr val="E4EB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9AAAB1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264658" y="3016504"/>
            <a:ext cx="320040" cy="237744"/>
          </a:xfrm>
          <a:prstGeom prst="rect">
            <a:avLst/>
          </a:prstGeom>
          <a:solidFill>
            <a:srgbClr val="0B4A4C"/>
          </a:solidFill>
          <a:ln cap="flat" cmpd="sng" w="12700">
            <a:solidFill>
              <a:srgbClr val="0B4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5238750" y="3065271"/>
            <a:ext cx="3200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b="1"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5292852" y="359663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A4C"/>
              </a:buClr>
              <a:buSzPts val="2220"/>
              <a:buFont typeface="Lato"/>
              <a:buNone/>
            </a:pPr>
            <a:r>
              <a:rPr b="1" lang="en-US" sz="2220">
                <a:solidFill>
                  <a:srgbClr val="0B4A4C"/>
                </a:solidFill>
                <a:latin typeface="Lato"/>
                <a:ea typeface="Lato"/>
                <a:cs typeface="Lato"/>
                <a:sym typeface="Lato"/>
              </a:rPr>
              <a:t>Stratification</a:t>
            </a:r>
            <a:endParaRPr sz="2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5299202" y="4177791"/>
            <a:ext cx="18966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3A"/>
              </a:buClr>
              <a:buSzPts val="1200"/>
              <a:buFont typeface="Lato"/>
              <a:buNone/>
            </a:pPr>
            <a:r>
              <a:rPr lang="en-US" sz="1200">
                <a:solidFill>
                  <a:srgbClr val="20303A"/>
                </a:solidFill>
                <a:latin typeface="Lato"/>
                <a:ea typeface="Lato"/>
                <a:cs typeface="Lato"/>
                <a:sym typeface="Lato"/>
              </a:rPr>
              <a:t>Grouped facilities by level of care — RRH/Hospital, HC IV, HC III — and by GoU/PNFP ownership.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7511542" y="3194302"/>
            <a:ext cx="2066544" cy="1798830"/>
          </a:xfrm>
          <a:prstGeom prst="roundRect">
            <a:avLst>
              <a:gd fmla="val 2752" name="adj"/>
            </a:avLst>
          </a:prstGeom>
          <a:solidFill>
            <a:srgbClr val="F8FAFB"/>
          </a:solidFill>
          <a:ln cap="flat" cmpd="sng" w="10150">
            <a:solidFill>
              <a:srgbClr val="E4EB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9AAAB1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7520940" y="2868166"/>
            <a:ext cx="320040" cy="237744"/>
          </a:xfrm>
          <a:prstGeom prst="rect">
            <a:avLst/>
          </a:prstGeom>
          <a:solidFill>
            <a:srgbClr val="0B4A4C"/>
          </a:solidFill>
          <a:ln cap="flat" cmpd="sng" w="12700">
            <a:solidFill>
              <a:srgbClr val="0B4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7495032" y="2956558"/>
            <a:ext cx="3200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b="1"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7625080" y="3455923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A4C"/>
              </a:buClr>
              <a:buSzPts val="2400"/>
              <a:buFont typeface="Lato"/>
              <a:buNone/>
            </a:pPr>
            <a:r>
              <a:rPr b="1" lang="en-US" sz="2400">
                <a:solidFill>
                  <a:srgbClr val="0B4A4C"/>
                </a:solidFill>
                <a:latin typeface="Lato"/>
                <a:ea typeface="Lato"/>
                <a:cs typeface="Lato"/>
                <a:sym typeface="Lato"/>
              </a:rPr>
              <a:t>Randomised within strata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7625080" y="4177791"/>
            <a:ext cx="190347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3A"/>
              </a:buClr>
              <a:buSzPts val="1200"/>
              <a:buFont typeface="Lato"/>
              <a:buNone/>
            </a:pPr>
            <a:r>
              <a:rPr lang="en-US" sz="1200">
                <a:solidFill>
                  <a:srgbClr val="20303A"/>
                </a:solidFill>
                <a:latin typeface="Lato"/>
                <a:ea typeface="Lato"/>
                <a:cs typeface="Lato"/>
                <a:sym typeface="Lato"/>
              </a:rPr>
              <a:t>Used a lottery or Excel RAND so selection was not driven by convenience or preference.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9893808" y="3135376"/>
            <a:ext cx="2066544" cy="1867408"/>
          </a:xfrm>
          <a:prstGeom prst="roundRect">
            <a:avLst>
              <a:gd fmla="val 2752" name="adj"/>
            </a:avLst>
          </a:prstGeom>
          <a:solidFill>
            <a:srgbClr val="F8FAFB"/>
          </a:solidFill>
          <a:ln cap="flat" cmpd="sng" w="10150">
            <a:solidFill>
              <a:srgbClr val="E4EB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9AAAB1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9953752" y="2805430"/>
            <a:ext cx="320040" cy="237744"/>
          </a:xfrm>
          <a:prstGeom prst="rect">
            <a:avLst/>
          </a:prstGeom>
          <a:solidFill>
            <a:srgbClr val="0B4A4C"/>
          </a:solidFill>
          <a:ln cap="flat" cmpd="sng" w="12700">
            <a:solidFill>
              <a:srgbClr val="0B4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9927844" y="2859025"/>
            <a:ext cx="3200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b="1"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10059416" y="336803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A4C"/>
              </a:buClr>
              <a:buSzPts val="2400"/>
              <a:buFont typeface="Lato"/>
              <a:buNone/>
            </a:pPr>
            <a:r>
              <a:rPr b="1" lang="en-US" sz="2400">
                <a:solidFill>
                  <a:srgbClr val="0B4A4C"/>
                </a:solidFill>
                <a:latin typeface="Lato"/>
                <a:ea typeface="Lato"/>
                <a:cs typeface="Lato"/>
                <a:sym typeface="Lato"/>
              </a:rPr>
              <a:t>Validated &amp; activate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10058400" y="3984751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3A"/>
              </a:buClr>
              <a:buSzPts val="1200"/>
              <a:buFont typeface="Lato"/>
              <a:buNone/>
            </a:pPr>
            <a:r>
              <a:rPr lang="en-US" sz="1200">
                <a:solidFill>
                  <a:srgbClr val="20303A"/>
                </a:solidFill>
                <a:latin typeface="Lato"/>
                <a:ea typeface="Lato"/>
                <a:cs typeface="Lato"/>
                <a:sym typeface="Lato"/>
              </a:rPr>
              <a:t>Confirmed factual details and operational readiness, plan to initiate baseline assessment and action planning.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6227064" y="5475224"/>
            <a:ext cx="4983480" cy="898144"/>
          </a:xfrm>
          <a:prstGeom prst="roundRect">
            <a:avLst>
              <a:gd fmla="val 4511" name="adj"/>
            </a:avLst>
          </a:prstGeom>
          <a:solidFill>
            <a:srgbClr val="0B4A4C"/>
          </a:solidFill>
          <a:ln cap="flat" cmpd="sng" w="12700">
            <a:solidFill>
              <a:srgbClr val="0B4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379464" y="5114543"/>
            <a:ext cx="4876800" cy="313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C85D"/>
              </a:buClr>
              <a:buSzPts val="1200"/>
              <a:buFont typeface="Lato"/>
              <a:buNone/>
            </a:pPr>
            <a:r>
              <a:rPr b="1" lang="en-US" sz="1200">
                <a:solidFill>
                  <a:srgbClr val="F3C85D"/>
                </a:solidFill>
                <a:latin typeface="Lato"/>
                <a:ea typeface="Lato"/>
                <a:cs typeface="Lato"/>
                <a:sym typeface="Lato"/>
              </a:rPr>
              <a:t>PER-ZONE TARGET COMPOSITION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464808" y="5565648"/>
            <a:ext cx="1051560" cy="347472"/>
          </a:xfrm>
          <a:prstGeom prst="roundRect">
            <a:avLst>
              <a:gd fmla="val 13158" name="adj"/>
            </a:avLst>
          </a:prstGeom>
          <a:solidFill>
            <a:srgbClr val="FFFFFF">
              <a:alpha val="7843"/>
            </a:srgbClr>
          </a:solidFill>
          <a:ln cap="flat" cmpd="sng" w="10150">
            <a:solidFill>
              <a:srgbClr val="BFD3D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6611112" y="5729224"/>
            <a:ext cx="9052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b="1"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2×</a:t>
            </a: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HC III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7671816" y="5547360"/>
            <a:ext cx="1051560" cy="347472"/>
          </a:xfrm>
          <a:prstGeom prst="roundRect">
            <a:avLst>
              <a:gd fmla="val 13158" name="adj"/>
            </a:avLst>
          </a:prstGeom>
          <a:solidFill>
            <a:srgbClr val="FFFFFF">
              <a:alpha val="7843"/>
            </a:srgbClr>
          </a:solidFill>
          <a:ln cap="flat" cmpd="sng" w="10150">
            <a:solidFill>
              <a:srgbClr val="BFD3D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7754112" y="5667248"/>
            <a:ext cx="9052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b="1"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2×</a:t>
            </a: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HC IV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9034272" y="5557520"/>
            <a:ext cx="1572768" cy="347472"/>
          </a:xfrm>
          <a:prstGeom prst="roundRect">
            <a:avLst>
              <a:gd fmla="val 13158" name="adj"/>
            </a:avLst>
          </a:prstGeom>
          <a:solidFill>
            <a:srgbClr val="FFFFFF">
              <a:alpha val="7843"/>
            </a:srgbClr>
          </a:solidFill>
          <a:ln cap="flat" cmpd="sng" w="10150">
            <a:solidFill>
              <a:srgbClr val="BFD3D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9180576" y="5681980"/>
            <a:ext cx="142646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b="1"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1×</a:t>
            </a: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RRH / Hospital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6501384" y="6071616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"/>
              <a:buNone/>
            </a:pPr>
            <a:r>
              <a:rPr b="1" lang="en-US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PNFP representation is captured within the ownership strata.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 txBox="1"/>
          <p:nvPr>
            <p:ph idx="4294967295" type="sldNum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50">
                <a:solidFill>
                  <a:srgbClr val="809199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1050">
              <a:solidFill>
                <a:srgbClr val="80919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"/>
          <p:cNvSpPr/>
          <p:nvPr/>
        </p:nvSpPr>
        <p:spPr>
          <a:xfrm>
            <a:off x="237744" y="246888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The full sentinel site cycle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512064" y="80467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36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56636F"/>
                </a:solidFill>
                <a:latin typeface="Arial"/>
                <a:ea typeface="Arial"/>
                <a:cs typeface="Arial"/>
                <a:sym typeface="Arial"/>
              </a:rPr>
              <a:t>It is SOPs + staging + inputs + action tracker + QI + learning.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11338560" y="649224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819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2819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94360" y="1325880"/>
            <a:ext cx="2971800" cy="475488"/>
          </a:xfrm>
          <a:prstGeom prst="rect">
            <a:avLst/>
          </a:prstGeom>
          <a:solidFill>
            <a:srgbClr val="087F8C"/>
          </a:solidFill>
          <a:ln cap="flat" cmpd="sng" w="9525">
            <a:solidFill>
              <a:srgbClr val="087F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   1. Use SOPs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594360" y="1856232"/>
            <a:ext cx="2971800" cy="1115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Put the SOPs into daily practice at service points.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4224528" y="1325880"/>
            <a:ext cx="2971800" cy="475488"/>
          </a:xfrm>
          <a:prstGeom prst="rect">
            <a:avLst/>
          </a:prstGeom>
          <a:solidFill>
            <a:srgbClr val="F29F05"/>
          </a:solidFill>
          <a:ln cap="flat" cmpd="sng" w="9525">
            <a:solidFill>
              <a:srgbClr val="F29F0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   2. Stage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4224528" y="1856232"/>
            <a:ext cx="2971800" cy="1115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Assess current maturity across integration domains.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7854696" y="1325880"/>
            <a:ext cx="2971800" cy="475488"/>
          </a:xfrm>
          <a:prstGeom prst="rect">
            <a:avLst/>
          </a:prstGeom>
          <a:solidFill>
            <a:srgbClr val="245A78"/>
          </a:solidFill>
          <a:ln cap="flat" cmpd="sng" w="9525">
            <a:solidFill>
              <a:srgbClr val="245A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  3. Identify inputs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7854696" y="1856232"/>
            <a:ext cx="2971800" cy="1115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Document tools, commodities, HRH, space, data and support gaps.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594360" y="3886200"/>
            <a:ext cx="2971800" cy="475488"/>
          </a:xfrm>
          <a:prstGeom prst="rect">
            <a:avLst/>
          </a:prstGeom>
          <a:solidFill>
            <a:srgbClr val="3A7D44"/>
          </a:solidFill>
          <a:ln cap="flat" cmpd="sng" w="9525">
            <a:solidFill>
              <a:srgbClr val="3A7D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   4. Track actions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594360" y="4416552"/>
            <a:ext cx="2971800" cy="1115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Agree owners, dates, support needs and status.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224528" y="3886200"/>
            <a:ext cx="2971800" cy="475488"/>
          </a:xfrm>
          <a:prstGeom prst="rect">
            <a:avLst/>
          </a:prstGeom>
          <a:solidFill>
            <a:srgbClr val="087F8C"/>
          </a:solidFill>
          <a:ln cap="flat" cmpd="sng" w="9525">
            <a:solidFill>
              <a:srgbClr val="087F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    5. Run QI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224528" y="4416552"/>
            <a:ext cx="2971800" cy="1115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Use PDSA cycles to test improvements and review data.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7854696" y="3886200"/>
            <a:ext cx="2971800" cy="475488"/>
          </a:xfrm>
          <a:prstGeom prst="rect">
            <a:avLst/>
          </a:prstGeom>
          <a:solidFill>
            <a:srgbClr val="17324D"/>
          </a:solidFill>
          <a:ln cap="flat" cmpd="sng" w="9525">
            <a:solidFill>
              <a:srgbClr val="17324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  6. Share learning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7854696" y="4416552"/>
            <a:ext cx="2971800" cy="1115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Document what worked and spread it through DHMT/RRH forums.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870666" y="6383858"/>
            <a:ext cx="979004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28190"/>
                </a:solidFill>
                <a:latin typeface="Arial"/>
                <a:ea typeface="Arial"/>
                <a:cs typeface="Arial"/>
                <a:sym typeface="Arial"/>
              </a:rPr>
              <a:t>Ministry of Health Uganda                                             Health Facility Orientation                                    Sentinel Sites &amp; SOPs                                                                                                                 August 2026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/>
          <p:nvPr/>
        </p:nvSpPr>
        <p:spPr>
          <a:xfrm>
            <a:off x="604520" y="49784"/>
            <a:ext cx="109728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1" i="0" lang="en-US" sz="1333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The Assessment Tool builds on existing tool 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548640" y="375920"/>
            <a:ext cx="10972800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b="1" i="0" lang="en-US" sz="2933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One tool. One visit. Action plan before the team leaves.</a:t>
            </a:r>
            <a:endParaRPr b="0" i="0" sz="29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365760" y="1042416"/>
            <a:ext cx="2255520" cy="1524000"/>
          </a:xfrm>
          <a:prstGeom prst="rect">
            <a:avLst/>
          </a:prstGeom>
          <a:solidFill>
            <a:srgbClr val="1F4973"/>
          </a:solidFill>
          <a:ln cap="flat" cmpd="sng" w="12700">
            <a:solidFill>
              <a:srgbClr val="1F49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18160" y="1152144"/>
            <a:ext cx="207264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C9911A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57200" y="1436624"/>
            <a:ext cx="2072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Leadership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Governance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2913888" y="1066800"/>
            <a:ext cx="2255520" cy="1524000"/>
          </a:xfrm>
          <a:prstGeom prst="rect">
            <a:avLst/>
          </a:prstGeom>
          <a:solidFill>
            <a:srgbClr val="7B1111"/>
          </a:solidFill>
          <a:ln cap="flat" cmpd="sng" w="12700">
            <a:solidFill>
              <a:srgbClr val="7B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2956560" y="1095248"/>
            <a:ext cx="207264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C9911A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2956560" y="1448816"/>
            <a:ext cx="2072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Delivery ★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5334000" y="1083056"/>
            <a:ext cx="2255520" cy="1524000"/>
          </a:xfrm>
          <a:prstGeom prst="rect">
            <a:avLst/>
          </a:prstGeom>
          <a:solidFill>
            <a:srgbClr val="7D4600"/>
          </a:solidFill>
          <a:ln cap="flat" cmpd="sng" w="12700">
            <a:solidFill>
              <a:srgbClr val="7D4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5462016" y="1095248"/>
            <a:ext cx="207264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C9911A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425440" y="1505712"/>
            <a:ext cx="2072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Commodity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35280" y="2775712"/>
            <a:ext cx="2255520" cy="1273048"/>
          </a:xfrm>
          <a:prstGeom prst="rect">
            <a:avLst/>
          </a:prstGeom>
          <a:solidFill>
            <a:srgbClr val="1F4973"/>
          </a:solidFill>
          <a:ln cap="flat" cmpd="sng" w="12700">
            <a:solidFill>
              <a:srgbClr val="1F49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365760" y="2733040"/>
            <a:ext cx="207264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C9911A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b="0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365760" y="2911856"/>
            <a:ext cx="2072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Information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2865120" y="2783840"/>
            <a:ext cx="2255520" cy="1264920"/>
          </a:xfrm>
          <a:prstGeom prst="rect">
            <a:avLst/>
          </a:prstGeom>
          <a:solidFill>
            <a:srgbClr val="1E5631"/>
          </a:solidFill>
          <a:ln cap="flat" cmpd="sng" w="12700">
            <a:solidFill>
              <a:srgbClr val="1E56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2956560" y="2838704"/>
            <a:ext cx="207264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C9911A"/>
                </a:solidFill>
                <a:latin typeface="Calibri"/>
                <a:ea typeface="Calibri"/>
                <a:cs typeface="Calibri"/>
                <a:sym typeface="Calibri"/>
              </a:rPr>
              <a:t>D5</a:t>
            </a:r>
            <a:endParaRPr b="0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2968752" y="3134360"/>
            <a:ext cx="2072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5334000" y="2773680"/>
            <a:ext cx="2255520" cy="1298448"/>
          </a:xfrm>
          <a:prstGeom prst="rect">
            <a:avLst/>
          </a:prstGeom>
          <a:solidFill>
            <a:srgbClr val="5B2C8D"/>
          </a:solidFill>
          <a:ln cap="flat" cmpd="sng" w="12700">
            <a:solidFill>
              <a:srgbClr val="5B2C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5413248" y="2870200"/>
            <a:ext cx="207264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C9911A"/>
                </a:solidFill>
                <a:latin typeface="Calibri"/>
                <a:ea typeface="Calibri"/>
                <a:cs typeface="Calibri"/>
                <a:sym typeface="Calibri"/>
              </a:rPr>
              <a:t>D6</a:t>
            </a:r>
            <a:endParaRPr b="0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5364480" y="3094736"/>
            <a:ext cx="2072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Laboratory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Systems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304800" y="4414520"/>
            <a:ext cx="2255520" cy="1524000"/>
          </a:xfrm>
          <a:prstGeom prst="rect">
            <a:avLst/>
          </a:prstGeom>
          <a:solidFill>
            <a:srgbClr val="1D7A7A"/>
          </a:solidFill>
          <a:ln cap="flat" cmpd="sng" w="12700">
            <a:solidFill>
              <a:srgbClr val="1D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35280" y="4538472"/>
            <a:ext cx="207264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C9911A"/>
                </a:solidFill>
                <a:latin typeface="Calibri"/>
                <a:ea typeface="Calibri"/>
                <a:cs typeface="Calibri"/>
                <a:sym typeface="Calibri"/>
              </a:rPr>
              <a:t>D7</a:t>
            </a:r>
            <a:endParaRPr b="0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65760" y="4803648"/>
            <a:ext cx="2072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Community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Systems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2834640" y="4411980"/>
            <a:ext cx="2255520" cy="1524000"/>
          </a:xfrm>
          <a:prstGeom prst="rect">
            <a:avLst/>
          </a:prstGeom>
          <a:solidFill>
            <a:srgbClr val="1D5B75"/>
          </a:solidFill>
          <a:ln cap="flat" cmpd="sng" w="12700">
            <a:solidFill>
              <a:srgbClr val="1D5B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2913888" y="4491228"/>
            <a:ext cx="207264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C9911A"/>
                </a:solidFill>
                <a:latin typeface="Calibri"/>
                <a:ea typeface="Calibri"/>
                <a:cs typeface="Calibri"/>
                <a:sym typeface="Calibri"/>
              </a:rPr>
              <a:t>D8</a:t>
            </a:r>
            <a:endParaRPr b="0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2880360" y="4763008"/>
            <a:ext cx="2072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Financing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5315712" y="4277360"/>
            <a:ext cx="2255520" cy="1524000"/>
          </a:xfrm>
          <a:prstGeom prst="rect">
            <a:avLst/>
          </a:prstGeom>
          <a:solidFill>
            <a:srgbClr val="2C3E50"/>
          </a:solidFill>
          <a:ln cap="flat" cmpd="sng" w="12700">
            <a:solidFill>
              <a:srgbClr val="2C3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5364480" y="4206240"/>
            <a:ext cx="207264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C9911A"/>
                </a:solidFill>
                <a:latin typeface="Calibri"/>
                <a:ea typeface="Calibri"/>
                <a:cs typeface="Calibri"/>
                <a:sym typeface="Calibri"/>
              </a:rPr>
              <a:t>D9</a:t>
            </a:r>
            <a:endParaRPr b="0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5315712" y="4496816"/>
            <a:ext cx="2072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Quality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Care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7717536" y="1127760"/>
            <a:ext cx="3901440" cy="426720"/>
          </a:xfrm>
          <a:prstGeom prst="rect">
            <a:avLst/>
          </a:prstGeom>
          <a:solidFill>
            <a:srgbClr val="1F3A5F"/>
          </a:solidFill>
          <a:ln cap="flat" cmpd="sng" w="1270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7833360" y="1087120"/>
            <a:ext cx="36576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en-US" sz="14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Each domain tab contains: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7711440" y="1595120"/>
            <a:ext cx="3901440" cy="1083056"/>
          </a:xfrm>
          <a:prstGeom prst="rect">
            <a:avLst/>
          </a:prstGeom>
          <a:solidFill>
            <a:srgbClr val="0D7680"/>
          </a:solidFill>
          <a:ln cap="flat" cmpd="sng" w="12700">
            <a:solidFill>
              <a:srgbClr val="0D7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7894320" y="1635760"/>
            <a:ext cx="353568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en-US" sz="14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  Staging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7894320" y="2133600"/>
            <a:ext cx="35356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7"/>
              <a:buFont typeface="Arial"/>
              <a:buNone/>
            </a:pPr>
            <a:r>
              <a:rPr b="0" i="0" lang="en-US" sz="1267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Score 1–5 for each standard. Score turns Red→Green automatically.</a:t>
            </a:r>
            <a:endParaRPr b="0" i="0" sz="12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7717536" y="2781047"/>
            <a:ext cx="3901440" cy="950976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7833360" y="2761996"/>
            <a:ext cx="353568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en-US" sz="14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  Key Indicators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7845552" y="3129535"/>
            <a:ext cx="35356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7"/>
              <a:buFont typeface="Arial"/>
              <a:buNone/>
            </a:pPr>
            <a:r>
              <a:rPr b="0" i="0" lang="en-US" sz="1267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Pre-filled baselines and targets from the national M&amp;E framework.</a:t>
            </a:r>
            <a:endParaRPr b="0" i="0" sz="12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7696200" y="3886709"/>
            <a:ext cx="3901440" cy="947420"/>
          </a:xfrm>
          <a:prstGeom prst="rect">
            <a:avLst/>
          </a:prstGeom>
          <a:solidFill>
            <a:srgbClr val="7B1111"/>
          </a:solidFill>
          <a:ln cap="flat" cmpd="sng" w="12700">
            <a:solidFill>
              <a:srgbClr val="7B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7833360" y="3898139"/>
            <a:ext cx="353568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en-US" sz="14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  Synthesis &amp; Action Plan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7879080" y="4261612"/>
            <a:ext cx="35356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7"/>
              <a:buFont typeface="Arial"/>
              <a:buNone/>
            </a:pPr>
            <a:r>
              <a:rPr b="0" i="0" lang="en-US" sz="1267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Up to 5 gaps → intervention type → responsible person → timeline.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7"/>
              <a:buFont typeface="Arial"/>
              <a:buNone/>
            </a:pPr>
            <a:r>
              <a:t/>
            </a:r>
            <a:endParaRPr b="0" i="0" sz="12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7696200" y="4942587"/>
            <a:ext cx="3901440" cy="8382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7833360" y="4902708"/>
            <a:ext cx="353568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en-US" sz="14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E.  Shared Experiences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7833360" y="5191760"/>
            <a:ext cx="35356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7"/>
              <a:buFont typeface="Arial"/>
              <a:buNone/>
            </a:pPr>
            <a:r>
              <a:rPr b="0" i="0" lang="en-US" sz="1267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What worked, what changed, what can other sites replicate?</a:t>
            </a:r>
            <a:endParaRPr b="0" i="0" sz="12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304800" y="6028944"/>
            <a:ext cx="11338560" cy="731520"/>
          </a:xfrm>
          <a:prstGeom prst="rect">
            <a:avLst/>
          </a:prstGeom>
          <a:solidFill>
            <a:srgbClr val="C9911A"/>
          </a:solidFill>
          <a:ln cap="flat" cmpd="sng" w="12700">
            <a:solidFill>
              <a:srgbClr val="C99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396240" y="6035040"/>
            <a:ext cx="11094720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Each domain includes Staging (1–5, traffic-light colours), KPIs pre-populated from the M&amp;E Framework, a Synthesis &amp; Action Plan (top 5 gaps), and Shared Experiences by standard — auto-linked to the Action Tracker. Plus: Client Satisfaction · Action Tracker · Dashboard · Data Extraction.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"/>
          <p:cNvSpPr/>
          <p:nvPr/>
        </p:nvSpPr>
        <p:spPr>
          <a:xfrm>
            <a:off x="548640" y="60960"/>
            <a:ext cx="109728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1" i="0" lang="en-US" sz="1333" u="none" cap="none" strike="noStrike">
                <a:solidFill>
                  <a:srgbClr val="0D7680"/>
                </a:solidFill>
                <a:latin typeface="Calibri"/>
                <a:ea typeface="Calibri"/>
                <a:cs typeface="Calibri"/>
                <a:sym typeface="Calibri"/>
              </a:rPr>
              <a:t>HOW SCORING WORKS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609600" y="254000"/>
            <a:ext cx="10972800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b="1" i="0" lang="en-US" sz="2933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Each standard is scored 1 to 5. The colour tells the story instantly.</a:t>
            </a:r>
            <a:endParaRPr b="0" i="0" sz="29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426720" y="1115568"/>
            <a:ext cx="853440" cy="947928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335280" y="951992"/>
            <a:ext cx="853440" cy="115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rPr b="1" i="0" lang="en-US" sz="42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42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1463040" y="924560"/>
            <a:ext cx="487680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No integration  (20%)</a:t>
            </a:r>
            <a:endParaRPr b="0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1463040" y="1398016"/>
            <a:ext cx="4876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Services remain vertical. No coordination or shared pathways between programmes. Patients visit each service point separately.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26720" y="2232152"/>
            <a:ext cx="853440" cy="1027176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355600" y="1979168"/>
            <a:ext cx="853440" cy="115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rPr b="1" i="0" lang="en-US" sz="42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42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1463040" y="2020825"/>
            <a:ext cx="487680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Minimal alignment  (40%)</a:t>
            </a:r>
            <a:endParaRPr b="0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1452880" y="2500377"/>
            <a:ext cx="4876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Isolated steps exist — ad hoc and unsustained. Some staff are doing integrated care but it is not systematic or documented.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26720" y="3437128"/>
            <a:ext cx="853440" cy="960120"/>
          </a:xfrm>
          <a:prstGeom prst="rect">
            <a:avLst/>
          </a:prstGeom>
          <a:solidFill>
            <a:srgbClr val="F1C40F"/>
          </a:solidFill>
          <a:ln cap="flat" cmpd="sng" w="12700">
            <a:solidFill>
              <a:srgbClr val="F1C4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355600" y="3188208"/>
            <a:ext cx="853440" cy="115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rPr b="1" i="0" lang="en-US" sz="4267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42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1452880" y="3302509"/>
            <a:ext cx="487680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Partial integration  (60%)</a:t>
            </a:r>
            <a:endParaRPr b="0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1452880" y="3722115"/>
            <a:ext cx="4876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Some structure is visible — SOPs exist, some staff follow integrated pathways — but practice is uneven across staff and service points.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26720" y="4521200"/>
            <a:ext cx="853440" cy="895096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375920" y="4329176"/>
            <a:ext cx="853440" cy="115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rPr b="1" i="0" lang="en-US" sz="42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42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1452880" y="4367784"/>
            <a:ext cx="487680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Strong alignment  (80%)</a:t>
            </a:r>
            <a:endParaRPr b="0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1452880" y="4852417"/>
            <a:ext cx="4876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Integration is routine and documented. Most staff follow integrated protocols consistently. The facility is sustaining integration independently.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6776720" y="1054608"/>
            <a:ext cx="4998720" cy="4434840"/>
          </a:xfrm>
          <a:prstGeom prst="rect">
            <a:avLst/>
          </a:prstGeom>
          <a:solidFill>
            <a:srgbClr val="E9F7EF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6888480" y="1237488"/>
            <a:ext cx="463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0" lang="en-US" sz="1867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★  Our target is Score 4</a:t>
            </a:r>
            <a:endParaRPr b="0" i="0" sz="18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7000240" y="1697736"/>
            <a:ext cx="463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b="1" i="0" lang="en-US" sz="1467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Score 4 = 80% = Strong Alignment</a:t>
            </a:r>
            <a:endParaRPr b="0" i="0" sz="1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888480" y="2134616"/>
            <a:ext cx="4632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631"/>
                </a:solidFill>
                <a:latin typeface="Calibri"/>
                <a:ea typeface="Calibri"/>
                <a:cs typeface="Calibri"/>
                <a:sym typeface="Calibri"/>
              </a:rPr>
              <a:t>✓  Integrated protocols are in use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6888480" y="2845816"/>
            <a:ext cx="4632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631"/>
                </a:solidFill>
                <a:latin typeface="Calibri"/>
                <a:ea typeface="Calibri"/>
                <a:cs typeface="Calibri"/>
                <a:sym typeface="Calibri"/>
              </a:rPr>
              <a:t>✓  Most staff follow integration SOPs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6888480" y="3556000"/>
            <a:ext cx="4632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631"/>
                </a:solidFill>
                <a:latin typeface="Calibri"/>
                <a:ea typeface="Calibri"/>
                <a:cs typeface="Calibri"/>
                <a:sym typeface="Calibri"/>
              </a:rPr>
              <a:t>✓  CQI is active and documented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6888480" y="4221480"/>
            <a:ext cx="4632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631"/>
                </a:solidFill>
                <a:latin typeface="Calibri"/>
                <a:ea typeface="Calibri"/>
                <a:cs typeface="Calibri"/>
                <a:sym typeface="Calibri"/>
              </a:rPr>
              <a:t>✓  Data is reviewed and used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6888480" y="4879848"/>
            <a:ext cx="4632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5631"/>
                </a:solidFill>
                <a:latin typeface="Calibri"/>
                <a:ea typeface="Calibri"/>
                <a:cs typeface="Calibri"/>
                <a:sym typeface="Calibri"/>
              </a:rPr>
              <a:t>✓  Referrals are tracked and completed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776720" y="5683507"/>
            <a:ext cx="4632960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7"/>
              <a:buFont typeface="Arial"/>
              <a:buNone/>
            </a:pPr>
            <a:r>
              <a:rPr b="0" i="1" lang="en-US" sz="1267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If your facility is at 3 — we work together to reach 4. If you are at 4 — we work toward 5.</a:t>
            </a:r>
            <a:endParaRPr b="0" i="0" sz="12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426720" y="5538216"/>
            <a:ext cx="853440" cy="1019048"/>
          </a:xfrm>
          <a:prstGeom prst="rect">
            <a:avLst/>
          </a:prstGeom>
          <a:solidFill>
            <a:srgbClr val="145A32"/>
          </a:solidFill>
          <a:ln cap="flat" cmpd="sng" w="12700">
            <a:solidFill>
              <a:srgbClr val="145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375920" y="5416296"/>
            <a:ext cx="853440" cy="115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rPr b="1" i="0" lang="en-US" sz="42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42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1452880" y="5538216"/>
            <a:ext cx="487680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145A32"/>
                </a:solidFill>
                <a:latin typeface="Calibri"/>
                <a:ea typeface="Calibri"/>
                <a:cs typeface="Calibri"/>
                <a:sym typeface="Calibri"/>
              </a:rPr>
              <a:t>Full integration  (100%)</a:t>
            </a:r>
            <a:endParaRPr b="0" i="0" sz="17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1452880" y="6105655"/>
            <a:ext cx="4876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US" sz="1333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Comprehensive, patient-centred integrated care is consistently demonstrated and self-sustaining. The facility can mentor other sites.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media/ppt/media/image2.png" id="290" name="Google Shape;2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0" y="109728"/>
            <a:ext cx="438912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_media/ppt/media/image3.png" id="291" name="Google Shape;29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100584"/>
            <a:ext cx="384048" cy="283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media/ppt/media/image2.png" id="297" name="Google Shape;2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0" y="109728"/>
            <a:ext cx="438912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_media/ppt/media/image3.png" id="298" name="Google Shape;29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100584"/>
            <a:ext cx="384048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8"/>
          <p:cNvSpPr/>
          <p:nvPr/>
        </p:nvSpPr>
        <p:spPr>
          <a:xfrm>
            <a:off x="566928" y="621792"/>
            <a:ext cx="48889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7C86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C7C86"/>
                </a:solidFill>
                <a:latin typeface="Arial"/>
                <a:ea typeface="Arial"/>
                <a:cs typeface="Arial"/>
                <a:sym typeface="Arial"/>
              </a:rPr>
              <a:t>INPUTS • ACTION TRACKER • FOLLOW-UP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3200"/>
              <a:buFont typeface="Play"/>
              <a:buNone/>
            </a:pPr>
            <a:r>
              <a:rPr b="1" lang="en-US" sz="3200">
                <a:solidFill>
                  <a:srgbClr val="082C3B"/>
                </a:solidFill>
                <a:latin typeface="Play"/>
                <a:ea typeface="Play"/>
                <a:cs typeface="Play"/>
                <a:sym typeface="Play"/>
              </a:rPr>
              <a:t>From findings to action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85800" y="1463040"/>
            <a:ext cx="3401568" cy="3429000"/>
          </a:xfrm>
          <a:prstGeom prst="roundRect">
            <a:avLst>
              <a:gd fmla="val 2151" name="adj"/>
            </a:avLst>
          </a:prstGeom>
          <a:solidFill>
            <a:srgbClr val="E9F2F8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850392" y="1618488"/>
            <a:ext cx="384048" cy="384048"/>
          </a:xfrm>
          <a:prstGeom prst="ellipse">
            <a:avLst/>
          </a:prstGeom>
          <a:solidFill>
            <a:srgbClr val="2C6E9B"/>
          </a:solidFill>
          <a:ln cap="flat" cmpd="sng" w="12700">
            <a:solidFill>
              <a:srgbClr val="2C6E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850392" y="1682496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1376172" y="1875536"/>
            <a:ext cx="2624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1. Check the enabling inputs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886968" y="2039112"/>
            <a:ext cx="2999232" cy="271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People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Tools and registers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Commodities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Space and patient flow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Data systems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Mentorship support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4389120" y="1463040"/>
            <a:ext cx="3401568" cy="3429000"/>
          </a:xfrm>
          <a:prstGeom prst="roundRect">
            <a:avLst>
              <a:gd fmla="val 2151" name="adj"/>
            </a:avLst>
          </a:prstGeom>
          <a:solidFill>
            <a:srgbClr val="FFF4D8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4553712" y="1618488"/>
            <a:ext cx="384048" cy="384048"/>
          </a:xfrm>
          <a:prstGeom prst="ellipse">
            <a:avLst/>
          </a:prstGeom>
          <a:solidFill>
            <a:srgbClr val="D99B2B"/>
          </a:solidFill>
          <a:ln cap="flat" cmpd="sng" w="12700">
            <a:solidFill>
              <a:srgbClr val="D99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553712" y="1682496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5001768" y="1833880"/>
            <a:ext cx="2624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2. Agree the action tracker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4590288" y="2039112"/>
            <a:ext cx="2999232" cy="271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Priority gap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Agreed action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Owner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Due date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Support needed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8092440" y="1463040"/>
            <a:ext cx="3401568" cy="3429000"/>
          </a:xfrm>
          <a:prstGeom prst="roundRect">
            <a:avLst>
              <a:gd fmla="val 2151" name="adj"/>
            </a:avLst>
          </a:prstGeom>
          <a:solidFill>
            <a:srgbClr val="DDF3F2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8257032" y="1618488"/>
            <a:ext cx="384048" cy="384048"/>
          </a:xfrm>
          <a:prstGeom prst="ellipse">
            <a:avLst/>
          </a:prstGeom>
          <a:solidFill>
            <a:srgbClr val="0C7C86"/>
          </a:solidFill>
          <a:ln cap="flat" cmpd="sng" w="12700">
            <a:solidFill>
              <a:srgbClr val="0C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8257032" y="1682496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8804656" y="1883664"/>
            <a:ext cx="2624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3. Follow up and escalate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8293608" y="2039112"/>
            <a:ext cx="2999232" cy="271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Review monthly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Use routine data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Escalate system bottlenecks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Document learning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Update status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fmla="val 16667" name="adj"/>
            </a:avLst>
          </a:prstGeom>
          <a:solidFill>
            <a:srgbClr val="0C3B4B"/>
          </a:solidFill>
          <a:ln cap="flat" cmpd="sng" w="12700">
            <a:solidFill>
              <a:srgbClr val="0C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804672" y="5943600"/>
            <a:ext cx="105796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visit should end with observations only. It should end with agreed actions and a clear route for escalation.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8"/>
          <p:cNvSpPr txBox="1"/>
          <p:nvPr>
            <p:ph idx="4294967295" type="sldNum"/>
          </p:nvPr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5C6B7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"/>
          <p:cNvSpPr/>
          <p:nvPr/>
        </p:nvSpPr>
        <p:spPr>
          <a:xfrm>
            <a:off x="502920" y="219456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QI is part of the process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881910" y="838157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36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56636F"/>
                </a:solidFill>
                <a:latin typeface="Arial"/>
                <a:ea typeface="Arial"/>
                <a:cs typeface="Arial"/>
                <a:sym typeface="Arial"/>
              </a:rPr>
              <a:t>QI helps the facility solve the problems identified through staging and the action tracker.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11338560" y="649224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819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2819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685800" y="1645920"/>
            <a:ext cx="2029968" cy="502920"/>
          </a:xfrm>
          <a:prstGeom prst="rect">
            <a:avLst/>
          </a:prstGeom>
          <a:solidFill>
            <a:srgbClr val="B7412C"/>
          </a:solidFill>
          <a:ln cap="flat" cmpd="sng" w="9525">
            <a:solidFill>
              <a:srgbClr val="B741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Problem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685800" y="2331720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Choose one priority gap from the tracker.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2761488" y="2084832"/>
            <a:ext cx="164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36F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56636F"/>
                </a:solidFill>
                <a:latin typeface="Play"/>
                <a:ea typeface="Play"/>
                <a:cs typeface="Play"/>
                <a:sym typeface="Play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2953512" y="1645920"/>
            <a:ext cx="2029968" cy="502920"/>
          </a:xfrm>
          <a:prstGeom prst="rect">
            <a:avLst/>
          </a:prstGeom>
          <a:solidFill>
            <a:srgbClr val="F29F05"/>
          </a:solidFill>
          <a:ln cap="flat" cmpd="sng" w="9525">
            <a:solidFill>
              <a:srgbClr val="F29F0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Root cause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2953512" y="2331720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Ask why the gap is happening.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5029200" y="2084832"/>
            <a:ext cx="164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36F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56636F"/>
                </a:solidFill>
                <a:latin typeface="Play"/>
                <a:ea typeface="Play"/>
                <a:cs typeface="Play"/>
                <a:sym typeface="Play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5221224" y="1645920"/>
            <a:ext cx="2029968" cy="502920"/>
          </a:xfrm>
          <a:prstGeom prst="rect">
            <a:avLst/>
          </a:prstGeom>
          <a:solidFill>
            <a:srgbClr val="245A78"/>
          </a:solidFill>
          <a:ln cap="flat" cmpd="sng" w="9525">
            <a:solidFill>
              <a:srgbClr val="245A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Change idea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5221224" y="2331720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Agree one small change to test.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7296912" y="2084832"/>
            <a:ext cx="164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36F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56636F"/>
                </a:solidFill>
                <a:latin typeface="Play"/>
                <a:ea typeface="Play"/>
                <a:cs typeface="Play"/>
                <a:sym typeface="Play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7488936" y="1645920"/>
            <a:ext cx="2029968" cy="502920"/>
          </a:xfrm>
          <a:prstGeom prst="rect">
            <a:avLst/>
          </a:prstGeom>
          <a:solidFill>
            <a:srgbClr val="087F8C"/>
          </a:solidFill>
          <a:ln cap="flat" cmpd="sng" w="9525">
            <a:solidFill>
              <a:srgbClr val="087F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PDSA cycle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7488936" y="2331720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Plan, do, study and act.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9564624" y="2084832"/>
            <a:ext cx="164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36F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56636F"/>
                </a:solidFill>
                <a:latin typeface="Play"/>
                <a:ea typeface="Play"/>
                <a:cs typeface="Play"/>
                <a:sym typeface="Play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9756648" y="1645920"/>
            <a:ext cx="2029968" cy="502920"/>
          </a:xfrm>
          <a:prstGeom prst="rect">
            <a:avLst/>
          </a:prstGeom>
          <a:solidFill>
            <a:srgbClr val="3A7D44"/>
          </a:solidFill>
          <a:ln cap="flat" cmpd="sng" w="9525">
            <a:solidFill>
              <a:srgbClr val="3A7D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Data review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9756648" y="2331720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Check whether the change improved results.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1362456" y="5187194"/>
            <a:ext cx="9692640" cy="594360"/>
          </a:xfrm>
          <a:prstGeom prst="rect">
            <a:avLst/>
          </a:prstGeom>
          <a:solidFill>
            <a:srgbClr val="3A7D44"/>
          </a:solidFill>
          <a:ln cap="flat" cmpd="sng" w="9525">
            <a:solidFill>
              <a:srgbClr val="3A7D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QI is how the facility turns the action tracker into improvement.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"/>
          <p:cNvSpPr txBox="1"/>
          <p:nvPr/>
        </p:nvSpPr>
        <p:spPr>
          <a:xfrm>
            <a:off x="870666" y="6383858"/>
            <a:ext cx="979004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28190"/>
                </a:solidFill>
                <a:latin typeface="Arial"/>
                <a:ea typeface="Arial"/>
                <a:cs typeface="Arial"/>
                <a:sym typeface="Arial"/>
              </a:rPr>
              <a:t>Ministry of Health Uganda                                             Health Facility Orientation                                    Sentinel Sites &amp; SOPs                                                                                                                 August 2026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1962912" y="4245962"/>
            <a:ext cx="8266176" cy="640080"/>
          </a:xfrm>
          <a:prstGeom prst="roundRect">
            <a:avLst>
              <a:gd fmla="val 11429" name="adj"/>
            </a:avLst>
          </a:prstGeom>
          <a:solidFill>
            <a:srgbClr val="E8F4ED"/>
          </a:solidFill>
          <a:ln cap="flat" cmpd="sng" w="12700">
            <a:solidFill>
              <a:srgbClr val="CDE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F855A"/>
                </a:solidFill>
                <a:latin typeface="Arial"/>
                <a:ea typeface="Arial"/>
                <a:cs typeface="Arial"/>
                <a:sym typeface="Arial"/>
              </a:rPr>
              <a:t>QI is not needed for every gap. Use it for priority problems where a practical change can be tested, measured and refined.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media/ppt/media/image2.png" id="344" name="Google Shape;3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0" y="109728"/>
            <a:ext cx="438912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_media/ppt/media/image3.png" id="345" name="Google Shape;34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100584"/>
            <a:ext cx="384048" cy="283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media/ppt/media/image2.png" id="351" name="Google Shape;3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0" y="109728"/>
            <a:ext cx="438912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_media/ppt/media/image3.png" id="352" name="Google Shape;35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100584"/>
            <a:ext cx="384048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0"/>
          <p:cNvSpPr/>
          <p:nvPr/>
        </p:nvSpPr>
        <p:spPr>
          <a:xfrm>
            <a:off x="566928" y="62179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7C86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C7C86"/>
                </a:solidFill>
                <a:latin typeface="Arial"/>
                <a:ea typeface="Arial"/>
                <a:cs typeface="Arial"/>
                <a:sym typeface="Arial"/>
              </a:rPr>
              <a:t>CLEAR OWNERSHIP AT EVERY LEVEL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722376" y="815909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4000"/>
              <a:buFont typeface="Play"/>
              <a:buNone/>
            </a:pPr>
            <a:r>
              <a:rPr b="1" lang="en-US" sz="4000">
                <a:solidFill>
                  <a:srgbClr val="082C3B"/>
                </a:solidFill>
                <a:latin typeface="Play"/>
                <a:ea typeface="Play"/>
                <a:cs typeface="Play"/>
                <a:sym typeface="Play"/>
              </a:rPr>
              <a:t>Roles, reporting and escalation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713232" y="1417320"/>
            <a:ext cx="2761488" cy="749808"/>
          </a:xfrm>
          <a:prstGeom prst="roundRect">
            <a:avLst>
              <a:gd fmla="val 7317" name="adj"/>
            </a:avLst>
          </a:prstGeom>
          <a:solidFill>
            <a:srgbClr val="0C7C86"/>
          </a:solidFill>
          <a:ln cap="flat" cmpd="sng" w="12700">
            <a:solidFill>
              <a:srgbClr val="0C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896112" y="1655064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Facility team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639312" y="1417320"/>
            <a:ext cx="7699248" cy="749808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3886200" y="1618488"/>
            <a:ext cx="7178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Use SOPs • run CQI/PDSA • maintain learning logs • review data monthly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0"/>
          <p:cNvSpPr/>
          <p:nvPr/>
        </p:nvSpPr>
        <p:spPr>
          <a:xfrm rot="5400000">
            <a:off x="1947672" y="2221992"/>
            <a:ext cx="274320" cy="201168"/>
          </a:xfrm>
          <a:prstGeom prst="chevron">
            <a:avLst>
              <a:gd fmla="val 50000" name="adj"/>
            </a:avLst>
          </a:prstGeom>
          <a:solidFill>
            <a:srgbClr val="9FB3BA"/>
          </a:solidFill>
          <a:ln cap="flat" cmpd="sng" w="12700">
            <a:solidFill>
              <a:srgbClr val="9FB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713232" y="2441448"/>
            <a:ext cx="2761488" cy="749808"/>
          </a:xfrm>
          <a:prstGeom prst="roundRect">
            <a:avLst>
              <a:gd fmla="val 7317" name="adj"/>
            </a:avLst>
          </a:prstGeom>
          <a:solidFill>
            <a:srgbClr val="2C6E9B"/>
          </a:solidFill>
          <a:ln cap="flat" cmpd="sng" w="12700">
            <a:solidFill>
              <a:srgbClr val="2C6E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896112" y="267919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DHMT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3639312" y="2441448"/>
            <a:ext cx="7699248" cy="749808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3886200" y="2642616"/>
            <a:ext cx="7178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Routine supervision • follow up action plans • solve local bottlenecks • spread tested practice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0"/>
          <p:cNvSpPr/>
          <p:nvPr/>
        </p:nvSpPr>
        <p:spPr>
          <a:xfrm rot="5400000">
            <a:off x="1947672" y="3246120"/>
            <a:ext cx="274320" cy="201168"/>
          </a:xfrm>
          <a:prstGeom prst="chevron">
            <a:avLst>
              <a:gd fmla="val 50000" name="adj"/>
            </a:avLst>
          </a:prstGeom>
          <a:solidFill>
            <a:srgbClr val="9FB3BA"/>
          </a:solidFill>
          <a:ln cap="flat" cmpd="sng" w="12700">
            <a:solidFill>
              <a:srgbClr val="9FB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713232" y="3465576"/>
            <a:ext cx="2761488" cy="749808"/>
          </a:xfrm>
          <a:prstGeom prst="roundRect">
            <a:avLst>
              <a:gd fmla="val 7317" name="adj"/>
            </a:avLst>
          </a:prstGeom>
          <a:solidFill>
            <a:srgbClr val="6954A3"/>
          </a:solidFill>
          <a:ln cap="flat" cmpd="sng" w="12700">
            <a:solidFill>
              <a:srgbClr val="6954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896112" y="370332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RRH / regional ICS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3639312" y="3465576"/>
            <a:ext cx="7699248" cy="749808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3886200" y="3666744"/>
            <a:ext cx="7178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Activation • mentorship • peer learning • data use • escalation of system constraints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 rot="5400000">
            <a:off x="1947672" y="4270248"/>
            <a:ext cx="274320" cy="201168"/>
          </a:xfrm>
          <a:prstGeom prst="chevron">
            <a:avLst>
              <a:gd fmla="val 50000" name="adj"/>
            </a:avLst>
          </a:prstGeom>
          <a:solidFill>
            <a:srgbClr val="9FB3BA"/>
          </a:solidFill>
          <a:ln cap="flat" cmpd="sng" w="12700">
            <a:solidFill>
              <a:srgbClr val="9FB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713232" y="4489704"/>
            <a:ext cx="2761488" cy="749808"/>
          </a:xfrm>
          <a:prstGeom prst="roundRect">
            <a:avLst>
              <a:gd fmla="val 7317" name="adj"/>
            </a:avLst>
          </a:prstGeom>
          <a:solidFill>
            <a:srgbClr val="0C3B4B"/>
          </a:solidFill>
          <a:ln cap="flat" cmpd="sng" w="12700">
            <a:solidFill>
              <a:srgbClr val="0C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896112" y="472744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MoH / NACI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3639312" y="4489704"/>
            <a:ext cx="7699248" cy="749808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3886200" y="4690872"/>
            <a:ext cx="7178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Stewardship • standard tools/SOPs • national synthesis • policy uptake • unblock decisions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fmla="val 16667" name="adj"/>
            </a:avLst>
          </a:prstGeom>
          <a:solidFill>
            <a:srgbClr val="0C3B4B"/>
          </a:solidFill>
          <a:ln cap="flat" cmpd="sng" w="12700">
            <a:solidFill>
              <a:srgbClr val="0C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804672" y="5943600"/>
            <a:ext cx="105796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Reporting pathway: Facility → DHMT → RRH/Regional ICS → MoH/NACI, with learning and unresolved bottlenecks escalated upward.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 txBox="1"/>
          <p:nvPr>
            <p:ph idx="4294967295" type="sldNum"/>
          </p:nvPr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1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>
              <a:solidFill>
                <a:srgbClr val="5C6B7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"/>
          <p:cNvSpPr/>
          <p:nvPr/>
        </p:nvSpPr>
        <p:spPr>
          <a:xfrm>
            <a:off x="502920" y="219456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Facility roles and accountabilities- SOPs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512064" y="69850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36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6636F"/>
                </a:solidFill>
                <a:latin typeface="Arial"/>
                <a:ea typeface="Arial"/>
                <a:cs typeface="Arial"/>
                <a:sym typeface="Arial"/>
              </a:rPr>
              <a:t>Everyone has a role, but coordination must be clear.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11338560" y="649224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819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2819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640080" y="1280160"/>
            <a:ext cx="3154680" cy="475488"/>
          </a:xfrm>
          <a:prstGeom prst="rect">
            <a:avLst/>
          </a:prstGeom>
          <a:solidFill>
            <a:srgbClr val="087F8C"/>
          </a:solidFill>
          <a:ln cap="flat" cmpd="sng" w="9525">
            <a:solidFill>
              <a:srgbClr val="087F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Facility in-charge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640080" y="1810512"/>
            <a:ext cx="315468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Overall accountability, staff orientation and escalation.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4297680" y="1280160"/>
            <a:ext cx="3154680" cy="475488"/>
          </a:xfrm>
          <a:prstGeom prst="rect">
            <a:avLst/>
          </a:prstGeom>
          <a:solidFill>
            <a:srgbClr val="F29F05"/>
          </a:solidFill>
          <a:ln cap="flat" cmpd="sng" w="9525">
            <a:solidFill>
              <a:srgbClr val="F29F0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SOP / integration focal person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4297680" y="1810512"/>
            <a:ext cx="315468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Coordinates SOP placement, tracking and learning logs.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7955280" y="1280160"/>
            <a:ext cx="3154680" cy="475488"/>
          </a:xfrm>
          <a:prstGeom prst="rect">
            <a:avLst/>
          </a:prstGeom>
          <a:solidFill>
            <a:srgbClr val="245A78"/>
          </a:solidFill>
          <a:ln cap="flat" cmpd="sng" w="9525">
            <a:solidFill>
              <a:srgbClr val="245A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Service-point teams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7955280" y="1810512"/>
            <a:ext cx="315468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Use SOPs and identify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practical barriers.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640080" y="3703320"/>
            <a:ext cx="3154680" cy="475488"/>
          </a:xfrm>
          <a:prstGeom prst="rect">
            <a:avLst/>
          </a:prstGeom>
          <a:solidFill>
            <a:srgbClr val="3A7D44"/>
          </a:solidFill>
          <a:ln cap="flat" cmpd="sng" w="9525">
            <a:solidFill>
              <a:srgbClr val="3A7D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QI team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640080" y="4233672"/>
            <a:ext cx="315468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Runs root-cause analysis and PDSA cycles.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4297680" y="3703320"/>
            <a:ext cx="3154680" cy="475488"/>
          </a:xfrm>
          <a:prstGeom prst="rect">
            <a:avLst/>
          </a:prstGeom>
          <a:solidFill>
            <a:srgbClr val="087F8C"/>
          </a:solidFill>
          <a:ln cap="flat" cmpd="sng" w="9525">
            <a:solidFill>
              <a:srgbClr val="087F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Records/data team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4297680" y="4233672"/>
            <a:ext cx="315468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Supports data extraction and monthly reviews.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7955280" y="3703320"/>
            <a:ext cx="3154680" cy="475488"/>
          </a:xfrm>
          <a:prstGeom prst="rect">
            <a:avLst/>
          </a:prstGeom>
          <a:solidFill>
            <a:srgbClr val="17324D"/>
          </a:solidFill>
          <a:ln cap="flat" cmpd="sng" w="9525">
            <a:solidFill>
              <a:srgbClr val="17324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DHMT / RRH mentors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7955280" y="4233672"/>
            <a:ext cx="315468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7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2733"/>
                </a:solidFill>
                <a:latin typeface="Arial"/>
                <a:ea typeface="Arial"/>
                <a:cs typeface="Arial"/>
                <a:sym typeface="Arial"/>
              </a:rPr>
              <a:t>Provide mentorship, validation and escalation support.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1"/>
          <p:cNvSpPr txBox="1"/>
          <p:nvPr/>
        </p:nvSpPr>
        <p:spPr>
          <a:xfrm>
            <a:off x="870666" y="6383858"/>
            <a:ext cx="979004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28190"/>
                </a:solidFill>
                <a:latin typeface="Arial"/>
                <a:ea typeface="Arial"/>
                <a:cs typeface="Arial"/>
                <a:sym typeface="Arial"/>
              </a:rPr>
              <a:t>Ministry of Health Uganda                                             Health Facility Orientation                                    Sentinel Sites &amp; SOPs                                                                                                                 August 2026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media/ppt/media/image2.png" id="403" name="Google Shape;4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0" y="109728"/>
            <a:ext cx="438912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_media/ppt/media/image3.png" id="404" name="Google Shape;40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100584"/>
            <a:ext cx="384048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2"/>
          <p:cNvSpPr/>
          <p:nvPr/>
        </p:nvSpPr>
        <p:spPr>
          <a:xfrm>
            <a:off x="566928" y="62179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7C86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C7C86"/>
                </a:solidFill>
                <a:latin typeface="Arial"/>
                <a:ea typeface="Arial"/>
                <a:cs typeface="Arial"/>
                <a:sym typeface="Arial"/>
              </a:rPr>
              <a:t>WHERE WE ARE NOW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4400"/>
              <a:buFont typeface="Play"/>
              <a:buNone/>
            </a:pPr>
            <a:r>
              <a:rPr b="1" lang="en-US" sz="4400">
                <a:solidFill>
                  <a:srgbClr val="082C3B"/>
                </a:solidFill>
                <a:latin typeface="Play"/>
                <a:ea typeface="Play"/>
                <a:cs typeface="Play"/>
                <a:sym typeface="Play"/>
              </a:rPr>
              <a:t>Implementation timeline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658368" y="1572768"/>
            <a:ext cx="2532888" cy="3611880"/>
          </a:xfrm>
          <a:prstGeom prst="roundRect">
            <a:avLst>
              <a:gd fmla="val 2527" name="adj"/>
            </a:avLst>
          </a:prstGeom>
          <a:solidFill>
            <a:srgbClr val="FFFFFF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658368" y="1572768"/>
            <a:ext cx="2532888" cy="585216"/>
          </a:xfrm>
          <a:prstGeom prst="rect">
            <a:avLst/>
          </a:prstGeom>
          <a:solidFill>
            <a:srgbClr val="0C7C86"/>
          </a:solidFill>
          <a:ln cap="flat" cmpd="sng" w="12700">
            <a:solidFill>
              <a:srgbClr val="0C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804672" y="1737360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Mar–Aug 2026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841248" y="2441448"/>
            <a:ext cx="2167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Foundation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914400" y="3035808"/>
            <a:ext cx="20116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Site selection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Assessment tool finalised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SOPs developed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Teams prepared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3264408" y="3182112"/>
            <a:ext cx="210312" cy="256032"/>
          </a:xfrm>
          <a:prstGeom prst="chevron">
            <a:avLst>
              <a:gd fmla="val 50000" name="adj"/>
            </a:avLst>
          </a:prstGeom>
          <a:solidFill>
            <a:srgbClr val="A8B9BF"/>
          </a:solidFill>
          <a:ln cap="flat" cmpd="sng" w="12700">
            <a:solidFill>
              <a:srgbClr val="A8B9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3474720" y="1572768"/>
            <a:ext cx="2532888" cy="3611880"/>
          </a:xfrm>
          <a:prstGeom prst="roundRect">
            <a:avLst>
              <a:gd fmla="val 2527" name="adj"/>
            </a:avLst>
          </a:prstGeom>
          <a:solidFill>
            <a:srgbClr val="FFFFFF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3474720" y="1572768"/>
            <a:ext cx="2532888" cy="585216"/>
          </a:xfrm>
          <a:prstGeom prst="rect">
            <a:avLst/>
          </a:prstGeom>
          <a:solidFill>
            <a:srgbClr val="2F855A"/>
          </a:solidFill>
          <a:ln cap="flat" cmpd="sng" w="1270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3621024" y="1737360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Sep–Oct 2026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3657600" y="2441448"/>
            <a:ext cx="2167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Activation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3730752" y="3035808"/>
            <a:ext cx="20116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Baseline assessments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First mentorship visits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CQI cycles initiated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First learning synthesis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3877056" y="4736592"/>
            <a:ext cx="1719072" cy="310896"/>
          </a:xfrm>
          <a:prstGeom prst="roundRect">
            <a:avLst>
              <a:gd fmla="val 29412" name="adj"/>
            </a:avLst>
          </a:prstGeom>
          <a:solidFill>
            <a:srgbClr val="2F855A"/>
          </a:solidFill>
          <a:ln cap="flat" cmpd="sng" w="1270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3950208" y="4818888"/>
            <a:ext cx="157276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ARE HERE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6080760" y="3182112"/>
            <a:ext cx="210312" cy="256032"/>
          </a:xfrm>
          <a:prstGeom prst="chevron">
            <a:avLst>
              <a:gd fmla="val 50000" name="adj"/>
            </a:avLst>
          </a:prstGeom>
          <a:solidFill>
            <a:srgbClr val="A8B9BF"/>
          </a:solidFill>
          <a:ln cap="flat" cmpd="sng" w="12700">
            <a:solidFill>
              <a:srgbClr val="A8B9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6291072" y="1572768"/>
            <a:ext cx="2532888" cy="3611880"/>
          </a:xfrm>
          <a:prstGeom prst="roundRect">
            <a:avLst>
              <a:gd fmla="val 2527" name="adj"/>
            </a:avLst>
          </a:prstGeom>
          <a:solidFill>
            <a:srgbClr val="FFFFFF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6291072" y="1572768"/>
            <a:ext cx="2532888" cy="585216"/>
          </a:xfrm>
          <a:prstGeom prst="rect">
            <a:avLst/>
          </a:prstGeom>
          <a:solidFill>
            <a:srgbClr val="D99B2B"/>
          </a:solidFill>
          <a:ln cap="flat" cmpd="sng" w="12700">
            <a:solidFill>
              <a:srgbClr val="D99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6437376" y="1737360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Nov–Dec 2026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6473952" y="2441448"/>
            <a:ext cx="2167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Review &amp; refine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6547104" y="3035808"/>
            <a:ext cx="20116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Performance review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Second mentorship/CQI round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Change packages documented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8897112" y="3182112"/>
            <a:ext cx="210312" cy="256032"/>
          </a:xfrm>
          <a:prstGeom prst="chevron">
            <a:avLst>
              <a:gd fmla="val 50000" name="adj"/>
            </a:avLst>
          </a:prstGeom>
          <a:solidFill>
            <a:srgbClr val="A8B9BF"/>
          </a:solidFill>
          <a:ln cap="flat" cmpd="sng" w="12700">
            <a:solidFill>
              <a:srgbClr val="A8B9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9107424" y="1572768"/>
            <a:ext cx="2532888" cy="3611880"/>
          </a:xfrm>
          <a:prstGeom prst="roundRect">
            <a:avLst>
              <a:gd fmla="val 2527" name="adj"/>
            </a:avLst>
          </a:prstGeom>
          <a:solidFill>
            <a:srgbClr val="FFFFFF"/>
          </a:solidFill>
          <a:ln cap="flat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9107424" y="1572768"/>
            <a:ext cx="2532888" cy="585216"/>
          </a:xfrm>
          <a:prstGeom prst="rect">
            <a:avLst/>
          </a:prstGeom>
          <a:solidFill>
            <a:srgbClr val="6954A3"/>
          </a:solidFill>
          <a:ln cap="flat" cmpd="sng" w="12700">
            <a:solidFill>
              <a:srgbClr val="6954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9253728" y="1737360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2027–2028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9290304" y="2441448"/>
            <a:ext cx="2167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Scale learning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9363456" y="3035808"/>
            <a:ext cx="20116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Repeated learning cycles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National synthesis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Change package toolkit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Guidance updates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566928" y="5632704"/>
            <a:ext cx="11000232" cy="740664"/>
          </a:xfrm>
          <a:prstGeom prst="roundRect">
            <a:avLst>
              <a:gd fmla="val 16667" name="adj"/>
            </a:avLst>
          </a:prstGeom>
          <a:solidFill>
            <a:srgbClr val="0C3B4B"/>
          </a:solidFill>
          <a:ln cap="flat" cmpd="sng" w="12700">
            <a:solidFill>
              <a:srgbClr val="0C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804672" y="5943600"/>
            <a:ext cx="105796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September visit establishes the baseline and first actions; subsequent visits should follow progress rather than start again.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2"/>
          <p:cNvSpPr txBox="1"/>
          <p:nvPr>
            <p:ph idx="4294967295" type="sldNum"/>
          </p:nvPr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5C6B7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media/ppt/media/image2.png" id="440" name="Google Shape;4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0" y="109728"/>
            <a:ext cx="438912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_media/ppt/media/image3.png" id="441" name="Google Shape;44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100584"/>
            <a:ext cx="384048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3"/>
          <p:cNvSpPr/>
          <p:nvPr/>
        </p:nvSpPr>
        <p:spPr>
          <a:xfrm>
            <a:off x="566928" y="62179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7C8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C7C86"/>
                </a:solidFill>
                <a:latin typeface="Arial"/>
                <a:ea typeface="Arial"/>
                <a:cs typeface="Arial"/>
                <a:sym typeface="Arial"/>
              </a:rPr>
              <a:t>FIVE PRACTICAL ACTIONS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2702560" y="536448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82C3B"/>
                </a:solidFill>
                <a:latin typeface="Play"/>
                <a:ea typeface="Play"/>
                <a:cs typeface="Play"/>
                <a:sym typeface="Play"/>
              </a:rPr>
              <a:t>What should happen during the first activation visit?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749808" y="1371600"/>
            <a:ext cx="384048" cy="384048"/>
          </a:xfrm>
          <a:prstGeom prst="ellipse">
            <a:avLst/>
          </a:prstGeom>
          <a:solidFill>
            <a:srgbClr val="0C7C86"/>
          </a:solidFill>
          <a:ln cap="flat" cmpd="sng" w="12700">
            <a:solidFill>
              <a:srgbClr val="0C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749808" y="1481328"/>
            <a:ext cx="384048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1325880" y="1325880"/>
            <a:ext cx="4160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Confirm the facility focal person and core team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1325880" y="163677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Agree who will support staging, QI, records and service-point follow-up.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749808" y="2240280"/>
            <a:ext cx="384048" cy="384048"/>
          </a:xfrm>
          <a:prstGeom prst="ellipse">
            <a:avLst/>
          </a:prstGeom>
          <a:solidFill>
            <a:srgbClr val="0C7C86"/>
          </a:solidFill>
          <a:ln cap="flat" cmpd="sng" w="12700">
            <a:solidFill>
              <a:srgbClr val="0C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749808" y="2350008"/>
            <a:ext cx="384048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1325880" y="2194560"/>
            <a:ext cx="4160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Place SOPs where care happens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1325880" y="250545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Use printed/digital SOPs at registration, triage, consultation, laboratory, pharmacy, exit and community follow-up.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749808" y="3108960"/>
            <a:ext cx="384048" cy="384048"/>
          </a:xfrm>
          <a:prstGeom prst="ellipse">
            <a:avLst/>
          </a:prstGeom>
          <a:solidFill>
            <a:srgbClr val="0C7C86"/>
          </a:solidFill>
          <a:ln cap="flat" cmpd="sng" w="12700">
            <a:solidFill>
              <a:srgbClr val="0C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749808" y="3218688"/>
            <a:ext cx="384048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1325880" y="3063240"/>
            <a:ext cx="4160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Complete staging and inputs review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1325880" y="337413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Agree the facility starting point across the nine domains and identify missing inputs.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749808" y="3977640"/>
            <a:ext cx="384048" cy="384048"/>
          </a:xfrm>
          <a:prstGeom prst="ellipse">
            <a:avLst/>
          </a:prstGeom>
          <a:solidFill>
            <a:srgbClr val="0C7C86"/>
          </a:solidFill>
          <a:ln cap="flat" cmpd="sng" w="12700">
            <a:solidFill>
              <a:srgbClr val="0C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749808" y="4087368"/>
            <a:ext cx="384048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1325880" y="3931920"/>
            <a:ext cx="4160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Agree the action tracker before the team leaves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1325880" y="424281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Convert priority gaps into actions, owners, dates, support needs and escalation points.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749808" y="4846320"/>
            <a:ext cx="384048" cy="384048"/>
          </a:xfrm>
          <a:prstGeom prst="ellipse">
            <a:avLst/>
          </a:prstGeom>
          <a:solidFill>
            <a:srgbClr val="0C7C86"/>
          </a:solidFill>
          <a:ln cap="flat" cmpd="sng" w="12700">
            <a:solidFill>
              <a:srgbClr val="0C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749808" y="4956048"/>
            <a:ext cx="384048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1325880" y="4800600"/>
            <a:ext cx="4160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Start the first QI focus and capture learning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1325880" y="51114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Pick a priority problem, test a practical change, review data and document what is learned.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6446520" y="1499616"/>
            <a:ext cx="4892040" cy="3429000"/>
          </a:xfrm>
          <a:prstGeom prst="roundRect">
            <a:avLst>
              <a:gd fmla="val 2133" name="adj"/>
            </a:avLst>
          </a:prstGeom>
          <a:solidFill>
            <a:srgbClr val="EEF7F7"/>
          </a:solidFill>
          <a:ln cap="flat" cmpd="sng" w="12700">
            <a:solidFill>
              <a:srgbClr val="C8E2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6858000" y="15544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7C86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C7C86"/>
                </a:solidFill>
                <a:latin typeface="Arial"/>
                <a:ea typeface="Arial"/>
                <a:cs typeface="Arial"/>
                <a:sym typeface="Arial"/>
              </a:rPr>
              <a:t>The main message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6784848" y="2331720"/>
            <a:ext cx="4023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C3B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82C3B"/>
                </a:solidFill>
                <a:latin typeface="Arial"/>
                <a:ea typeface="Arial"/>
                <a:cs typeface="Arial"/>
                <a:sym typeface="Arial"/>
              </a:rPr>
              <a:t>No visit should end with observations only.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6858000" y="3456432"/>
            <a:ext cx="39776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13B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7313B"/>
                </a:solidFill>
                <a:latin typeface="Arial"/>
                <a:ea typeface="Arial"/>
                <a:cs typeface="Arial"/>
                <a:sym typeface="Arial"/>
              </a:rPr>
              <a:t>It should end with an agreed action tracker, an initial QI focus, and a clear follow-up plan.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6784848" y="4375912"/>
            <a:ext cx="39867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Facility teams own the process. Mentorship teams support, validate and help escalate what the facility cannot solve alone.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621792" y="5833872"/>
            <a:ext cx="10945368" cy="384048"/>
          </a:xfrm>
          <a:prstGeom prst="roundRect">
            <a:avLst>
              <a:gd fmla="val 16667" name="adj"/>
            </a:avLst>
          </a:prstGeom>
          <a:solidFill>
            <a:srgbClr val="0C3B4B"/>
          </a:solidFill>
          <a:ln cap="flat" cmpd="sng" w="12700">
            <a:solidFill>
              <a:srgbClr val="0C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804672" y="5943600"/>
            <a:ext cx="105796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the SOPs • stage the facility • track actions • run QI • share learning.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3"/>
          <p:cNvSpPr txBox="1"/>
          <p:nvPr>
            <p:ph idx="4294967295" type="sldNum"/>
          </p:nvPr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50">
                <a:solidFill>
                  <a:srgbClr val="5C6B7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50">
              <a:solidFill>
                <a:srgbClr val="5C6B7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4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4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Questions &amp; Discussion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Ministry of Health, Uganda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Integration Reform Workstream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Email: sopfeedback@gmail.com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3657600" y="5943600"/>
            <a:ext cx="48764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2026-09-03T12:13:42Z</dcterms:created>
  <dc:creator>Diana Sera</dc:creator>
</cp:coreProperties>
</file>